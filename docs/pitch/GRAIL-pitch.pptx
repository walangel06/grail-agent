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E6EAF2"/>
                </a:solidFill>
                <a:latin typeface="Calibri"/>
              </a:defRPr>
            </a:pPr>
            <a:r>
              <a:rPr sz="1200" b="0" i="0" u="none" strike="noStrike">
                <a:solidFill>
                  <a:srgbClr val="E6EAF2"/>
                </a:solidFill>
                <a:latin typeface="Calibri"/>
              </a:rPr>
              <a:t>Independent bets vs. number of coins</a:t>
            </a:r>
          </a:p>
        </c:rich>
      </c:tx>
      <c:layout/>
      <c:overlay val="0"/>
    </c:title>
    <c:autoTitleDeleted val="0"/>
    <c:plotArea>
      <c:layout/>
      <c:lineChart>
        <c:varyColors val="0"/>
        <c:ser>
          <c:idx val="0"/>
          <c:order val="0"/>
          <c:tx>
            <c:strRef>
              <c:f>Sheet1!$B$1</c:f>
              <c:strCache>
                <c:ptCount val="1"/>
                <c:pt idx="0">
                  <c:v>Coins rarely move together</c:v>
                </c:pt>
              </c:strCache>
            </c:strRef>
          </c:tx>
          <c:spPr>
            <a:solidFill>
              <a:srgbClr val="22C55E"/>
            </a:solidFill>
            <a:ln w="31750" cap="flat">
              <a:solidFill>
                <a:srgbClr val="22C55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2C55E"/>
              </a:solidFill>
              <a:ln w="9525" cap="flat">
                <a:solidFill>
                  <a:srgbClr val="22C55E"/>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1</c:v>
                </c:pt>
                <c:pt idx="1">
                  <c:v>1.67</c:v>
                </c:pt>
                <c:pt idx="2">
                  <c:v>2.14</c:v>
                </c:pt>
                <c:pt idx="3">
                  <c:v>2.5</c:v>
                </c:pt>
                <c:pt idx="4">
                  <c:v>2.78</c:v>
                </c:pt>
                <c:pt idx="5">
                  <c:v>3</c:v>
                </c:pt>
                <c:pt idx="6">
                  <c:v>3.18</c:v>
                </c:pt>
                <c:pt idx="7">
                  <c:v>3.33</c:v>
                </c:pt>
                <c:pt idx="8">
                  <c:v>3.46</c:v>
                </c:pt>
                <c:pt idx="9">
                  <c:v>3.57</c:v>
                </c:pt>
                <c:pt idx="10">
                  <c:v>3.67</c:v>
                </c:pt>
                <c:pt idx="11">
                  <c:v>3.75</c:v>
                </c:pt>
                <c:pt idx="12">
                  <c:v>3.82</c:v>
                </c:pt>
                <c:pt idx="13">
                  <c:v>3.89</c:v>
                </c:pt>
                <c:pt idx="14">
                  <c:v>3.95</c:v>
                </c:pt>
                <c:pt idx="15">
                  <c:v>4</c:v>
                </c:pt>
                <c:pt idx="16">
                  <c:v>4.05</c:v>
                </c:pt>
                <c:pt idx="17">
                  <c:v>4.09</c:v>
                </c:pt>
                <c:pt idx="18">
                  <c:v>4.13</c:v>
                </c:pt>
                <c:pt idx="19">
                  <c:v>4.17</c:v>
                </c:pt>
              </c:numCache>
            </c:numRef>
          </c:val>
          <c:smooth val="0"/>
        </c:ser>
        <c:ser>
          <c:idx val="1"/>
          <c:order val="1"/>
          <c:tx>
            <c:strRef>
              <c:f>Sheet1!$C$1</c:f>
              <c:strCache>
                <c:ptCount val="1"/>
                <c:pt idx="0">
                  <c:v>Often move together</c:v>
                </c:pt>
              </c:strCache>
            </c:strRef>
          </c:tx>
          <c:spPr>
            <a:solidFill>
              <a:srgbClr val="8B9CFF"/>
            </a:solidFill>
            <a:ln w="31750" cap="flat">
              <a:solidFill>
                <a:srgbClr val="8B9C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B9CFF"/>
              </a:solidFill>
              <a:ln w="9525" cap="flat">
                <a:solidFill>
                  <a:srgbClr val="8B9CFF"/>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1</c:v>
                </c:pt>
                <c:pt idx="1">
                  <c:v>1.33</c:v>
                </c:pt>
                <c:pt idx="2">
                  <c:v>1.5</c:v>
                </c:pt>
                <c:pt idx="3">
                  <c:v>1.6</c:v>
                </c:pt>
                <c:pt idx="4">
                  <c:v>1.67</c:v>
                </c:pt>
                <c:pt idx="5">
                  <c:v>1.71</c:v>
                </c:pt>
                <c:pt idx="6">
                  <c:v>1.75</c:v>
                </c:pt>
                <c:pt idx="7">
                  <c:v>1.78</c:v>
                </c:pt>
                <c:pt idx="8">
                  <c:v>1.8</c:v>
                </c:pt>
                <c:pt idx="9">
                  <c:v>1.82</c:v>
                </c:pt>
                <c:pt idx="10">
                  <c:v>1.83</c:v>
                </c:pt>
                <c:pt idx="11">
                  <c:v>1.85</c:v>
                </c:pt>
                <c:pt idx="12">
                  <c:v>1.86</c:v>
                </c:pt>
                <c:pt idx="13">
                  <c:v>1.87</c:v>
                </c:pt>
                <c:pt idx="14">
                  <c:v>1.88</c:v>
                </c:pt>
                <c:pt idx="15">
                  <c:v>1.88</c:v>
                </c:pt>
                <c:pt idx="16">
                  <c:v>1.89</c:v>
                </c:pt>
                <c:pt idx="17">
                  <c:v>1.89</c:v>
                </c:pt>
                <c:pt idx="18">
                  <c:v>1.9</c:v>
                </c:pt>
                <c:pt idx="19">
                  <c:v>1.9</c:v>
                </c:pt>
              </c:numCache>
            </c:numRef>
          </c:val>
          <c:smooth val="0"/>
        </c:ser>
        <c:ser>
          <c:idx val="2"/>
          <c:order val="2"/>
          <c:tx>
            <c:strRef>
              <c:f>Sheet1!$D$1</c:f>
              <c:strCache>
                <c:ptCount val="1"/>
                <c:pt idx="0">
                  <c:v>Almost always move together</c:v>
                </c:pt>
              </c:strCache>
            </c:strRef>
          </c:tx>
          <c:spPr>
            <a:solidFill>
              <a:srgbClr val="E8B04B"/>
            </a:solidFill>
            <a:ln w="31750" cap="flat">
              <a:solidFill>
                <a:srgbClr val="E8B04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B04B"/>
              </a:solidFill>
              <a:ln w="9525" cap="flat">
                <a:solidFill>
                  <a:srgbClr val="E8B04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Sheet1!$D$2:$D$21</c:f>
              <c:numCache>
                <c:formatCode>General</c:formatCode>
                <c:ptCount val="20"/>
                <c:pt idx="0">
                  <c:v>1</c:v>
                </c:pt>
                <c:pt idx="1">
                  <c:v>1.11</c:v>
                </c:pt>
                <c:pt idx="2">
                  <c:v>1.15</c:v>
                </c:pt>
                <c:pt idx="3">
                  <c:v>1.18</c:v>
                </c:pt>
                <c:pt idx="4">
                  <c:v>1.19</c:v>
                </c:pt>
                <c:pt idx="5">
                  <c:v>1.2</c:v>
                </c:pt>
                <c:pt idx="6">
                  <c:v>1.21</c:v>
                </c:pt>
                <c:pt idx="7">
                  <c:v>1.21</c:v>
                </c:pt>
                <c:pt idx="8">
                  <c:v>1.22</c:v>
                </c:pt>
                <c:pt idx="9">
                  <c:v>1.22</c:v>
                </c:pt>
                <c:pt idx="10">
                  <c:v>1.22</c:v>
                </c:pt>
                <c:pt idx="11">
                  <c:v>1.22</c:v>
                </c:pt>
                <c:pt idx="12">
                  <c:v>1.23</c:v>
                </c:pt>
                <c:pt idx="13">
                  <c:v>1.23</c:v>
                </c:pt>
                <c:pt idx="14">
                  <c:v>1.23</c:v>
                </c:pt>
                <c:pt idx="15">
                  <c:v>1.23</c:v>
                </c:pt>
                <c:pt idx="16">
                  <c:v>1.23</c:v>
                </c:pt>
                <c:pt idx="17">
                  <c:v>1.23</c:v>
                </c:pt>
                <c:pt idx="18">
                  <c:v>1.23</c:v>
                </c:pt>
                <c:pt idx="19">
                  <c:v>1.23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8A94A8"/>
                    </a:solidFill>
                    <a:latin typeface="Arial"/>
                  </a:defRPr>
                </a:pPr>
                <a:r>
                  <a:rPr sz="1000" b="0" i="0" u="none" strike="noStrike">
                    <a:solidFill>
                      <a:srgbClr val="8A94A8"/>
                    </a:solidFill>
                    <a:latin typeface="Arial"/>
                  </a:rPr>
                  <a:t>Number of coins</a:t>
                </a:r>
              </a:p>
            </c:rich>
          </c:tx>
          <c:layout/>
          <c:overlay val="0"/>
        </c:title>
        <c:numFmt formatCode="General" sourceLinked="1"/>
        <c:majorTickMark val="out"/>
        <c:minorTickMark val="none"/>
        <c:tickLblPos val="low"/>
        <c:spPr>
          <a:ln w="12700" cap="flat">
            <a:solidFill>
              <a:srgbClr val="263043"/>
            </a:solidFill>
            <a:prstDash val="solid"/>
            <a:round/>
          </a:ln>
        </c:spPr>
        <c:txPr>
          <a:bodyPr/>
          <a:lstStyle/>
          <a:p>
            <a:pPr>
              <a:defRPr sz="900" b="0" i="0" u="none" strike="noStrike">
                <a:solidFill>
                  <a:srgbClr val="8A94A8"/>
                </a:solidFill>
                <a:latin typeface="Arial"/>
              </a:defRPr>
            </a:pPr>
            <a:endParaRPr lang="en-US"/>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263043"/>
              </a:solidFill>
              <a:prstDash val="solid"/>
              <a:round/>
            </a:ln>
          </c:spPr>
        </c:majorGridlines>
        <c:title>
          <c:tx>
            <c:rich>
              <a:bodyPr/>
              <a:lstStyle/>
              <a:p>
                <a:pPr>
                  <a:defRPr sz="1000" b="0" i="0" u="none" strike="noStrike">
                    <a:solidFill>
                      <a:srgbClr val="8A94A8"/>
                    </a:solidFill>
                    <a:latin typeface="Arial"/>
                  </a:defRPr>
                </a:pPr>
                <a:r>
                  <a:rPr sz="1000" b="0" i="0" u="none" strike="noStrike">
                    <a:solidFill>
                      <a:srgbClr val="8A94A8"/>
                    </a:solidFill>
                    <a:latin typeface="Arial"/>
                  </a:rPr>
                  <a:t>Independent bets</a:t>
                </a:r>
              </a:p>
            </c:rich>
          </c:tx>
          <c:layout/>
          <c:overlay val="0"/>
        </c:title>
        <c:numFmt formatCode="General" sourceLinked="0"/>
        <c:majorTickMark val="out"/>
        <c:minorTickMark val="none"/>
        <c:tickLblPos val="nextTo"/>
        <c:spPr>
          <a:ln w="12700" cap="flat">
            <a:solidFill>
              <a:srgbClr val="263043"/>
            </a:solidFill>
            <a:prstDash val="solid"/>
            <a:round/>
          </a:ln>
        </c:spPr>
        <c:txPr>
          <a:bodyPr/>
          <a:lstStyle/>
          <a:p>
            <a:pPr>
              <a:defRPr sz="900" b="0" i="0" u="none" strike="noStrike">
                <a:solidFill>
                  <a:srgbClr val="8A94A8"/>
                </a:solidFill>
                <a:latin typeface="Arial"/>
              </a:defRPr>
            </a:pPr>
            <a:endParaRPr lang="en-US"/>
          </a:p>
        </c:txPr>
        <c:crossAx val="2094734554"/>
        <c:crosses val="autoZero"/>
        <c:crossBetween val="between"/>
      </c:valAx>
      <c:spPr>
        <a:solidFill>
          <a:srgbClr val="121722"/>
        </a:solidFill>
        <a:ln>
          <a:noFill/>
        </a:ln>
        <a:effectLst/>
      </c:spPr>
    </c:plotArea>
    <c:legend>
      <c:legendPos val="b"/>
      <c:overlay val="0"/>
      <c:txPr>
        <a:bodyPr/>
        <a:lstStyle/>
        <a:p>
          <a:pPr>
            <a:defRPr sz="900">
              <a:solidFill>
                <a:srgbClr val="8A94A8"/>
              </a:solidFill>
              <a:latin typeface="Calibri"/>
              <a:cs typeface="Calibri"/>
            </a:defRPr>
          </a:pPr>
          <a:endParaRPr lang="en-US"/>
        </a:p>
      </c:txPr>
    </c:legend>
    <c:plotVisOnly val="1"/>
    <c:dispBlanksAs val="span"/>
  </c:chart>
  <c:spPr>
    <a:solidFill>
      <a:srgbClr val="12172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live number from the dashboard, not with the team. "You bought five coins. Because they rise and fall together, you really hold &lt;TBD&gt; independent bets. And if an AI agent traded them for you, you could not check its record either. GRAIL fixes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jury's 'problem and target user' question directly. Say it in one breath: people want to hand money to trading agents, but no agent can prove its history. And most 'diversified' crypto portfolios are really a single bet.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Ray Dalio's 'Holy Grail' idea in plain words. The curve shows how many truly independent bets you get as you add coins. When coins move together (gold line), the curve goes flat quickly: coin number ten adds almost nothing. On the live dashboard there is a 'you are here' dot and a slider for how much coins move together. Behind the scenes the engine uses N / (1 + (N-1) x average correlation), but say it simply.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look, decide, seal, show. Stress that the money decisions are fixed math, not an AI's mood. The AI (a language model) is a safety check that can only shrink or cancel a buy; it can never add risk, and it never touches sells. If the AI is unavailable or slow, the decision goes through unchanged and that is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35% slide: autonomy. The loop runs every 90 seconds with nobody clicking anything. Point at steps 4 and 6: the decision is sealed on Avalanche BEFORE the order exists, so the agent is bound before the market answers. Holding is a decision too, and it is sealed as well. The human's job is setting the rules (the config), not approving trades.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jury's 'what is it allowed to do' question. Narrow the permissions, cap the spending, keep the trail, keep a human in charge of going live. The exchange key has no withdraw permission; there is no code anywhere for withdrawals, transfers, leverage or account changes. Practice mode (dry run) is part of the sealed decision, so simulated and real trades can never be confused. Show the Settings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does it do with unexpected input?'. Safe by default: if it cannot seal, it does not trade. Before sealing, the secret part of the envelope is saved to disk, so a crash can never leave a decision hidden forever. If the error log on the Settings screen has a real entry,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Avalanche is the core, not a bonus box. Other teams write results to the chain after the fact. GRAIL writes its intent BEFORE the trade, like a sealed envelope. Technically: commit a hash of the decision plus a random salt, then reveal both. Unopened envelopes stay visible, so the agent cannot show only its good calls. Open the contract on testnet.snowtrace.io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Order: Dashboard, On-chain Ledger, Decisions (follow one cycle: sealed, ordered, opened), press 'Verify yourself', then Settings. Let a judge press 'Verify yourself' if they want. Line: 'Don't trust us - your browser just checked it.' Before going on stage: tabs open, real data loaded (no MOCK DATA badge), practice/live badge visible. If anything fails, play the backup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in one sentence: the decision is built the same way in Python, in the Avalanche contract and in your browser, and they all agree. Mention the next step only briefly. Then close with: 'Backtests can lie. Avalanche can't.' and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457200" y="502920"/>
            <a:ext cx="4572000" cy="274320"/>
          </a:xfrm>
          <a:prstGeom prst="rect">
            <a:avLst/>
          </a:prstGeom>
          <a:noFill/>
          <a:ln/>
        </p:spPr>
        <p:txBody>
          <a:bodyPr wrap="square" lIns="0" tIns="0" rIns="0" bIns="0" rtlCol="0" anchor="ctr"/>
          <a:lstStyle/>
          <a:p>
            <a:pPr indent="0" marL="0">
              <a:buNone/>
            </a:pPr>
            <a:r>
              <a:rPr lang="en-US" sz="1100" b="1" spc="300" kern="0" dirty="0">
                <a:solidFill>
                  <a:srgbClr val="E8B04B"/>
                </a:solidFill>
                <a:latin typeface="Calibri" pitchFamily="34" charset="0"/>
                <a:ea typeface="Calibri" pitchFamily="34" charset="-122"/>
                <a:cs typeface="Calibri" pitchFamily="34" charset="-120"/>
              </a:rPr>
              <a:t>OKX AGENT TRADE KIT  ×  AVALANCHE</a:t>
            </a:r>
            <a:endParaRPr lang="en-US" sz="1100" dirty="0"/>
          </a:p>
        </p:txBody>
      </p:sp>
      <p:sp>
        <p:nvSpPr>
          <p:cNvPr id="3" name="Text 1"/>
          <p:cNvSpPr/>
          <p:nvPr/>
        </p:nvSpPr>
        <p:spPr>
          <a:xfrm>
            <a:off x="457200" y="868680"/>
            <a:ext cx="4572000" cy="914400"/>
          </a:xfrm>
          <a:prstGeom prst="rect">
            <a:avLst/>
          </a:prstGeom>
          <a:noFill/>
          <a:ln/>
        </p:spPr>
        <p:txBody>
          <a:bodyPr wrap="square" lIns="0" tIns="0" rIns="0" bIns="0" rtlCol="0" anchor="ctr"/>
          <a:lstStyle/>
          <a:p>
            <a:pPr indent="0" marL="0">
              <a:buNone/>
            </a:pPr>
            <a:r>
              <a:rPr lang="en-US" sz="6000" b="1" dirty="0">
                <a:solidFill>
                  <a:srgbClr val="E6EAF2"/>
                </a:solidFill>
                <a:latin typeface="Cambria" pitchFamily="34" charset="0"/>
                <a:ea typeface="Cambria" pitchFamily="34" charset="-122"/>
                <a:cs typeface="Cambria" pitchFamily="34" charset="-120"/>
              </a:rPr>
              <a:t>GRAIL</a:t>
            </a:r>
            <a:endParaRPr lang="en-US" sz="6000" dirty="0"/>
          </a:p>
        </p:txBody>
      </p:sp>
      <p:sp>
        <p:nvSpPr>
          <p:cNvPr id="4" name="Text 2"/>
          <p:cNvSpPr/>
          <p:nvPr/>
        </p:nvSpPr>
        <p:spPr>
          <a:xfrm>
            <a:off x="457200" y="1828800"/>
            <a:ext cx="4206240" cy="822960"/>
          </a:xfrm>
          <a:prstGeom prst="rect">
            <a:avLst/>
          </a:prstGeom>
          <a:noFill/>
          <a:ln/>
        </p:spPr>
        <p:txBody>
          <a:bodyPr wrap="square" lIns="0" tIns="0" rIns="0" bIns="0" rtlCol="0" anchor="t"/>
          <a:lstStyle/>
          <a:p>
            <a:pPr indent="0" marL="0">
              <a:buNone/>
            </a:pPr>
            <a:r>
              <a:rPr lang="en-US" sz="2200" dirty="0">
                <a:solidFill>
                  <a:srgbClr val="8A94A8"/>
                </a:solidFill>
                <a:latin typeface="Calibri" pitchFamily="34" charset="0"/>
                <a:ea typeface="Calibri" pitchFamily="34" charset="-122"/>
                <a:cs typeface="Calibri" pitchFamily="34" charset="-120"/>
              </a:rPr>
              <a:t>A trading agent whose record you can check.</a:t>
            </a:r>
            <a:endParaRPr lang="en-US" sz="2200" dirty="0"/>
          </a:p>
        </p:txBody>
      </p:sp>
      <p:sp>
        <p:nvSpPr>
          <p:cNvPr id="5" name="Text 3"/>
          <p:cNvSpPr/>
          <p:nvPr/>
        </p:nvSpPr>
        <p:spPr>
          <a:xfrm>
            <a:off x="457200" y="2880360"/>
            <a:ext cx="4206240" cy="731520"/>
          </a:xfrm>
          <a:prstGeom prst="rect">
            <a:avLst/>
          </a:prstGeom>
          <a:noFill/>
          <a:ln/>
        </p:spPr>
        <p:txBody>
          <a:bodyPr wrap="square" lIns="0" tIns="0" rIns="0" bIns="0" rtlCol="0" anchor="t"/>
          <a:lstStyle/>
          <a:p>
            <a:pPr indent="0" marL="0">
              <a:buNone/>
            </a:pPr>
            <a:r>
              <a:rPr lang="en-US" sz="1500" dirty="0">
                <a:solidFill>
                  <a:srgbClr val="E6EAF2"/>
                </a:solidFill>
                <a:latin typeface="Calibri" pitchFamily="34" charset="0"/>
                <a:ea typeface="Calibri" pitchFamily="34" charset="-122"/>
                <a:cs typeface="Calibri" pitchFamily="34" charset="-120"/>
              </a:rPr>
              <a:t>You hold 5 coins. </a:t>
            </a:r>
            <a:pPr indent="0" marL="0">
              <a:buNone/>
            </a:pPr>
            <a:r>
              <a:rPr lang="en-US" sz="1500" dirty="0">
                <a:solidFill>
                  <a:srgbClr val="8A94A8"/>
                </a:solidFill>
                <a:latin typeface="Calibri" pitchFamily="34" charset="0"/>
                <a:ea typeface="Calibri" pitchFamily="34" charset="-122"/>
                <a:cs typeface="Calibri" pitchFamily="34" charset="-120"/>
              </a:rPr>
              <a:t>Because they move together, they count as &lt;TBD&gt; independent bets.</a:t>
            </a:r>
            <a:endParaRPr lang="en-US" sz="1500" dirty="0"/>
          </a:p>
        </p:txBody>
      </p:sp>
      <p:sp>
        <p:nvSpPr>
          <p:cNvPr id="6" name="Text 4"/>
          <p:cNvSpPr/>
          <p:nvPr/>
        </p:nvSpPr>
        <p:spPr>
          <a:xfrm>
            <a:off x="457200" y="4434840"/>
            <a:ext cx="457200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Agentic Trading Hackathon · Ankara · 17 Oct 2026</a:t>
            </a:r>
            <a:endParaRPr lang="en-US" sz="1100" dirty="0"/>
          </a:p>
        </p:txBody>
      </p:sp>
      <p:sp>
        <p:nvSpPr>
          <p:cNvPr id="7" name="Shape 5"/>
          <p:cNvSpPr/>
          <p:nvPr/>
        </p:nvSpPr>
        <p:spPr>
          <a:xfrm>
            <a:off x="5074920" y="1874520"/>
            <a:ext cx="685800" cy="685800"/>
          </a:xfrm>
          <a:prstGeom prst="ellipse">
            <a:avLst/>
          </a:prstGeom>
          <a:solidFill>
            <a:srgbClr val="1A2130">
              <a:alpha val="90000"/>
            </a:srgbClr>
          </a:solidFill>
          <a:ln w="12700">
            <a:solidFill>
              <a:srgbClr val="8A94A8"/>
            </a:solidFill>
            <a:prstDash val="solid"/>
          </a:ln>
        </p:spPr>
      </p:sp>
      <p:sp>
        <p:nvSpPr>
          <p:cNvPr id="8" name="Shape 6"/>
          <p:cNvSpPr/>
          <p:nvPr/>
        </p:nvSpPr>
        <p:spPr>
          <a:xfrm>
            <a:off x="5623560" y="1691640"/>
            <a:ext cx="685800" cy="685800"/>
          </a:xfrm>
          <a:prstGeom prst="ellipse">
            <a:avLst/>
          </a:prstGeom>
          <a:solidFill>
            <a:srgbClr val="1A2130">
              <a:alpha val="90000"/>
            </a:srgbClr>
          </a:solidFill>
          <a:ln w="12700">
            <a:solidFill>
              <a:srgbClr val="8A94A8"/>
            </a:solidFill>
            <a:prstDash val="solid"/>
          </a:ln>
        </p:spPr>
      </p:sp>
      <p:sp>
        <p:nvSpPr>
          <p:cNvPr id="9" name="Shape 7"/>
          <p:cNvSpPr/>
          <p:nvPr/>
        </p:nvSpPr>
        <p:spPr>
          <a:xfrm>
            <a:off x="6035040" y="2194560"/>
            <a:ext cx="685800" cy="685800"/>
          </a:xfrm>
          <a:prstGeom prst="ellipse">
            <a:avLst/>
          </a:prstGeom>
          <a:solidFill>
            <a:srgbClr val="1A2130">
              <a:alpha val="90000"/>
            </a:srgbClr>
          </a:solidFill>
          <a:ln w="12700">
            <a:solidFill>
              <a:srgbClr val="8A94A8"/>
            </a:solidFill>
            <a:prstDash val="solid"/>
          </a:ln>
        </p:spPr>
      </p:sp>
      <p:sp>
        <p:nvSpPr>
          <p:cNvPr id="10" name="Shape 8"/>
          <p:cNvSpPr/>
          <p:nvPr/>
        </p:nvSpPr>
        <p:spPr>
          <a:xfrm>
            <a:off x="5486400" y="2423160"/>
            <a:ext cx="685800" cy="685800"/>
          </a:xfrm>
          <a:prstGeom prst="ellipse">
            <a:avLst/>
          </a:prstGeom>
          <a:solidFill>
            <a:srgbClr val="1A2130">
              <a:alpha val="90000"/>
            </a:srgbClr>
          </a:solidFill>
          <a:ln w="12700">
            <a:solidFill>
              <a:srgbClr val="8A94A8"/>
            </a:solidFill>
            <a:prstDash val="solid"/>
          </a:ln>
        </p:spPr>
      </p:sp>
      <p:sp>
        <p:nvSpPr>
          <p:cNvPr id="11" name="Shape 9"/>
          <p:cNvSpPr/>
          <p:nvPr/>
        </p:nvSpPr>
        <p:spPr>
          <a:xfrm>
            <a:off x="5029200" y="2514600"/>
            <a:ext cx="685800" cy="685800"/>
          </a:xfrm>
          <a:prstGeom prst="ellipse">
            <a:avLst/>
          </a:prstGeom>
          <a:solidFill>
            <a:srgbClr val="1A2130">
              <a:alpha val="90000"/>
            </a:srgbClr>
          </a:solidFill>
          <a:ln w="12700">
            <a:solidFill>
              <a:srgbClr val="8A94A8"/>
            </a:solidFill>
            <a:prstDash val="solid"/>
          </a:ln>
        </p:spPr>
      </p:sp>
      <p:sp>
        <p:nvSpPr>
          <p:cNvPr id="12" name="Text 10"/>
          <p:cNvSpPr/>
          <p:nvPr/>
        </p:nvSpPr>
        <p:spPr>
          <a:xfrm>
            <a:off x="5074920" y="1874520"/>
            <a:ext cx="685800" cy="685800"/>
          </a:xfrm>
          <a:prstGeom prst="rect">
            <a:avLst/>
          </a:prstGeom>
          <a:noFill/>
          <a:ln/>
        </p:spPr>
        <p:txBody>
          <a:bodyPr wrap="square" lIns="0" tIns="0" rIns="0" bIns="0" rtlCol="0" anchor="ctr"/>
          <a:lstStyle/>
          <a:p>
            <a:pPr algn="ctr" indent="0" marL="0">
              <a:buNone/>
            </a:pPr>
            <a:r>
              <a:rPr lang="en-US" sz="1000" b="1" dirty="0">
                <a:solidFill>
                  <a:srgbClr val="E6EAF2"/>
                </a:solidFill>
                <a:latin typeface="Calibri" pitchFamily="34" charset="0"/>
                <a:ea typeface="Calibri" pitchFamily="34" charset="-122"/>
                <a:cs typeface="Calibri" pitchFamily="34" charset="-120"/>
              </a:rPr>
              <a:t>BTC</a:t>
            </a:r>
            <a:endParaRPr lang="en-US" sz="1000" dirty="0"/>
          </a:p>
        </p:txBody>
      </p:sp>
      <p:sp>
        <p:nvSpPr>
          <p:cNvPr id="13" name="Text 11"/>
          <p:cNvSpPr/>
          <p:nvPr/>
        </p:nvSpPr>
        <p:spPr>
          <a:xfrm>
            <a:off x="5623560" y="1691640"/>
            <a:ext cx="685800" cy="685800"/>
          </a:xfrm>
          <a:prstGeom prst="rect">
            <a:avLst/>
          </a:prstGeom>
          <a:noFill/>
          <a:ln/>
        </p:spPr>
        <p:txBody>
          <a:bodyPr wrap="square" lIns="0" tIns="0" rIns="0" bIns="0" rtlCol="0" anchor="ctr"/>
          <a:lstStyle/>
          <a:p>
            <a:pPr algn="ctr" indent="0" marL="0">
              <a:buNone/>
            </a:pPr>
            <a:r>
              <a:rPr lang="en-US" sz="1000" b="1" dirty="0">
                <a:solidFill>
                  <a:srgbClr val="E6EAF2"/>
                </a:solidFill>
                <a:latin typeface="Calibri" pitchFamily="34" charset="0"/>
                <a:ea typeface="Calibri" pitchFamily="34" charset="-122"/>
                <a:cs typeface="Calibri" pitchFamily="34" charset="-120"/>
              </a:rPr>
              <a:t>ETH</a:t>
            </a:r>
            <a:endParaRPr lang="en-US" sz="1000" dirty="0"/>
          </a:p>
        </p:txBody>
      </p:sp>
      <p:sp>
        <p:nvSpPr>
          <p:cNvPr id="14" name="Text 12"/>
          <p:cNvSpPr/>
          <p:nvPr/>
        </p:nvSpPr>
        <p:spPr>
          <a:xfrm>
            <a:off x="6035040" y="2194560"/>
            <a:ext cx="685800" cy="685800"/>
          </a:xfrm>
          <a:prstGeom prst="rect">
            <a:avLst/>
          </a:prstGeom>
          <a:noFill/>
          <a:ln/>
        </p:spPr>
        <p:txBody>
          <a:bodyPr wrap="square" lIns="0" tIns="0" rIns="0" bIns="0" rtlCol="0" anchor="ctr"/>
          <a:lstStyle/>
          <a:p>
            <a:pPr algn="ctr" indent="0" marL="0">
              <a:buNone/>
            </a:pPr>
            <a:r>
              <a:rPr lang="en-US" sz="1000" b="1" dirty="0">
                <a:solidFill>
                  <a:srgbClr val="E6EAF2"/>
                </a:solidFill>
                <a:latin typeface="Calibri" pitchFamily="34" charset="0"/>
                <a:ea typeface="Calibri" pitchFamily="34" charset="-122"/>
                <a:cs typeface="Calibri" pitchFamily="34" charset="-120"/>
              </a:rPr>
              <a:t>SOL</a:t>
            </a:r>
            <a:endParaRPr lang="en-US" sz="1000" dirty="0"/>
          </a:p>
        </p:txBody>
      </p:sp>
      <p:sp>
        <p:nvSpPr>
          <p:cNvPr id="15" name="Text 13"/>
          <p:cNvSpPr/>
          <p:nvPr/>
        </p:nvSpPr>
        <p:spPr>
          <a:xfrm>
            <a:off x="5486400" y="2423160"/>
            <a:ext cx="685800" cy="685800"/>
          </a:xfrm>
          <a:prstGeom prst="rect">
            <a:avLst/>
          </a:prstGeom>
          <a:noFill/>
          <a:ln/>
        </p:spPr>
        <p:txBody>
          <a:bodyPr wrap="square" lIns="0" tIns="0" rIns="0" bIns="0" rtlCol="0" anchor="ctr"/>
          <a:lstStyle/>
          <a:p>
            <a:pPr algn="ctr" indent="0" marL="0">
              <a:buNone/>
            </a:pPr>
            <a:r>
              <a:rPr lang="en-US" sz="1000" b="1" dirty="0">
                <a:solidFill>
                  <a:srgbClr val="E6EAF2"/>
                </a:solidFill>
                <a:latin typeface="Calibri" pitchFamily="34" charset="0"/>
                <a:ea typeface="Calibri" pitchFamily="34" charset="-122"/>
                <a:cs typeface="Calibri" pitchFamily="34" charset="-120"/>
              </a:rPr>
              <a:t>AVAX</a:t>
            </a:r>
            <a:endParaRPr lang="en-US" sz="1000" dirty="0"/>
          </a:p>
        </p:txBody>
      </p:sp>
      <p:sp>
        <p:nvSpPr>
          <p:cNvPr id="16" name="Text 14"/>
          <p:cNvSpPr/>
          <p:nvPr/>
        </p:nvSpPr>
        <p:spPr>
          <a:xfrm>
            <a:off x="5029200" y="2514600"/>
            <a:ext cx="685800" cy="685800"/>
          </a:xfrm>
          <a:prstGeom prst="rect">
            <a:avLst/>
          </a:prstGeom>
          <a:noFill/>
          <a:ln/>
        </p:spPr>
        <p:txBody>
          <a:bodyPr wrap="square" lIns="0" tIns="0" rIns="0" bIns="0" rtlCol="0" anchor="ctr"/>
          <a:lstStyle/>
          <a:p>
            <a:pPr algn="ctr" indent="0" marL="0">
              <a:buNone/>
            </a:pPr>
            <a:r>
              <a:rPr lang="en-US" sz="1000" b="1" dirty="0">
                <a:solidFill>
                  <a:srgbClr val="E6EAF2"/>
                </a:solidFill>
                <a:latin typeface="Calibri" pitchFamily="34" charset="0"/>
                <a:ea typeface="Calibri" pitchFamily="34" charset="-122"/>
                <a:cs typeface="Calibri" pitchFamily="34" charset="-120"/>
              </a:rPr>
              <a:t>OKB</a:t>
            </a:r>
            <a:endParaRPr lang="en-US" sz="1000" dirty="0"/>
          </a:p>
        </p:txBody>
      </p:sp>
      <p:sp>
        <p:nvSpPr>
          <p:cNvPr id="17" name="Text 15"/>
          <p:cNvSpPr/>
          <p:nvPr/>
        </p:nvSpPr>
        <p:spPr>
          <a:xfrm>
            <a:off x="4983480" y="3291840"/>
            <a:ext cx="1828800" cy="274320"/>
          </a:xfrm>
          <a:prstGeom prst="rect">
            <a:avLst/>
          </a:prstGeom>
          <a:noFill/>
          <a:ln/>
        </p:spPr>
        <p:txBody>
          <a:bodyPr wrap="square" lIns="0" tIns="0" rIns="0" bIns="0" rtlCol="0" anchor="ctr"/>
          <a:lstStyle/>
          <a:p>
            <a:pPr algn="ctr" indent="0" marL="0">
              <a:buNone/>
            </a:pPr>
            <a:r>
              <a:rPr lang="en-US" sz="1200" dirty="0">
                <a:solidFill>
                  <a:srgbClr val="8A94A8"/>
                </a:solidFill>
                <a:latin typeface="Calibri" pitchFamily="34" charset="0"/>
                <a:ea typeface="Calibri" pitchFamily="34" charset="-122"/>
                <a:cs typeface="Calibri" pitchFamily="34" charset="-120"/>
              </a:rPr>
              <a:t>5 coins</a:t>
            </a:r>
            <a:endParaRPr lang="en-US" sz="1200" dirty="0"/>
          </a:p>
        </p:txBody>
      </p:sp>
      <p:sp>
        <p:nvSpPr>
          <p:cNvPr id="18" name="Text 16"/>
          <p:cNvSpPr/>
          <p:nvPr/>
        </p:nvSpPr>
        <p:spPr>
          <a:xfrm>
            <a:off x="6812280" y="2011680"/>
            <a:ext cx="411480" cy="548640"/>
          </a:xfrm>
          <a:prstGeom prst="rect">
            <a:avLst/>
          </a:prstGeom>
          <a:noFill/>
          <a:ln/>
        </p:spPr>
        <p:txBody>
          <a:bodyPr wrap="square" lIns="0" tIns="0" rIns="0" bIns="0" rtlCol="0" anchor="ctr"/>
          <a:lstStyle/>
          <a:p>
            <a:pPr algn="ctr" indent="0" marL="0">
              <a:buNone/>
            </a:pPr>
            <a:r>
              <a:rPr lang="en-US" sz="3200" dirty="0">
                <a:solidFill>
                  <a:srgbClr val="8A94A8"/>
                </a:solidFill>
                <a:latin typeface="Calibri" pitchFamily="34" charset="0"/>
                <a:ea typeface="Calibri" pitchFamily="34" charset="-122"/>
                <a:cs typeface="Calibri" pitchFamily="34" charset="-120"/>
              </a:rPr>
              <a:t>≈</a:t>
            </a:r>
            <a:endParaRPr lang="en-US" sz="3200" dirty="0"/>
          </a:p>
        </p:txBody>
      </p:sp>
      <p:sp>
        <p:nvSpPr>
          <p:cNvPr id="19" name="Shape 17"/>
          <p:cNvSpPr/>
          <p:nvPr/>
        </p:nvSpPr>
        <p:spPr>
          <a:xfrm>
            <a:off x="7269480" y="1600200"/>
            <a:ext cx="1463040" cy="1463040"/>
          </a:xfrm>
          <a:prstGeom prst="ellipse">
            <a:avLst/>
          </a:prstGeom>
          <a:solidFill>
            <a:srgbClr val="0B0E14"/>
          </a:solidFill>
          <a:ln w="31750">
            <a:solidFill>
              <a:srgbClr val="E8B04B"/>
            </a:solidFill>
            <a:prstDash val="solid"/>
          </a:ln>
        </p:spPr>
      </p:sp>
      <p:sp>
        <p:nvSpPr>
          <p:cNvPr id="20" name="Text 18"/>
          <p:cNvSpPr/>
          <p:nvPr/>
        </p:nvSpPr>
        <p:spPr>
          <a:xfrm>
            <a:off x="7269480" y="1600200"/>
            <a:ext cx="1463040" cy="1463040"/>
          </a:xfrm>
          <a:prstGeom prst="rect">
            <a:avLst/>
          </a:prstGeom>
          <a:noFill/>
          <a:ln/>
        </p:spPr>
        <p:txBody>
          <a:bodyPr wrap="square" lIns="0" tIns="0" rIns="0" bIns="0" rtlCol="0" anchor="ctr"/>
          <a:lstStyle/>
          <a:p>
            <a:pPr algn="ctr" indent="0" marL="0">
              <a:buNone/>
            </a:pPr>
            <a:r>
              <a:rPr lang="en-US" sz="2600" b="1" dirty="0">
                <a:solidFill>
                  <a:srgbClr val="E8B04B"/>
                </a:solidFill>
                <a:latin typeface="Cambria" pitchFamily="34" charset="0"/>
                <a:ea typeface="Cambria" pitchFamily="34" charset="-122"/>
                <a:cs typeface="Cambria" pitchFamily="34" charset="-120"/>
              </a:rPr>
              <a:t>&lt;TBD&gt;</a:t>
            </a:r>
            <a:endParaRPr lang="en-US" sz="2600" dirty="0"/>
          </a:p>
        </p:txBody>
      </p:sp>
      <p:sp>
        <p:nvSpPr>
          <p:cNvPr id="21" name="Text 19"/>
          <p:cNvSpPr/>
          <p:nvPr/>
        </p:nvSpPr>
        <p:spPr>
          <a:xfrm>
            <a:off x="6995160" y="3291840"/>
            <a:ext cx="2011680" cy="274320"/>
          </a:xfrm>
          <a:prstGeom prst="rect">
            <a:avLst/>
          </a:prstGeom>
          <a:noFill/>
          <a:ln/>
        </p:spPr>
        <p:txBody>
          <a:bodyPr wrap="square" lIns="0" tIns="0" rIns="0" bIns="0" rtlCol="0" anchor="ctr"/>
          <a:lstStyle/>
          <a:p>
            <a:pPr algn="ctr" indent="0" marL="0">
              <a:buNone/>
            </a:pPr>
            <a:r>
              <a:rPr lang="en-US" sz="1200" dirty="0">
                <a:solidFill>
                  <a:srgbClr val="E8B04B"/>
                </a:solidFill>
                <a:latin typeface="Calibri" pitchFamily="34" charset="0"/>
                <a:ea typeface="Calibri" pitchFamily="34" charset="-122"/>
                <a:cs typeface="Calibri" pitchFamily="34" charset="-120"/>
              </a:rPr>
              <a:t>independent bets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100" b="1" spc="300" kern="0" dirty="0">
                <a:solidFill>
                  <a:srgbClr val="E8B04B"/>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t"/>
          <a:lstStyle/>
          <a:p>
            <a:pPr indent="0" marL="0">
              <a:buNone/>
            </a:pPr>
            <a:r>
              <a:rPr lang="en-US" sz="3000" b="1" dirty="0">
                <a:solidFill>
                  <a:srgbClr val="E6EAF2"/>
                </a:solidFill>
                <a:latin typeface="Cambria" pitchFamily="34" charset="0"/>
                <a:ea typeface="Cambria" pitchFamily="34" charset="-122"/>
                <a:cs typeface="Cambria" pitchFamily="34" charset="-120"/>
              </a:rPr>
              <a:t>You can't check a trading agent's record</a:t>
            </a:r>
            <a:endParaRPr lang="en-US" sz="3000" dirty="0"/>
          </a:p>
        </p:txBody>
      </p:sp>
      <p:sp>
        <p:nvSpPr>
          <p:cNvPr id="4" name="Shape 2"/>
          <p:cNvSpPr/>
          <p:nvPr/>
        </p:nvSpPr>
        <p:spPr>
          <a:xfrm>
            <a:off x="457200" y="1417320"/>
            <a:ext cx="4206240" cy="731520"/>
          </a:xfrm>
          <a:prstGeom prst="roundRect">
            <a:avLst>
              <a:gd name="adj" fmla="val 15000"/>
            </a:avLst>
          </a:prstGeom>
          <a:solidFill>
            <a:srgbClr val="121722"/>
          </a:solidFill>
          <a:ln w="9525">
            <a:solidFill>
              <a:srgbClr val="263043"/>
            </a:solidFill>
            <a:prstDash val="solid"/>
          </a:ln>
        </p:spPr>
      </p:sp>
      <p:sp>
        <p:nvSpPr>
          <p:cNvPr id="5" name="Shape 3"/>
          <p:cNvSpPr/>
          <p:nvPr/>
        </p:nvSpPr>
        <p:spPr>
          <a:xfrm>
            <a:off x="640080" y="1591056"/>
            <a:ext cx="384048" cy="384048"/>
          </a:xfrm>
          <a:prstGeom prst="ellipse">
            <a:avLst/>
          </a:prstGeom>
          <a:solidFill>
            <a:srgbClr val="0B0E14"/>
          </a:solidFill>
          <a:ln w="19050">
            <a:solidFill>
              <a:srgbClr val="E8B04B"/>
            </a:solidFill>
            <a:prstDash val="solid"/>
          </a:ln>
        </p:spPr>
      </p:sp>
      <p:sp>
        <p:nvSpPr>
          <p:cNvPr id="6" name="Text 4"/>
          <p:cNvSpPr/>
          <p:nvPr/>
        </p:nvSpPr>
        <p:spPr>
          <a:xfrm>
            <a:off x="640080" y="1591056"/>
            <a:ext cx="384048" cy="384048"/>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508760"/>
            <a:ext cx="3383280" cy="292608"/>
          </a:xfrm>
          <a:prstGeom prst="rect">
            <a:avLst/>
          </a:prstGeom>
          <a:noFill/>
          <a:ln/>
        </p:spPr>
        <p:txBody>
          <a:bodyPr wrap="square" lIns="0" tIns="0" rIns="0" bIns="0" rtlCol="0" anchor="ctr"/>
          <a:lstStyle/>
          <a:p>
            <a:pPr indent="0" marL="0">
              <a:buNone/>
            </a:pPr>
            <a:r>
              <a:rPr lang="en-US" sz="1500" b="1" dirty="0">
                <a:solidFill>
                  <a:srgbClr val="E6EAF2"/>
                </a:solidFill>
                <a:latin typeface="Calibri" pitchFamily="34" charset="0"/>
                <a:ea typeface="Calibri" pitchFamily="34" charset="-122"/>
                <a:cs typeface="Calibri" pitchFamily="34" charset="-120"/>
              </a:rPr>
              <a:t>Test results are hand-picked</a:t>
            </a:r>
            <a:endParaRPr lang="en-US" sz="1500" dirty="0"/>
          </a:p>
        </p:txBody>
      </p:sp>
      <p:sp>
        <p:nvSpPr>
          <p:cNvPr id="8" name="Text 6"/>
          <p:cNvSpPr/>
          <p:nvPr/>
        </p:nvSpPr>
        <p:spPr>
          <a:xfrm>
            <a:off x="1188720" y="1801368"/>
            <a:ext cx="3383280" cy="274320"/>
          </a:xfrm>
          <a:prstGeom prst="rect">
            <a:avLst/>
          </a:prstGeom>
          <a:noFill/>
          <a:ln/>
        </p:spPr>
        <p:txBody>
          <a:bodyPr wrap="square" lIns="0" tIns="0" rIns="0" bIns="0" rtlCol="0" anchor="ctr"/>
          <a:lstStyle/>
          <a:p>
            <a:pPr indent="0" marL="0">
              <a:buNone/>
            </a:pPr>
            <a:r>
              <a:rPr lang="en-US" sz="1200" dirty="0">
                <a:solidFill>
                  <a:srgbClr val="8A94A8"/>
                </a:solidFill>
                <a:latin typeface="Calibri" pitchFamily="34" charset="0"/>
                <a:ea typeface="Calibri" pitchFamily="34" charset="-122"/>
                <a:cs typeface="Calibri" pitchFamily="34" charset="-120"/>
              </a:rPr>
              <a:t>Only the good runs get shown.</a:t>
            </a:r>
            <a:endParaRPr lang="en-US" sz="1200" dirty="0"/>
          </a:p>
        </p:txBody>
      </p:sp>
      <p:sp>
        <p:nvSpPr>
          <p:cNvPr id="9" name="Shape 7"/>
          <p:cNvSpPr/>
          <p:nvPr/>
        </p:nvSpPr>
        <p:spPr>
          <a:xfrm>
            <a:off x="457200" y="2286000"/>
            <a:ext cx="4206240" cy="731520"/>
          </a:xfrm>
          <a:prstGeom prst="roundRect">
            <a:avLst>
              <a:gd name="adj" fmla="val 15000"/>
            </a:avLst>
          </a:prstGeom>
          <a:solidFill>
            <a:srgbClr val="121722"/>
          </a:solidFill>
          <a:ln w="9525">
            <a:solidFill>
              <a:srgbClr val="263043"/>
            </a:solidFill>
            <a:prstDash val="solid"/>
          </a:ln>
        </p:spPr>
      </p:sp>
      <p:sp>
        <p:nvSpPr>
          <p:cNvPr id="10" name="Shape 8"/>
          <p:cNvSpPr/>
          <p:nvPr/>
        </p:nvSpPr>
        <p:spPr>
          <a:xfrm>
            <a:off x="640080" y="2459736"/>
            <a:ext cx="384048" cy="384048"/>
          </a:xfrm>
          <a:prstGeom prst="ellipse">
            <a:avLst/>
          </a:prstGeom>
          <a:solidFill>
            <a:srgbClr val="0B0E14"/>
          </a:solidFill>
          <a:ln w="19050">
            <a:solidFill>
              <a:srgbClr val="E8B04B"/>
            </a:solidFill>
            <a:prstDash val="solid"/>
          </a:ln>
        </p:spPr>
      </p:sp>
      <p:sp>
        <p:nvSpPr>
          <p:cNvPr id="11" name="Text 9"/>
          <p:cNvSpPr/>
          <p:nvPr/>
        </p:nvSpPr>
        <p:spPr>
          <a:xfrm>
            <a:off x="640080" y="2459736"/>
            <a:ext cx="384048" cy="384048"/>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377440"/>
            <a:ext cx="3383280" cy="292608"/>
          </a:xfrm>
          <a:prstGeom prst="rect">
            <a:avLst/>
          </a:prstGeom>
          <a:noFill/>
          <a:ln/>
        </p:spPr>
        <p:txBody>
          <a:bodyPr wrap="square" lIns="0" tIns="0" rIns="0" bIns="0" rtlCol="0" anchor="ctr"/>
          <a:lstStyle/>
          <a:p>
            <a:pPr indent="0" marL="0">
              <a:buNone/>
            </a:pPr>
            <a:r>
              <a:rPr lang="en-US" sz="1500" b="1" dirty="0">
                <a:solidFill>
                  <a:srgbClr val="E6EAF2"/>
                </a:solidFill>
                <a:latin typeface="Calibri" pitchFamily="34" charset="0"/>
                <a:ea typeface="Calibri" pitchFamily="34" charset="-122"/>
                <a:cs typeface="Calibri" pitchFamily="34" charset="-120"/>
              </a:rPr>
              <a:t>Screenshots can be edited</a:t>
            </a:r>
            <a:endParaRPr lang="en-US" sz="1500" dirty="0"/>
          </a:p>
        </p:txBody>
      </p:sp>
      <p:sp>
        <p:nvSpPr>
          <p:cNvPr id="13" name="Text 11"/>
          <p:cNvSpPr/>
          <p:nvPr/>
        </p:nvSpPr>
        <p:spPr>
          <a:xfrm>
            <a:off x="1188720" y="2670048"/>
            <a:ext cx="3383280" cy="274320"/>
          </a:xfrm>
          <a:prstGeom prst="rect">
            <a:avLst/>
          </a:prstGeom>
          <a:noFill/>
          <a:ln/>
        </p:spPr>
        <p:txBody>
          <a:bodyPr wrap="square" lIns="0" tIns="0" rIns="0" bIns="0" rtlCol="0" anchor="ctr"/>
          <a:lstStyle/>
          <a:p>
            <a:pPr indent="0" marL="0">
              <a:buNone/>
            </a:pPr>
            <a:r>
              <a:rPr lang="en-US" sz="1200" dirty="0">
                <a:solidFill>
                  <a:srgbClr val="8A94A8"/>
                </a:solidFill>
                <a:latin typeface="Calibri" pitchFamily="34" charset="0"/>
                <a:ea typeface="Calibri" pitchFamily="34" charset="-122"/>
                <a:cs typeface="Calibri" pitchFamily="34" charset="-120"/>
              </a:rPr>
              <a:t>A picture of profits is not proof.</a:t>
            </a:r>
            <a:endParaRPr lang="en-US" sz="1200" dirty="0"/>
          </a:p>
        </p:txBody>
      </p:sp>
      <p:sp>
        <p:nvSpPr>
          <p:cNvPr id="14" name="Shape 12"/>
          <p:cNvSpPr/>
          <p:nvPr/>
        </p:nvSpPr>
        <p:spPr>
          <a:xfrm>
            <a:off x="457200" y="3154680"/>
            <a:ext cx="4206240" cy="731520"/>
          </a:xfrm>
          <a:prstGeom prst="roundRect">
            <a:avLst>
              <a:gd name="adj" fmla="val 15000"/>
            </a:avLst>
          </a:prstGeom>
          <a:solidFill>
            <a:srgbClr val="121722"/>
          </a:solidFill>
          <a:ln w="9525">
            <a:solidFill>
              <a:srgbClr val="263043"/>
            </a:solidFill>
            <a:prstDash val="solid"/>
          </a:ln>
        </p:spPr>
      </p:sp>
      <p:sp>
        <p:nvSpPr>
          <p:cNvPr id="15" name="Shape 13"/>
          <p:cNvSpPr/>
          <p:nvPr/>
        </p:nvSpPr>
        <p:spPr>
          <a:xfrm>
            <a:off x="640080" y="3328416"/>
            <a:ext cx="384048" cy="384048"/>
          </a:xfrm>
          <a:prstGeom prst="ellipse">
            <a:avLst/>
          </a:prstGeom>
          <a:solidFill>
            <a:srgbClr val="0B0E14"/>
          </a:solidFill>
          <a:ln w="19050">
            <a:solidFill>
              <a:srgbClr val="E8B04B"/>
            </a:solidFill>
            <a:prstDash val="solid"/>
          </a:ln>
        </p:spPr>
      </p:sp>
      <p:sp>
        <p:nvSpPr>
          <p:cNvPr id="16" name="Text 14"/>
          <p:cNvSpPr/>
          <p:nvPr/>
        </p:nvSpPr>
        <p:spPr>
          <a:xfrm>
            <a:off x="640080" y="3328416"/>
            <a:ext cx="384048" cy="384048"/>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188720" y="3246120"/>
            <a:ext cx="3383280" cy="292608"/>
          </a:xfrm>
          <a:prstGeom prst="rect">
            <a:avLst/>
          </a:prstGeom>
          <a:noFill/>
          <a:ln/>
        </p:spPr>
        <p:txBody>
          <a:bodyPr wrap="square" lIns="0" tIns="0" rIns="0" bIns="0" rtlCol="0" anchor="ctr"/>
          <a:lstStyle/>
          <a:p>
            <a:pPr indent="0" marL="0">
              <a:buNone/>
            </a:pPr>
            <a:r>
              <a:rPr lang="en-US" sz="1500" b="1" dirty="0">
                <a:solidFill>
                  <a:srgbClr val="E6EAF2"/>
                </a:solidFill>
                <a:latin typeface="Calibri" pitchFamily="34" charset="0"/>
                <a:ea typeface="Calibri" pitchFamily="34" charset="-122"/>
                <a:cs typeface="Calibri" pitchFamily="34" charset="-120"/>
              </a:rPr>
              <a:t>Decisions get "fixed" later</a:t>
            </a:r>
            <a:endParaRPr lang="en-US" sz="1500" dirty="0"/>
          </a:p>
        </p:txBody>
      </p:sp>
      <p:sp>
        <p:nvSpPr>
          <p:cNvPr id="18" name="Text 16"/>
          <p:cNvSpPr/>
          <p:nvPr/>
        </p:nvSpPr>
        <p:spPr>
          <a:xfrm>
            <a:off x="1188720" y="3538728"/>
            <a:ext cx="3383280" cy="274320"/>
          </a:xfrm>
          <a:prstGeom prst="rect">
            <a:avLst/>
          </a:prstGeom>
          <a:noFill/>
          <a:ln/>
        </p:spPr>
        <p:txBody>
          <a:bodyPr wrap="square" lIns="0" tIns="0" rIns="0" bIns="0" rtlCol="0" anchor="ctr"/>
          <a:lstStyle/>
          <a:p>
            <a:pPr indent="0" marL="0">
              <a:buNone/>
            </a:pPr>
            <a:r>
              <a:rPr lang="en-US" sz="1200" dirty="0">
                <a:solidFill>
                  <a:srgbClr val="8A94A8"/>
                </a:solidFill>
                <a:latin typeface="Calibri" pitchFamily="34" charset="0"/>
                <a:ea typeface="Calibri" pitchFamily="34" charset="-122"/>
                <a:cs typeface="Calibri" pitchFamily="34" charset="-120"/>
              </a:rPr>
              <a:t>Logs can be rewritten after the market moves.</a:t>
            </a:r>
            <a:endParaRPr lang="en-US" sz="1200" dirty="0"/>
          </a:p>
        </p:txBody>
      </p:sp>
      <p:sp>
        <p:nvSpPr>
          <p:cNvPr id="19" name="Shape 17"/>
          <p:cNvSpPr/>
          <p:nvPr/>
        </p:nvSpPr>
        <p:spPr>
          <a:xfrm>
            <a:off x="4937760" y="1417320"/>
            <a:ext cx="3749040" cy="2468880"/>
          </a:xfrm>
          <a:prstGeom prst="roundRect">
            <a:avLst>
              <a:gd name="adj" fmla="val 4444"/>
            </a:avLst>
          </a:prstGeom>
          <a:solidFill>
            <a:srgbClr val="1A2130"/>
          </a:solidFill>
          <a:ln w="9525">
            <a:solidFill>
              <a:srgbClr val="263043"/>
            </a:solidFill>
            <a:prstDash val="solid"/>
          </a:ln>
        </p:spPr>
      </p:sp>
      <p:sp>
        <p:nvSpPr>
          <p:cNvPr id="20" name="Text 18"/>
          <p:cNvSpPr/>
          <p:nvPr/>
        </p:nvSpPr>
        <p:spPr>
          <a:xfrm>
            <a:off x="5166360" y="1600200"/>
            <a:ext cx="3291840" cy="640080"/>
          </a:xfrm>
          <a:prstGeom prst="rect">
            <a:avLst/>
          </a:prstGeom>
          <a:noFill/>
          <a:ln/>
        </p:spPr>
        <p:txBody>
          <a:bodyPr wrap="square" lIns="0" tIns="0" rIns="0" bIns="0" rtlCol="0" anchor="t"/>
          <a:lstStyle/>
          <a:p>
            <a:pPr indent="0" marL="0">
              <a:buNone/>
            </a:pPr>
            <a:r>
              <a:rPr lang="en-US" sz="1800" b="1" dirty="0">
                <a:solidFill>
                  <a:srgbClr val="E8B04B"/>
                </a:solidFill>
                <a:latin typeface="Cambria" pitchFamily="34" charset="0"/>
                <a:ea typeface="Cambria" pitchFamily="34" charset="-122"/>
                <a:cs typeface="Cambria" pitchFamily="34" charset="-120"/>
              </a:rPr>
              <a:t>And "diversified" is often one bet</a:t>
            </a:r>
            <a:endParaRPr lang="en-US" sz="1800" dirty="0"/>
          </a:p>
        </p:txBody>
      </p:sp>
      <p:sp>
        <p:nvSpPr>
          <p:cNvPr id="21" name="Text 19"/>
          <p:cNvSpPr/>
          <p:nvPr/>
        </p:nvSpPr>
        <p:spPr>
          <a:xfrm>
            <a:off x="5166360" y="2286000"/>
            <a:ext cx="3291840" cy="914400"/>
          </a:xfrm>
          <a:prstGeom prst="rect">
            <a:avLst/>
          </a:prstGeom>
          <a:noFill/>
          <a:ln/>
        </p:spPr>
        <p:txBody>
          <a:bodyPr wrap="square" lIns="0" tIns="0" rIns="0" bIns="0" rtlCol="0" anchor="t"/>
          <a:lstStyle/>
          <a:p>
            <a:pPr indent="0" marL="0">
              <a:buNone/>
            </a:pPr>
            <a:r>
              <a:rPr lang="en-US" sz="1400" dirty="0">
                <a:solidFill>
                  <a:srgbClr val="E6EAF2"/>
                </a:solidFill>
                <a:latin typeface="Calibri" pitchFamily="34" charset="0"/>
                <a:ea typeface="Calibri" pitchFamily="34" charset="-122"/>
                <a:cs typeface="Calibri" pitchFamily="34" charset="-120"/>
              </a:rPr>
              <a:t>Most crypto coins rise and fall together. Buying five of them can feel safe, but it behaves like barely more than one.</a:t>
            </a:r>
            <a:endParaRPr lang="en-US" sz="1400" dirty="0"/>
          </a:p>
        </p:txBody>
      </p:sp>
      <p:sp>
        <p:nvSpPr>
          <p:cNvPr id="22" name="Shape 20"/>
          <p:cNvSpPr/>
          <p:nvPr/>
        </p:nvSpPr>
        <p:spPr>
          <a:xfrm>
            <a:off x="5257800" y="3246120"/>
            <a:ext cx="457200" cy="457200"/>
          </a:xfrm>
          <a:prstGeom prst="ellipse">
            <a:avLst/>
          </a:prstGeom>
          <a:solidFill>
            <a:srgbClr val="121722">
              <a:alpha val="80000"/>
            </a:srgbClr>
          </a:solidFill>
          <a:ln w="12700">
            <a:solidFill>
              <a:srgbClr val="8A94A8"/>
            </a:solidFill>
            <a:prstDash val="solid"/>
          </a:ln>
        </p:spPr>
      </p:sp>
      <p:sp>
        <p:nvSpPr>
          <p:cNvPr id="23" name="Shape 21"/>
          <p:cNvSpPr/>
          <p:nvPr/>
        </p:nvSpPr>
        <p:spPr>
          <a:xfrm>
            <a:off x="5550408" y="3246120"/>
            <a:ext cx="457200" cy="457200"/>
          </a:xfrm>
          <a:prstGeom prst="ellipse">
            <a:avLst/>
          </a:prstGeom>
          <a:solidFill>
            <a:srgbClr val="121722">
              <a:alpha val="80000"/>
            </a:srgbClr>
          </a:solidFill>
          <a:ln w="12700">
            <a:solidFill>
              <a:srgbClr val="8A94A8"/>
            </a:solidFill>
            <a:prstDash val="solid"/>
          </a:ln>
        </p:spPr>
      </p:sp>
      <p:sp>
        <p:nvSpPr>
          <p:cNvPr id="24" name="Shape 22"/>
          <p:cNvSpPr/>
          <p:nvPr/>
        </p:nvSpPr>
        <p:spPr>
          <a:xfrm>
            <a:off x="5843016" y="3246120"/>
            <a:ext cx="457200" cy="457200"/>
          </a:xfrm>
          <a:prstGeom prst="ellipse">
            <a:avLst/>
          </a:prstGeom>
          <a:solidFill>
            <a:srgbClr val="121722">
              <a:alpha val="80000"/>
            </a:srgbClr>
          </a:solidFill>
          <a:ln w="12700">
            <a:solidFill>
              <a:srgbClr val="8A94A8"/>
            </a:solidFill>
            <a:prstDash val="solid"/>
          </a:ln>
        </p:spPr>
      </p:sp>
      <p:sp>
        <p:nvSpPr>
          <p:cNvPr id="25" name="Shape 23"/>
          <p:cNvSpPr/>
          <p:nvPr/>
        </p:nvSpPr>
        <p:spPr>
          <a:xfrm>
            <a:off x="6135624" y="3246120"/>
            <a:ext cx="457200" cy="457200"/>
          </a:xfrm>
          <a:prstGeom prst="ellipse">
            <a:avLst/>
          </a:prstGeom>
          <a:solidFill>
            <a:srgbClr val="121722">
              <a:alpha val="80000"/>
            </a:srgbClr>
          </a:solidFill>
          <a:ln w="12700">
            <a:solidFill>
              <a:srgbClr val="8A94A8"/>
            </a:solidFill>
            <a:prstDash val="solid"/>
          </a:ln>
        </p:spPr>
      </p:sp>
      <p:sp>
        <p:nvSpPr>
          <p:cNvPr id="26" name="Shape 24"/>
          <p:cNvSpPr/>
          <p:nvPr/>
        </p:nvSpPr>
        <p:spPr>
          <a:xfrm>
            <a:off x="6428232" y="3246120"/>
            <a:ext cx="457200" cy="457200"/>
          </a:xfrm>
          <a:prstGeom prst="ellipse">
            <a:avLst/>
          </a:prstGeom>
          <a:solidFill>
            <a:srgbClr val="121722">
              <a:alpha val="80000"/>
            </a:srgbClr>
          </a:solidFill>
          <a:ln w="12700">
            <a:solidFill>
              <a:srgbClr val="8A94A8"/>
            </a:solidFill>
            <a:prstDash val="solid"/>
          </a:ln>
        </p:spPr>
      </p:sp>
      <p:sp>
        <p:nvSpPr>
          <p:cNvPr id="27" name="Text 25"/>
          <p:cNvSpPr/>
          <p:nvPr/>
        </p:nvSpPr>
        <p:spPr>
          <a:xfrm>
            <a:off x="7040880" y="3246120"/>
            <a:ext cx="1508760" cy="457200"/>
          </a:xfrm>
          <a:prstGeom prst="rect">
            <a:avLst/>
          </a:prstGeom>
          <a:noFill/>
          <a:ln/>
        </p:spPr>
        <p:txBody>
          <a:bodyPr wrap="square" lIns="0" tIns="0" rIns="0" bIns="0" rtlCol="0" anchor="ctr"/>
          <a:lstStyle/>
          <a:p>
            <a:pPr indent="0" marL="0">
              <a:buNone/>
            </a:pPr>
            <a:r>
              <a:rPr lang="en-US" sz="1400" b="1" dirty="0">
                <a:solidFill>
                  <a:srgbClr val="E8B04B"/>
                </a:solidFill>
                <a:latin typeface="Calibri" pitchFamily="34" charset="0"/>
                <a:ea typeface="Calibri" pitchFamily="34" charset="-122"/>
                <a:cs typeface="Calibri" pitchFamily="34" charset="-120"/>
              </a:rPr>
              <a:t>≈ &lt;TBD&gt; bets</a:t>
            </a:r>
            <a:endParaRPr lang="en-US" sz="1400" dirty="0"/>
          </a:p>
        </p:txBody>
      </p:sp>
      <p:sp>
        <p:nvSpPr>
          <p:cNvPr id="28" name="Text 26"/>
          <p:cNvSpPr/>
          <p:nvPr/>
        </p:nvSpPr>
        <p:spPr>
          <a:xfrm>
            <a:off x="457200" y="4206240"/>
            <a:ext cx="8229600" cy="411480"/>
          </a:xfrm>
          <a:prstGeom prst="rect">
            <a:avLst/>
          </a:prstGeom>
          <a:noFill/>
          <a:ln/>
        </p:spPr>
        <p:txBody>
          <a:bodyPr wrap="square" lIns="0" tIns="0" rIns="0" bIns="0" rtlCol="0" anchor="ctr"/>
          <a:lstStyle/>
          <a:p>
            <a:pPr indent="0" marL="0">
              <a:buNone/>
            </a:pPr>
            <a:r>
              <a:rPr lang="en-US" sz="1400" b="1" dirty="0">
                <a:solidFill>
                  <a:srgbClr val="E8B04B"/>
                </a:solidFill>
                <a:latin typeface="Calibri" pitchFamily="34" charset="0"/>
                <a:ea typeface="Calibri" pitchFamily="34" charset="-122"/>
                <a:cs typeface="Calibri" pitchFamily="34" charset="-120"/>
              </a:rPr>
              <a:t>Who it's for: </a:t>
            </a:r>
            <a:pPr indent="0" marL="0">
              <a:buNone/>
            </a:pPr>
            <a:r>
              <a:rPr lang="en-US" sz="1400" dirty="0">
                <a:solidFill>
                  <a:srgbClr val="E6EAF2"/>
                </a:solidFill>
                <a:latin typeface="Calibri" pitchFamily="34" charset="0"/>
                <a:ea typeface="Calibri" pitchFamily="34" charset="-122"/>
                <a:cs typeface="Calibri" pitchFamily="34" charset="-120"/>
              </a:rPr>
              <a:t>anyone who wants to let an AI agent trade their money — and wants proof first.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100" b="1" spc="300" kern="0" dirty="0">
                <a:solidFill>
                  <a:srgbClr val="E8B04B"/>
                </a:solidFill>
                <a:latin typeface="Calibri" pitchFamily="34" charset="0"/>
                <a:ea typeface="Calibri" pitchFamily="34" charset="-122"/>
                <a:cs typeface="Calibri" pitchFamily="34" charset="-120"/>
              </a:rPr>
              <a:t>THE INSIGHT</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t"/>
          <a:lstStyle/>
          <a:p>
            <a:pPr indent="0" marL="0">
              <a:buNone/>
            </a:pPr>
            <a:r>
              <a:rPr lang="en-US" sz="3000" b="1" dirty="0">
                <a:solidFill>
                  <a:srgbClr val="E6EAF2"/>
                </a:solidFill>
                <a:latin typeface="Cambria" pitchFamily="34" charset="0"/>
                <a:ea typeface="Cambria" pitchFamily="34" charset="-122"/>
                <a:cs typeface="Cambria" pitchFamily="34" charset="-120"/>
              </a:rPr>
              <a:t>Count bets, not coins</a:t>
            </a:r>
            <a:endParaRPr lang="en-US" sz="3000" dirty="0"/>
          </a:p>
        </p:txBody>
      </p:sp>
      <p:graphicFrame>
        <p:nvGraphicFramePr>
          <p:cNvPr id="4" name="Chart 0" descr=""/>
          <p:cNvGraphicFramePr/>
          <p:nvPr/>
        </p:nvGraphicFramePr>
        <p:xfrm>
          <a:off x="365760" y="1280160"/>
          <a:ext cx="5212080" cy="3429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852160" y="1280160"/>
            <a:ext cx="2834640" cy="1417320"/>
          </a:xfrm>
          <a:prstGeom prst="roundRect">
            <a:avLst>
              <a:gd name="adj" fmla="val 7742"/>
            </a:avLst>
          </a:prstGeom>
          <a:solidFill>
            <a:srgbClr val="1A2130"/>
          </a:solidFill>
          <a:ln w="9525">
            <a:solidFill>
              <a:srgbClr val="263043"/>
            </a:solidFill>
            <a:prstDash val="solid"/>
          </a:ln>
        </p:spPr>
      </p:sp>
      <p:sp>
        <p:nvSpPr>
          <p:cNvPr id="6" name="Text 3"/>
          <p:cNvSpPr/>
          <p:nvPr/>
        </p:nvSpPr>
        <p:spPr>
          <a:xfrm>
            <a:off x="6035040" y="1371600"/>
            <a:ext cx="2468880" cy="274320"/>
          </a:xfrm>
          <a:prstGeom prst="rect">
            <a:avLst/>
          </a:prstGeom>
          <a:noFill/>
          <a:ln/>
        </p:spPr>
        <p:txBody>
          <a:bodyPr wrap="square" lIns="0" tIns="0" rIns="0" bIns="0" rtlCol="0" anchor="ctr"/>
          <a:lstStyle/>
          <a:p>
            <a:pPr indent="0" marL="0">
              <a:buNone/>
            </a:pPr>
            <a:r>
              <a:rPr lang="en-US" sz="1100" b="1" spc="200" kern="0" dirty="0">
                <a:solidFill>
                  <a:srgbClr val="E8B04B"/>
                </a:solidFill>
                <a:latin typeface="Calibri" pitchFamily="34" charset="0"/>
                <a:ea typeface="Calibri" pitchFamily="34" charset="-122"/>
                <a:cs typeface="Calibri" pitchFamily="34" charset="-120"/>
              </a:rPr>
              <a:t>Live today</a:t>
            </a:r>
            <a:endParaRPr lang="en-US" sz="1100" dirty="0"/>
          </a:p>
        </p:txBody>
      </p:sp>
      <p:sp>
        <p:nvSpPr>
          <p:cNvPr id="7" name="Text 4"/>
          <p:cNvSpPr/>
          <p:nvPr/>
        </p:nvSpPr>
        <p:spPr>
          <a:xfrm>
            <a:off x="6035040" y="1645920"/>
            <a:ext cx="2468880" cy="548640"/>
          </a:xfrm>
          <a:prstGeom prst="rect">
            <a:avLst/>
          </a:prstGeom>
          <a:noFill/>
          <a:ln/>
        </p:spPr>
        <p:txBody>
          <a:bodyPr wrap="square" lIns="0" tIns="0" rIns="0" bIns="0" rtlCol="0" anchor="ctr"/>
          <a:lstStyle/>
          <a:p>
            <a:pPr indent="0" marL="0">
              <a:buNone/>
            </a:pPr>
            <a:r>
              <a:rPr lang="en-US" sz="3000" b="1" dirty="0">
                <a:solidFill>
                  <a:srgbClr val="E8B04B"/>
                </a:solidFill>
                <a:latin typeface="Cambria" pitchFamily="34" charset="0"/>
                <a:ea typeface="Cambria" pitchFamily="34" charset="-122"/>
                <a:cs typeface="Cambria" pitchFamily="34" charset="-120"/>
              </a:rPr>
              <a:t>&lt;TBD&gt;</a:t>
            </a:r>
            <a:endParaRPr lang="en-US" sz="3000" dirty="0"/>
          </a:p>
        </p:txBody>
      </p:sp>
      <p:sp>
        <p:nvSpPr>
          <p:cNvPr id="8" name="Text 5"/>
          <p:cNvSpPr/>
          <p:nvPr/>
        </p:nvSpPr>
        <p:spPr>
          <a:xfrm>
            <a:off x="6035040" y="2194560"/>
            <a:ext cx="2468880" cy="457200"/>
          </a:xfrm>
          <a:prstGeom prst="rect">
            <a:avLst/>
          </a:prstGeom>
          <a:noFill/>
          <a:ln/>
        </p:spPr>
        <p:txBody>
          <a:bodyPr wrap="square" lIns="0" tIns="0" rIns="0" bIns="0" rtlCol="0" anchor="t"/>
          <a:lstStyle/>
          <a:p>
            <a:pPr indent="0" marL="0">
              <a:buNone/>
            </a:pPr>
            <a:r>
              <a:rPr lang="en-US" sz="1100" dirty="0">
                <a:solidFill>
                  <a:srgbClr val="8A94A8"/>
                </a:solidFill>
                <a:latin typeface="Calibri" pitchFamily="34" charset="0"/>
                <a:ea typeface="Calibri" pitchFamily="34" charset="-122"/>
                <a:cs typeface="Calibri" pitchFamily="34" charset="-120"/>
              </a:rPr>
              <a:t>independent bets from 5 coins (togetherness &lt;TBD&gt;)</a:t>
            </a:r>
            <a:endParaRPr lang="en-US" sz="1100" dirty="0"/>
          </a:p>
        </p:txBody>
      </p:sp>
      <p:sp>
        <p:nvSpPr>
          <p:cNvPr id="9" name="Text 6"/>
          <p:cNvSpPr/>
          <p:nvPr/>
        </p:nvSpPr>
        <p:spPr>
          <a:xfrm>
            <a:off x="5852160" y="2880360"/>
            <a:ext cx="283464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EAF2"/>
                </a:solidFill>
                <a:latin typeface="Calibri" pitchFamily="34" charset="0"/>
                <a:ea typeface="Calibri" pitchFamily="34" charset="-122"/>
                <a:cs typeface="Calibri" pitchFamily="34" charset="-120"/>
              </a:rPr>
              <a:t>Coins that move together count as one bet.</a:t>
            </a:r>
            <a:endParaRPr lang="en-US" sz="1300" dirty="0"/>
          </a:p>
          <a:p>
            <a:pPr marL="342900" indent="-342900">
              <a:spcAft>
                <a:spcPts val="600"/>
              </a:spcAft>
              <a:buSzPct val="100000"/>
              <a:buChar char="•"/>
            </a:pPr>
            <a:r>
              <a:rPr lang="en-US" sz="1300" dirty="0">
                <a:solidFill>
                  <a:srgbClr val="E6EAF2"/>
                </a:solidFill>
                <a:latin typeface="Calibri" pitchFamily="34" charset="0"/>
                <a:ea typeface="Calibri" pitchFamily="34" charset="-122"/>
                <a:cs typeface="Calibri" pitchFamily="34" charset="-120"/>
              </a:rPr>
              <a:t>Adding more of the same kind adds almost nothing.</a:t>
            </a:r>
            <a:endParaRPr lang="en-US" sz="1300" dirty="0"/>
          </a:p>
          <a:p>
            <a:pPr marL="342900" indent="-342900">
              <a:spcAft>
                <a:spcPts val="600"/>
              </a:spcAft>
              <a:buSzPct val="100000"/>
              <a:buChar char="•"/>
            </a:pPr>
            <a:r>
              <a:rPr lang="en-US" sz="1300" dirty="0">
                <a:solidFill>
                  <a:srgbClr val="E6EAF2"/>
                </a:solidFill>
                <a:latin typeface="Calibri" pitchFamily="34" charset="0"/>
                <a:ea typeface="Calibri" pitchFamily="34" charset="-122"/>
                <a:cs typeface="Calibri" pitchFamily="34" charset="-120"/>
              </a:rPr>
              <a:t>GRAIL spreads money by how coins move, not by how many there are.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100" b="1" spc="300" kern="0" dirty="0">
                <a:solidFill>
                  <a:srgbClr val="E8B04B"/>
                </a:solidFill>
                <a:latin typeface="Calibri" pitchFamily="34" charset="0"/>
                <a:ea typeface="Calibri" pitchFamily="34" charset="-122"/>
                <a:cs typeface="Calibri" pitchFamily="34" charset="-120"/>
              </a:rPr>
              <a:t>THE PRODUCT</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t"/>
          <a:lstStyle/>
          <a:p>
            <a:pPr indent="0" marL="0">
              <a:buNone/>
            </a:pPr>
            <a:r>
              <a:rPr lang="en-US" sz="3000" b="1" dirty="0">
                <a:solidFill>
                  <a:srgbClr val="E6EAF2"/>
                </a:solidFill>
                <a:latin typeface="Cambria" pitchFamily="34" charset="0"/>
                <a:ea typeface="Cambria" pitchFamily="34" charset="-122"/>
                <a:cs typeface="Cambria" pitchFamily="34" charset="-120"/>
              </a:rPr>
              <a:t>What GRAIL does, in four steps</a:t>
            </a:r>
            <a:endParaRPr lang="en-US" sz="3000" dirty="0"/>
          </a:p>
        </p:txBody>
      </p:sp>
      <p:sp>
        <p:nvSpPr>
          <p:cNvPr id="4" name="Shape 2"/>
          <p:cNvSpPr/>
          <p:nvPr/>
        </p:nvSpPr>
        <p:spPr>
          <a:xfrm>
            <a:off x="457200" y="1371600"/>
            <a:ext cx="1874520" cy="2423160"/>
          </a:xfrm>
          <a:prstGeom prst="roundRect">
            <a:avLst>
              <a:gd name="adj" fmla="val 5854"/>
            </a:avLst>
          </a:prstGeom>
          <a:solidFill>
            <a:srgbClr val="121722"/>
          </a:solidFill>
          <a:ln w="9525">
            <a:solidFill>
              <a:srgbClr val="263043"/>
            </a:solidFill>
            <a:prstDash val="solid"/>
          </a:ln>
        </p:spPr>
      </p:sp>
      <p:sp>
        <p:nvSpPr>
          <p:cNvPr id="5" name="Shape 3"/>
          <p:cNvSpPr/>
          <p:nvPr/>
        </p:nvSpPr>
        <p:spPr>
          <a:xfrm>
            <a:off x="640080" y="1554480"/>
            <a:ext cx="457200" cy="457200"/>
          </a:xfrm>
          <a:prstGeom prst="ellipse">
            <a:avLst/>
          </a:prstGeom>
          <a:solidFill>
            <a:srgbClr val="0B0E14"/>
          </a:solidFill>
          <a:ln w="19050">
            <a:solidFill>
              <a:srgbClr val="E8B04B"/>
            </a:solidFill>
            <a:prstDash val="solid"/>
          </a:ln>
        </p:spPr>
      </p:sp>
      <p:sp>
        <p:nvSpPr>
          <p:cNvPr id="6" name="Text 4"/>
          <p:cNvSpPr/>
          <p:nvPr/>
        </p:nvSpPr>
        <p:spPr>
          <a:xfrm>
            <a:off x="640080" y="1554480"/>
            <a:ext cx="457200" cy="45720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40080" y="2148840"/>
            <a:ext cx="1554480" cy="365760"/>
          </a:xfrm>
          <a:prstGeom prst="rect">
            <a:avLst/>
          </a:prstGeom>
          <a:noFill/>
          <a:ln/>
        </p:spPr>
        <p:txBody>
          <a:bodyPr wrap="square" lIns="0" tIns="0" rIns="0" bIns="0" rtlCol="0" anchor="ctr"/>
          <a:lstStyle/>
          <a:p>
            <a:pPr indent="0" marL="0">
              <a:buNone/>
            </a:pPr>
            <a:r>
              <a:rPr lang="en-US" sz="2000" b="1" dirty="0">
                <a:solidFill>
                  <a:srgbClr val="E6EAF2"/>
                </a:solidFill>
                <a:latin typeface="Cambria" pitchFamily="34" charset="0"/>
                <a:ea typeface="Cambria" pitchFamily="34" charset="-122"/>
                <a:cs typeface="Cambria" pitchFamily="34" charset="-120"/>
              </a:rPr>
              <a:t>Look</a:t>
            </a:r>
            <a:endParaRPr lang="en-US" sz="2000" dirty="0"/>
          </a:p>
        </p:txBody>
      </p:sp>
      <p:sp>
        <p:nvSpPr>
          <p:cNvPr id="8" name="Text 6"/>
          <p:cNvSpPr/>
          <p:nvPr/>
        </p:nvSpPr>
        <p:spPr>
          <a:xfrm>
            <a:off x="640080" y="2560320"/>
            <a:ext cx="1554480" cy="1188720"/>
          </a:xfrm>
          <a:prstGeom prst="rect">
            <a:avLst/>
          </a:prstGeom>
          <a:noFill/>
          <a:ln/>
        </p:spPr>
        <p:txBody>
          <a:bodyPr wrap="square" lIns="0" tIns="0" rIns="0" bIns="0" rtlCol="0" anchor="t"/>
          <a:lstStyle/>
          <a:p>
            <a:pPr indent="0" marL="0">
              <a:buNone/>
            </a:pPr>
            <a:r>
              <a:rPr lang="en-US" sz="1200" dirty="0">
                <a:solidFill>
                  <a:srgbClr val="8A94A8"/>
                </a:solidFill>
                <a:latin typeface="Calibri" pitchFamily="34" charset="0"/>
                <a:ea typeface="Calibri" pitchFamily="34" charset="-122"/>
                <a:cs typeface="Calibri" pitchFamily="34" charset="-120"/>
              </a:rPr>
              <a:t>Reads prices, price history and the account balance from OKX TR with the OKX Agent Trade Kit.</a:t>
            </a:r>
            <a:endParaRPr lang="en-US" sz="1200" dirty="0"/>
          </a:p>
        </p:txBody>
      </p:sp>
      <p:sp>
        <p:nvSpPr>
          <p:cNvPr id="9" name="Shape 7"/>
          <p:cNvSpPr/>
          <p:nvPr/>
        </p:nvSpPr>
        <p:spPr>
          <a:xfrm>
            <a:off x="2560320" y="1371600"/>
            <a:ext cx="1874520" cy="2423160"/>
          </a:xfrm>
          <a:prstGeom prst="roundRect">
            <a:avLst>
              <a:gd name="adj" fmla="val 5854"/>
            </a:avLst>
          </a:prstGeom>
          <a:solidFill>
            <a:srgbClr val="121722"/>
          </a:solidFill>
          <a:ln w="9525">
            <a:solidFill>
              <a:srgbClr val="263043"/>
            </a:solidFill>
            <a:prstDash val="solid"/>
          </a:ln>
        </p:spPr>
      </p:sp>
      <p:sp>
        <p:nvSpPr>
          <p:cNvPr id="10" name="Shape 8"/>
          <p:cNvSpPr/>
          <p:nvPr/>
        </p:nvSpPr>
        <p:spPr>
          <a:xfrm>
            <a:off x="2743200" y="1554480"/>
            <a:ext cx="457200" cy="457200"/>
          </a:xfrm>
          <a:prstGeom prst="ellipse">
            <a:avLst/>
          </a:prstGeom>
          <a:solidFill>
            <a:srgbClr val="0B0E14"/>
          </a:solidFill>
          <a:ln w="19050">
            <a:solidFill>
              <a:srgbClr val="E8B04B"/>
            </a:solidFill>
            <a:prstDash val="solid"/>
          </a:ln>
        </p:spPr>
      </p:sp>
      <p:sp>
        <p:nvSpPr>
          <p:cNvPr id="11" name="Text 9"/>
          <p:cNvSpPr/>
          <p:nvPr/>
        </p:nvSpPr>
        <p:spPr>
          <a:xfrm>
            <a:off x="2743200" y="1554480"/>
            <a:ext cx="457200" cy="45720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2743200" y="2148840"/>
            <a:ext cx="1554480" cy="365760"/>
          </a:xfrm>
          <a:prstGeom prst="rect">
            <a:avLst/>
          </a:prstGeom>
          <a:noFill/>
          <a:ln/>
        </p:spPr>
        <p:txBody>
          <a:bodyPr wrap="square" lIns="0" tIns="0" rIns="0" bIns="0" rtlCol="0" anchor="ctr"/>
          <a:lstStyle/>
          <a:p>
            <a:pPr indent="0" marL="0">
              <a:buNone/>
            </a:pPr>
            <a:r>
              <a:rPr lang="en-US" sz="2000" b="1" dirty="0">
                <a:solidFill>
                  <a:srgbClr val="E6EAF2"/>
                </a:solidFill>
                <a:latin typeface="Cambria" pitchFamily="34" charset="0"/>
                <a:ea typeface="Cambria" pitchFamily="34" charset="-122"/>
                <a:cs typeface="Cambria" pitchFamily="34" charset="-120"/>
              </a:rPr>
              <a:t>Decide</a:t>
            </a:r>
            <a:endParaRPr lang="en-US" sz="2000" dirty="0"/>
          </a:p>
        </p:txBody>
      </p:sp>
      <p:sp>
        <p:nvSpPr>
          <p:cNvPr id="13" name="Text 11"/>
          <p:cNvSpPr/>
          <p:nvPr/>
        </p:nvSpPr>
        <p:spPr>
          <a:xfrm>
            <a:off x="2743200" y="2560320"/>
            <a:ext cx="1554480" cy="1188720"/>
          </a:xfrm>
          <a:prstGeom prst="rect">
            <a:avLst/>
          </a:prstGeom>
          <a:noFill/>
          <a:ln/>
        </p:spPr>
        <p:txBody>
          <a:bodyPr wrap="square" lIns="0" tIns="0" rIns="0" bIns="0" rtlCol="0" anchor="t"/>
          <a:lstStyle/>
          <a:p>
            <a:pPr indent="0" marL="0">
              <a:buNone/>
            </a:pPr>
            <a:r>
              <a:rPr lang="en-US" sz="1200" dirty="0">
                <a:solidFill>
                  <a:srgbClr val="8A94A8"/>
                </a:solidFill>
                <a:latin typeface="Calibri" pitchFamily="34" charset="0"/>
                <a:ea typeface="Calibri" pitchFamily="34" charset="-122"/>
                <a:cs typeface="Calibri" pitchFamily="34" charset="-120"/>
              </a:rPr>
              <a:t>Fixed math picks buy, sell or hold for every coin. Same data in, same decision out.</a:t>
            </a:r>
            <a:endParaRPr lang="en-US" sz="1200" dirty="0"/>
          </a:p>
        </p:txBody>
      </p:sp>
      <p:sp>
        <p:nvSpPr>
          <p:cNvPr id="14" name="Shape 12"/>
          <p:cNvSpPr/>
          <p:nvPr/>
        </p:nvSpPr>
        <p:spPr>
          <a:xfrm>
            <a:off x="4663440" y="1371600"/>
            <a:ext cx="1874520" cy="2423160"/>
          </a:xfrm>
          <a:prstGeom prst="roundRect">
            <a:avLst>
              <a:gd name="adj" fmla="val 5854"/>
            </a:avLst>
          </a:prstGeom>
          <a:solidFill>
            <a:srgbClr val="121722"/>
          </a:solidFill>
          <a:ln w="9525">
            <a:solidFill>
              <a:srgbClr val="263043"/>
            </a:solidFill>
            <a:prstDash val="solid"/>
          </a:ln>
        </p:spPr>
      </p:sp>
      <p:sp>
        <p:nvSpPr>
          <p:cNvPr id="15" name="Shape 13"/>
          <p:cNvSpPr/>
          <p:nvPr/>
        </p:nvSpPr>
        <p:spPr>
          <a:xfrm>
            <a:off x="4846320" y="1554480"/>
            <a:ext cx="457200" cy="457200"/>
          </a:xfrm>
          <a:prstGeom prst="ellipse">
            <a:avLst/>
          </a:prstGeom>
          <a:solidFill>
            <a:srgbClr val="0B0E14"/>
          </a:solidFill>
          <a:ln w="19050">
            <a:solidFill>
              <a:srgbClr val="8B9CFF"/>
            </a:solidFill>
            <a:prstDash val="solid"/>
          </a:ln>
        </p:spPr>
      </p:sp>
      <p:sp>
        <p:nvSpPr>
          <p:cNvPr id="16" name="Text 14"/>
          <p:cNvSpPr/>
          <p:nvPr/>
        </p:nvSpPr>
        <p:spPr>
          <a:xfrm>
            <a:off x="4846320" y="1554480"/>
            <a:ext cx="457200" cy="457200"/>
          </a:xfrm>
          <a:prstGeom prst="rect">
            <a:avLst/>
          </a:prstGeom>
          <a:noFill/>
          <a:ln/>
        </p:spPr>
        <p:txBody>
          <a:bodyPr wrap="square" lIns="0" tIns="0" rIns="0" bIns="0" rtlCol="0" anchor="ctr"/>
          <a:lstStyle/>
          <a:p>
            <a:pPr algn="ctr" indent="0" marL="0">
              <a:buNone/>
            </a:pPr>
            <a:r>
              <a:rPr lang="en-US" sz="1300" b="1" dirty="0">
                <a:solidFill>
                  <a:srgbClr val="8B9C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4846320" y="2148840"/>
            <a:ext cx="1554480" cy="365760"/>
          </a:xfrm>
          <a:prstGeom prst="rect">
            <a:avLst/>
          </a:prstGeom>
          <a:noFill/>
          <a:ln/>
        </p:spPr>
        <p:txBody>
          <a:bodyPr wrap="square" lIns="0" tIns="0" rIns="0" bIns="0" rtlCol="0" anchor="ctr"/>
          <a:lstStyle/>
          <a:p>
            <a:pPr indent="0" marL="0">
              <a:buNone/>
            </a:pPr>
            <a:r>
              <a:rPr lang="en-US" sz="2000" b="1" dirty="0">
                <a:solidFill>
                  <a:srgbClr val="E6EAF2"/>
                </a:solidFill>
                <a:latin typeface="Cambria" pitchFamily="34" charset="0"/>
                <a:ea typeface="Cambria" pitchFamily="34" charset="-122"/>
                <a:cs typeface="Cambria" pitchFamily="34" charset="-120"/>
              </a:rPr>
              <a:t>Seal</a:t>
            </a:r>
            <a:endParaRPr lang="en-US" sz="2000" dirty="0"/>
          </a:p>
        </p:txBody>
      </p:sp>
      <p:sp>
        <p:nvSpPr>
          <p:cNvPr id="18" name="Text 16"/>
          <p:cNvSpPr/>
          <p:nvPr/>
        </p:nvSpPr>
        <p:spPr>
          <a:xfrm>
            <a:off x="4846320" y="2560320"/>
            <a:ext cx="1554480" cy="1188720"/>
          </a:xfrm>
          <a:prstGeom prst="rect">
            <a:avLst/>
          </a:prstGeom>
          <a:noFill/>
          <a:ln/>
        </p:spPr>
        <p:txBody>
          <a:bodyPr wrap="square" lIns="0" tIns="0" rIns="0" bIns="0" rtlCol="0" anchor="t"/>
          <a:lstStyle/>
          <a:p>
            <a:pPr indent="0" marL="0">
              <a:buNone/>
            </a:pPr>
            <a:r>
              <a:rPr lang="en-US" sz="1200" dirty="0">
                <a:solidFill>
                  <a:srgbClr val="8A94A8"/>
                </a:solidFill>
                <a:latin typeface="Calibri" pitchFamily="34" charset="0"/>
                <a:ea typeface="Calibri" pitchFamily="34" charset="-122"/>
                <a:cs typeface="Calibri" pitchFamily="34" charset="-120"/>
              </a:rPr>
              <a:t>Locks the decision on Avalanche before any order is placed.</a:t>
            </a:r>
            <a:endParaRPr lang="en-US" sz="1200" dirty="0"/>
          </a:p>
        </p:txBody>
      </p:sp>
      <p:sp>
        <p:nvSpPr>
          <p:cNvPr id="19" name="Shape 17"/>
          <p:cNvSpPr/>
          <p:nvPr/>
        </p:nvSpPr>
        <p:spPr>
          <a:xfrm>
            <a:off x="6766560" y="1371600"/>
            <a:ext cx="1874520" cy="2423160"/>
          </a:xfrm>
          <a:prstGeom prst="roundRect">
            <a:avLst>
              <a:gd name="adj" fmla="val 5854"/>
            </a:avLst>
          </a:prstGeom>
          <a:solidFill>
            <a:srgbClr val="121722"/>
          </a:solidFill>
          <a:ln w="9525">
            <a:solidFill>
              <a:srgbClr val="263043"/>
            </a:solidFill>
            <a:prstDash val="solid"/>
          </a:ln>
        </p:spPr>
      </p:sp>
      <p:sp>
        <p:nvSpPr>
          <p:cNvPr id="20" name="Shape 18"/>
          <p:cNvSpPr/>
          <p:nvPr/>
        </p:nvSpPr>
        <p:spPr>
          <a:xfrm>
            <a:off x="6949440" y="1554480"/>
            <a:ext cx="457200" cy="457200"/>
          </a:xfrm>
          <a:prstGeom prst="ellipse">
            <a:avLst/>
          </a:prstGeom>
          <a:solidFill>
            <a:srgbClr val="0B0E14"/>
          </a:solidFill>
          <a:ln w="19050">
            <a:solidFill>
              <a:srgbClr val="E8B04B"/>
            </a:solidFill>
            <a:prstDash val="solid"/>
          </a:ln>
        </p:spPr>
      </p:sp>
      <p:sp>
        <p:nvSpPr>
          <p:cNvPr id="21" name="Text 19"/>
          <p:cNvSpPr/>
          <p:nvPr/>
        </p:nvSpPr>
        <p:spPr>
          <a:xfrm>
            <a:off x="6949440" y="1554480"/>
            <a:ext cx="457200" cy="45720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949440" y="2148840"/>
            <a:ext cx="1554480" cy="365760"/>
          </a:xfrm>
          <a:prstGeom prst="rect">
            <a:avLst/>
          </a:prstGeom>
          <a:noFill/>
          <a:ln/>
        </p:spPr>
        <p:txBody>
          <a:bodyPr wrap="square" lIns="0" tIns="0" rIns="0" bIns="0" rtlCol="0" anchor="ctr"/>
          <a:lstStyle/>
          <a:p>
            <a:pPr indent="0" marL="0">
              <a:buNone/>
            </a:pPr>
            <a:r>
              <a:rPr lang="en-US" sz="2000" b="1" dirty="0">
                <a:solidFill>
                  <a:srgbClr val="E6EAF2"/>
                </a:solidFill>
                <a:latin typeface="Cambria" pitchFamily="34" charset="0"/>
                <a:ea typeface="Cambria" pitchFamily="34" charset="-122"/>
                <a:cs typeface="Cambria" pitchFamily="34" charset="-120"/>
              </a:rPr>
              <a:t>Show</a:t>
            </a:r>
            <a:endParaRPr lang="en-US" sz="2000" dirty="0"/>
          </a:p>
        </p:txBody>
      </p:sp>
      <p:sp>
        <p:nvSpPr>
          <p:cNvPr id="23" name="Text 21"/>
          <p:cNvSpPr/>
          <p:nvPr/>
        </p:nvSpPr>
        <p:spPr>
          <a:xfrm>
            <a:off x="6949440" y="2560320"/>
            <a:ext cx="1554480" cy="1188720"/>
          </a:xfrm>
          <a:prstGeom prst="rect">
            <a:avLst/>
          </a:prstGeom>
          <a:noFill/>
          <a:ln/>
        </p:spPr>
        <p:txBody>
          <a:bodyPr wrap="square" lIns="0" tIns="0" rIns="0" bIns="0" rtlCol="0" anchor="t"/>
          <a:lstStyle/>
          <a:p>
            <a:pPr indent="0" marL="0">
              <a:buNone/>
            </a:pPr>
            <a:r>
              <a:rPr lang="en-US" sz="1200" dirty="0">
                <a:solidFill>
                  <a:srgbClr val="8A94A8"/>
                </a:solidFill>
                <a:latin typeface="Calibri" pitchFamily="34" charset="0"/>
                <a:ea typeface="Calibri" pitchFamily="34" charset="-122"/>
                <a:cs typeface="Calibri" pitchFamily="34" charset="-120"/>
              </a:rPr>
              <a:t>A dashboard where anyone can re-check every decision.</a:t>
            </a:r>
            <a:endParaRPr lang="en-US" sz="1200" dirty="0"/>
          </a:p>
        </p:txBody>
      </p:sp>
      <p:sp>
        <p:nvSpPr>
          <p:cNvPr id="24" name="Shape 22"/>
          <p:cNvSpPr/>
          <p:nvPr/>
        </p:nvSpPr>
        <p:spPr>
          <a:xfrm>
            <a:off x="457200" y="4023360"/>
            <a:ext cx="8183880" cy="640080"/>
          </a:xfrm>
          <a:prstGeom prst="roundRect">
            <a:avLst>
              <a:gd name="adj" fmla="val 17143"/>
            </a:avLst>
          </a:prstGeom>
          <a:solidFill>
            <a:srgbClr val="1A2130"/>
          </a:solidFill>
          <a:ln w="9525">
            <a:solidFill>
              <a:srgbClr val="263043"/>
            </a:solidFill>
            <a:prstDash val="solid"/>
          </a:ln>
        </p:spPr>
      </p:sp>
      <p:sp>
        <p:nvSpPr>
          <p:cNvPr id="25" name="Text 23"/>
          <p:cNvSpPr/>
          <p:nvPr/>
        </p:nvSpPr>
        <p:spPr>
          <a:xfrm>
            <a:off x="685800" y="4023360"/>
            <a:ext cx="7772400" cy="640080"/>
          </a:xfrm>
          <a:prstGeom prst="rect">
            <a:avLst/>
          </a:prstGeom>
          <a:noFill/>
          <a:ln/>
        </p:spPr>
        <p:txBody>
          <a:bodyPr wrap="square" lIns="0" tIns="0" rIns="0" bIns="0" rtlCol="0" anchor="ctr"/>
          <a:lstStyle/>
          <a:p>
            <a:pPr indent="0" marL="0">
              <a:buNone/>
            </a:pPr>
            <a:r>
              <a:rPr lang="en-US" sz="1400" b="1" dirty="0">
                <a:solidFill>
                  <a:srgbClr val="E8B04B"/>
                </a:solidFill>
                <a:latin typeface="Calibri" pitchFamily="34" charset="0"/>
                <a:ea typeface="Calibri" pitchFamily="34" charset="-122"/>
                <a:cs typeface="Calibri" pitchFamily="34" charset="-120"/>
              </a:rPr>
              <a:t>The AI can only say no. </a:t>
            </a:r>
            <a:pPr indent="0" marL="0">
              <a:buNone/>
            </a:pPr>
            <a:r>
              <a:rPr lang="en-US" sz="1400" dirty="0">
                <a:solidFill>
                  <a:srgbClr val="E6EAF2"/>
                </a:solidFill>
                <a:latin typeface="Calibri" pitchFamily="34" charset="0"/>
                <a:ea typeface="Calibri" pitchFamily="34" charset="-122"/>
                <a:cs typeface="Calibri" pitchFamily="34" charset="-120"/>
              </a:rPr>
              <a:t>An AI double-checks each buy: it can make it smaller or cancel it, never bigger.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100" b="1" spc="300" kern="0" dirty="0">
                <a:solidFill>
                  <a:srgbClr val="E8B04B"/>
                </a:solidFill>
                <a:latin typeface="Calibri" pitchFamily="34" charset="0"/>
                <a:ea typeface="Calibri" pitchFamily="34" charset="-122"/>
                <a:cs typeface="Calibri" pitchFamily="34" charset="-120"/>
              </a:rPr>
              <a:t>AUTONOMY</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t"/>
          <a:lstStyle/>
          <a:p>
            <a:pPr indent="0" marL="0">
              <a:buNone/>
            </a:pPr>
            <a:r>
              <a:rPr lang="en-US" sz="3000" b="1" dirty="0">
                <a:solidFill>
                  <a:srgbClr val="E6EAF2"/>
                </a:solidFill>
                <a:latin typeface="Cambria" pitchFamily="34" charset="0"/>
                <a:ea typeface="Cambria" pitchFamily="34" charset="-122"/>
                <a:cs typeface="Cambria" pitchFamily="34" charset="-120"/>
              </a:rPr>
              <a:t>It runs itself — every 90 seconds</a:t>
            </a:r>
            <a:endParaRPr lang="en-US" sz="3000" dirty="0"/>
          </a:p>
        </p:txBody>
      </p:sp>
      <p:sp>
        <p:nvSpPr>
          <p:cNvPr id="4" name="Shape 2"/>
          <p:cNvSpPr/>
          <p:nvPr/>
        </p:nvSpPr>
        <p:spPr>
          <a:xfrm>
            <a:off x="457200" y="1371600"/>
            <a:ext cx="3017520" cy="3246120"/>
          </a:xfrm>
          <a:prstGeom prst="roundRect">
            <a:avLst>
              <a:gd name="adj" fmla="val 3636"/>
            </a:avLst>
          </a:prstGeom>
          <a:solidFill>
            <a:srgbClr val="1A2130"/>
          </a:solidFill>
          <a:ln w="9525">
            <a:solidFill>
              <a:srgbClr val="263043"/>
            </a:solidFill>
            <a:prstDash val="solid"/>
          </a:ln>
        </p:spPr>
      </p:sp>
      <p:sp>
        <p:nvSpPr>
          <p:cNvPr id="5" name="Text 3"/>
          <p:cNvSpPr/>
          <p:nvPr/>
        </p:nvSpPr>
        <p:spPr>
          <a:xfrm>
            <a:off x="685800" y="1508760"/>
            <a:ext cx="2651760" cy="868680"/>
          </a:xfrm>
          <a:prstGeom prst="rect">
            <a:avLst/>
          </a:prstGeom>
          <a:noFill/>
          <a:ln/>
        </p:spPr>
        <p:txBody>
          <a:bodyPr wrap="square" lIns="0" tIns="0" rIns="0" bIns="0" rtlCol="0" anchor="ctr"/>
          <a:lstStyle/>
          <a:p>
            <a:pPr indent="0" marL="0">
              <a:buNone/>
            </a:pPr>
            <a:r>
              <a:rPr lang="en-US" sz="4800" b="1" dirty="0">
                <a:solidFill>
                  <a:srgbClr val="E8B04B"/>
                </a:solidFill>
                <a:latin typeface="Cambria" pitchFamily="34" charset="0"/>
                <a:ea typeface="Cambria" pitchFamily="34" charset="-122"/>
                <a:cs typeface="Cambria" pitchFamily="34" charset="-120"/>
              </a:rPr>
              <a:t>90 s</a:t>
            </a:r>
            <a:endParaRPr lang="en-US" sz="4800" dirty="0"/>
          </a:p>
        </p:txBody>
      </p:sp>
      <p:sp>
        <p:nvSpPr>
          <p:cNvPr id="6" name="Text 4"/>
          <p:cNvSpPr/>
          <p:nvPr/>
        </p:nvSpPr>
        <p:spPr>
          <a:xfrm>
            <a:off x="685800" y="2377440"/>
            <a:ext cx="2651760" cy="320040"/>
          </a:xfrm>
          <a:prstGeom prst="rect">
            <a:avLst/>
          </a:prstGeom>
          <a:noFill/>
          <a:ln/>
        </p:spPr>
        <p:txBody>
          <a:bodyPr wrap="square" lIns="0" tIns="0" rIns="0" bIns="0" rtlCol="0" anchor="ctr"/>
          <a:lstStyle/>
          <a:p>
            <a:pPr indent="0" marL="0">
              <a:buNone/>
            </a:pPr>
            <a:r>
              <a:rPr lang="en-US" sz="1300" dirty="0">
                <a:solidFill>
                  <a:srgbClr val="8A94A8"/>
                </a:solidFill>
                <a:latin typeface="Calibri" pitchFamily="34" charset="0"/>
                <a:ea typeface="Calibri" pitchFamily="34" charset="-122"/>
                <a:cs typeface="Calibri" pitchFamily="34" charset="-120"/>
              </a:rPr>
              <a:t>one full cycle, no human click</a:t>
            </a:r>
            <a:endParaRPr lang="en-US" sz="1300" dirty="0"/>
          </a:p>
        </p:txBody>
      </p:sp>
      <p:sp>
        <p:nvSpPr>
          <p:cNvPr id="7" name="Text 5"/>
          <p:cNvSpPr/>
          <p:nvPr/>
        </p:nvSpPr>
        <p:spPr>
          <a:xfrm>
            <a:off x="685800" y="2880360"/>
            <a:ext cx="2651760" cy="548640"/>
          </a:xfrm>
          <a:prstGeom prst="rect">
            <a:avLst/>
          </a:prstGeom>
          <a:noFill/>
          <a:ln/>
        </p:spPr>
        <p:txBody>
          <a:bodyPr wrap="square" lIns="0" tIns="0" rIns="0" bIns="0" rtlCol="0" anchor="ctr"/>
          <a:lstStyle/>
          <a:p>
            <a:pPr indent="0" marL="0">
              <a:buNone/>
            </a:pPr>
            <a:r>
              <a:rPr lang="en-US" sz="2800" b="1" dirty="0">
                <a:solidFill>
                  <a:srgbClr val="E6EAF2"/>
                </a:solidFill>
                <a:latin typeface="Cambria" pitchFamily="34" charset="0"/>
                <a:ea typeface="Cambria" pitchFamily="34" charset="-122"/>
                <a:cs typeface="Cambria" pitchFamily="34" charset="-120"/>
              </a:rPr>
              <a:t>&lt;TBD&gt;</a:t>
            </a:r>
            <a:endParaRPr lang="en-US" sz="2800" dirty="0"/>
          </a:p>
        </p:txBody>
      </p:sp>
      <p:sp>
        <p:nvSpPr>
          <p:cNvPr id="8" name="Text 6"/>
          <p:cNvSpPr/>
          <p:nvPr/>
        </p:nvSpPr>
        <p:spPr>
          <a:xfrm>
            <a:off x="685800" y="3429000"/>
            <a:ext cx="2651760" cy="320040"/>
          </a:xfrm>
          <a:prstGeom prst="rect">
            <a:avLst/>
          </a:prstGeom>
          <a:noFill/>
          <a:ln/>
        </p:spPr>
        <p:txBody>
          <a:bodyPr wrap="square" lIns="0" tIns="0" rIns="0" bIns="0" rtlCol="0" anchor="ctr"/>
          <a:lstStyle/>
          <a:p>
            <a:pPr indent="0" marL="0">
              <a:buNone/>
            </a:pPr>
            <a:r>
              <a:rPr lang="en-US" sz="1300" dirty="0">
                <a:solidFill>
                  <a:srgbClr val="8A94A8"/>
                </a:solidFill>
                <a:latin typeface="Calibri" pitchFamily="34" charset="0"/>
                <a:ea typeface="Calibri" pitchFamily="34" charset="-122"/>
                <a:cs typeface="Calibri" pitchFamily="34" charset="-120"/>
              </a:rPr>
              <a:t>cycles run today, each one sealed</a:t>
            </a:r>
            <a:endParaRPr lang="en-US" sz="1300" dirty="0"/>
          </a:p>
        </p:txBody>
      </p:sp>
      <p:sp>
        <p:nvSpPr>
          <p:cNvPr id="9" name="Text 7"/>
          <p:cNvSpPr/>
          <p:nvPr/>
        </p:nvSpPr>
        <p:spPr>
          <a:xfrm>
            <a:off x="685800" y="3840480"/>
            <a:ext cx="2651760" cy="640080"/>
          </a:xfrm>
          <a:prstGeom prst="rect">
            <a:avLst/>
          </a:prstGeom>
          <a:noFill/>
          <a:ln/>
        </p:spPr>
        <p:txBody>
          <a:bodyPr wrap="square" lIns="0" tIns="0" rIns="0" bIns="0" rtlCol="0" anchor="t"/>
          <a:lstStyle/>
          <a:p>
            <a:pPr indent="0" marL="0">
              <a:buNone/>
            </a:pPr>
            <a:r>
              <a:rPr lang="en-US" sz="1200" i="1" dirty="0">
                <a:solidFill>
                  <a:srgbClr val="E6EAF2"/>
                </a:solidFill>
                <a:latin typeface="Calibri" pitchFamily="34" charset="0"/>
                <a:ea typeface="Calibri" pitchFamily="34" charset="-122"/>
                <a:cs typeface="Calibri" pitchFamily="34" charset="-120"/>
              </a:rPr>
              <a:t>You set the rules once. There is no "approve" button per trade.</a:t>
            </a:r>
            <a:endParaRPr lang="en-US" sz="1200" dirty="0"/>
          </a:p>
        </p:txBody>
      </p:sp>
      <p:sp>
        <p:nvSpPr>
          <p:cNvPr id="10" name="Shape 8"/>
          <p:cNvSpPr/>
          <p:nvPr/>
        </p:nvSpPr>
        <p:spPr>
          <a:xfrm>
            <a:off x="3840480" y="1371600"/>
            <a:ext cx="365760" cy="365760"/>
          </a:xfrm>
          <a:prstGeom prst="ellipse">
            <a:avLst/>
          </a:prstGeom>
          <a:solidFill>
            <a:srgbClr val="0B0E14"/>
          </a:solidFill>
          <a:ln w="19050">
            <a:solidFill>
              <a:srgbClr val="E8B04B"/>
            </a:solidFill>
            <a:prstDash val="solid"/>
          </a:ln>
        </p:spPr>
      </p:sp>
      <p:sp>
        <p:nvSpPr>
          <p:cNvPr id="11" name="Text 9"/>
          <p:cNvSpPr/>
          <p:nvPr/>
        </p:nvSpPr>
        <p:spPr>
          <a:xfrm>
            <a:off x="3840480" y="1371600"/>
            <a:ext cx="365760" cy="36576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4389120" y="1371600"/>
            <a:ext cx="3108960" cy="365760"/>
          </a:xfrm>
          <a:prstGeom prst="rect">
            <a:avLst/>
          </a:prstGeom>
          <a:noFill/>
          <a:ln/>
        </p:spPr>
        <p:txBody>
          <a:bodyPr wrap="square" lIns="0" tIns="0" rIns="0" bIns="0" rtlCol="0" anchor="ctr"/>
          <a:lstStyle/>
          <a:p>
            <a:pPr indent="0" marL="0">
              <a:buNone/>
            </a:pPr>
            <a:r>
              <a:rPr lang="en-US" sz="1400" dirty="0">
                <a:solidFill>
                  <a:srgbClr val="E6EAF2"/>
                </a:solidFill>
                <a:latin typeface="Calibri" pitchFamily="34" charset="0"/>
                <a:ea typeface="Calibri" pitchFamily="34" charset="-122"/>
                <a:cs typeface="Calibri" pitchFamily="34" charset="-120"/>
              </a:rPr>
              <a:t>Read the market</a:t>
            </a:r>
            <a:endParaRPr lang="en-US" sz="1400" dirty="0"/>
          </a:p>
        </p:txBody>
      </p:sp>
      <p:sp>
        <p:nvSpPr>
          <p:cNvPr id="13" name="Text 11"/>
          <p:cNvSpPr/>
          <p:nvPr/>
        </p:nvSpPr>
        <p:spPr>
          <a:xfrm>
            <a:off x="7498080" y="1371600"/>
            <a:ext cx="1188720" cy="365760"/>
          </a:xfrm>
          <a:prstGeom prst="rect">
            <a:avLst/>
          </a:prstGeom>
          <a:noFill/>
          <a:ln/>
        </p:spPr>
        <p:txBody>
          <a:bodyPr wrap="square" lIns="0" tIns="0" rIns="0" bIns="0" rtlCol="0" anchor="ctr"/>
          <a:lstStyle/>
          <a:p>
            <a:pPr algn="r" indent="0" marL="0">
              <a:buNone/>
            </a:pPr>
            <a:r>
              <a:rPr lang="en-US" sz="1100" dirty="0">
                <a:solidFill>
                  <a:srgbClr val="8A94A8"/>
                </a:solidFill>
                <a:latin typeface="Calibri" pitchFamily="34" charset="0"/>
                <a:ea typeface="Calibri" pitchFamily="34" charset="-122"/>
                <a:cs typeface="Calibri" pitchFamily="34" charset="-120"/>
              </a:rPr>
              <a:t>OKX</a:t>
            </a:r>
            <a:endParaRPr lang="en-US" sz="1100" dirty="0"/>
          </a:p>
        </p:txBody>
      </p:sp>
      <p:sp>
        <p:nvSpPr>
          <p:cNvPr id="14" name="Shape 12"/>
          <p:cNvSpPr/>
          <p:nvPr/>
        </p:nvSpPr>
        <p:spPr>
          <a:xfrm>
            <a:off x="3840480" y="1837944"/>
            <a:ext cx="365760" cy="365760"/>
          </a:xfrm>
          <a:prstGeom prst="ellipse">
            <a:avLst/>
          </a:prstGeom>
          <a:solidFill>
            <a:srgbClr val="0B0E14"/>
          </a:solidFill>
          <a:ln w="19050">
            <a:solidFill>
              <a:srgbClr val="E8B04B"/>
            </a:solidFill>
            <a:prstDash val="solid"/>
          </a:ln>
        </p:spPr>
      </p:sp>
      <p:sp>
        <p:nvSpPr>
          <p:cNvPr id="15" name="Text 13"/>
          <p:cNvSpPr/>
          <p:nvPr/>
        </p:nvSpPr>
        <p:spPr>
          <a:xfrm>
            <a:off x="3840480" y="1837944"/>
            <a:ext cx="365760" cy="36576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4389120" y="1837944"/>
            <a:ext cx="3108960" cy="365760"/>
          </a:xfrm>
          <a:prstGeom prst="rect">
            <a:avLst/>
          </a:prstGeom>
          <a:noFill/>
          <a:ln/>
        </p:spPr>
        <p:txBody>
          <a:bodyPr wrap="square" lIns="0" tIns="0" rIns="0" bIns="0" rtlCol="0" anchor="ctr"/>
          <a:lstStyle/>
          <a:p>
            <a:pPr indent="0" marL="0">
              <a:buNone/>
            </a:pPr>
            <a:r>
              <a:rPr lang="en-US" sz="1400" dirty="0">
                <a:solidFill>
                  <a:srgbClr val="E6EAF2"/>
                </a:solidFill>
                <a:latin typeface="Calibri" pitchFamily="34" charset="0"/>
                <a:ea typeface="Calibri" pitchFamily="34" charset="-122"/>
                <a:cs typeface="Calibri" pitchFamily="34" charset="-120"/>
              </a:rPr>
              <a:t>Decide for each coin</a:t>
            </a:r>
            <a:endParaRPr lang="en-US" sz="1400" dirty="0"/>
          </a:p>
        </p:txBody>
      </p:sp>
      <p:sp>
        <p:nvSpPr>
          <p:cNvPr id="17" name="Text 15"/>
          <p:cNvSpPr/>
          <p:nvPr/>
        </p:nvSpPr>
        <p:spPr>
          <a:xfrm>
            <a:off x="7498080" y="1837944"/>
            <a:ext cx="1188720" cy="365760"/>
          </a:xfrm>
          <a:prstGeom prst="rect">
            <a:avLst/>
          </a:prstGeom>
          <a:noFill/>
          <a:ln/>
        </p:spPr>
        <p:txBody>
          <a:bodyPr wrap="square" lIns="0" tIns="0" rIns="0" bIns="0" rtlCol="0" anchor="ctr"/>
          <a:lstStyle/>
          <a:p>
            <a:pPr algn="r" indent="0" marL="0">
              <a:buNone/>
            </a:pPr>
            <a:r>
              <a:rPr lang="en-US" sz="1100" dirty="0">
                <a:solidFill>
                  <a:srgbClr val="8A94A8"/>
                </a:solidFill>
                <a:latin typeface="Calibri" pitchFamily="34" charset="0"/>
                <a:ea typeface="Calibri" pitchFamily="34" charset="-122"/>
                <a:cs typeface="Calibri" pitchFamily="34" charset="-120"/>
              </a:rPr>
              <a:t>math</a:t>
            </a:r>
            <a:endParaRPr lang="en-US" sz="1100" dirty="0"/>
          </a:p>
        </p:txBody>
      </p:sp>
      <p:sp>
        <p:nvSpPr>
          <p:cNvPr id="18" name="Shape 16"/>
          <p:cNvSpPr/>
          <p:nvPr/>
        </p:nvSpPr>
        <p:spPr>
          <a:xfrm>
            <a:off x="3840480" y="2304288"/>
            <a:ext cx="365760" cy="365760"/>
          </a:xfrm>
          <a:prstGeom prst="ellipse">
            <a:avLst/>
          </a:prstGeom>
          <a:solidFill>
            <a:srgbClr val="0B0E14"/>
          </a:solidFill>
          <a:ln w="19050">
            <a:solidFill>
              <a:srgbClr val="E8B04B"/>
            </a:solidFill>
            <a:prstDash val="solid"/>
          </a:ln>
        </p:spPr>
      </p:sp>
      <p:sp>
        <p:nvSpPr>
          <p:cNvPr id="19" name="Text 17"/>
          <p:cNvSpPr/>
          <p:nvPr/>
        </p:nvSpPr>
        <p:spPr>
          <a:xfrm>
            <a:off x="3840480" y="2304288"/>
            <a:ext cx="365760" cy="36576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4389120" y="2304288"/>
            <a:ext cx="3108960" cy="365760"/>
          </a:xfrm>
          <a:prstGeom prst="rect">
            <a:avLst/>
          </a:prstGeom>
          <a:noFill/>
          <a:ln/>
        </p:spPr>
        <p:txBody>
          <a:bodyPr wrap="square" lIns="0" tIns="0" rIns="0" bIns="0" rtlCol="0" anchor="ctr"/>
          <a:lstStyle/>
          <a:p>
            <a:pPr indent="0" marL="0">
              <a:buNone/>
            </a:pPr>
            <a:r>
              <a:rPr lang="en-US" sz="1400" dirty="0">
                <a:solidFill>
                  <a:srgbClr val="E6EAF2"/>
                </a:solidFill>
                <a:latin typeface="Calibri" pitchFamily="34" charset="0"/>
                <a:ea typeface="Calibri" pitchFamily="34" charset="-122"/>
                <a:cs typeface="Calibri" pitchFamily="34" charset="-120"/>
              </a:rPr>
              <a:t>AI double-check (can only cut)</a:t>
            </a:r>
            <a:endParaRPr lang="en-US" sz="1400" dirty="0"/>
          </a:p>
        </p:txBody>
      </p:sp>
      <p:sp>
        <p:nvSpPr>
          <p:cNvPr id="21" name="Text 19"/>
          <p:cNvSpPr/>
          <p:nvPr/>
        </p:nvSpPr>
        <p:spPr>
          <a:xfrm>
            <a:off x="7498080" y="2304288"/>
            <a:ext cx="1188720" cy="365760"/>
          </a:xfrm>
          <a:prstGeom prst="rect">
            <a:avLst/>
          </a:prstGeom>
          <a:noFill/>
          <a:ln/>
        </p:spPr>
        <p:txBody>
          <a:bodyPr wrap="square" lIns="0" tIns="0" rIns="0" bIns="0" rtlCol="0" anchor="ctr"/>
          <a:lstStyle/>
          <a:p>
            <a:pPr algn="r" indent="0" marL="0">
              <a:buNone/>
            </a:pPr>
            <a:r>
              <a:rPr lang="en-US" sz="1100" dirty="0">
                <a:solidFill>
                  <a:srgbClr val="8A94A8"/>
                </a:solidFill>
                <a:latin typeface="Calibri" pitchFamily="34" charset="0"/>
                <a:ea typeface="Calibri" pitchFamily="34" charset="-122"/>
                <a:cs typeface="Calibri" pitchFamily="34" charset="-120"/>
              </a:rPr>
              <a:t>AI</a:t>
            </a:r>
            <a:endParaRPr lang="en-US" sz="1100" dirty="0"/>
          </a:p>
        </p:txBody>
      </p:sp>
      <p:sp>
        <p:nvSpPr>
          <p:cNvPr id="22" name="Shape 20"/>
          <p:cNvSpPr/>
          <p:nvPr/>
        </p:nvSpPr>
        <p:spPr>
          <a:xfrm>
            <a:off x="3840480" y="2770632"/>
            <a:ext cx="365760" cy="365760"/>
          </a:xfrm>
          <a:prstGeom prst="ellipse">
            <a:avLst/>
          </a:prstGeom>
          <a:solidFill>
            <a:srgbClr val="0B0E14"/>
          </a:solidFill>
          <a:ln w="19050">
            <a:solidFill>
              <a:srgbClr val="8B9CFF"/>
            </a:solidFill>
            <a:prstDash val="solid"/>
          </a:ln>
        </p:spPr>
      </p:sp>
      <p:sp>
        <p:nvSpPr>
          <p:cNvPr id="23" name="Text 21"/>
          <p:cNvSpPr/>
          <p:nvPr/>
        </p:nvSpPr>
        <p:spPr>
          <a:xfrm>
            <a:off x="3840480" y="2770632"/>
            <a:ext cx="365760" cy="365760"/>
          </a:xfrm>
          <a:prstGeom prst="rect">
            <a:avLst/>
          </a:prstGeom>
          <a:noFill/>
          <a:ln/>
        </p:spPr>
        <p:txBody>
          <a:bodyPr wrap="square" lIns="0" tIns="0" rIns="0" bIns="0" rtlCol="0" anchor="ctr"/>
          <a:lstStyle/>
          <a:p>
            <a:pPr algn="ctr" indent="0" marL="0">
              <a:buNone/>
            </a:pPr>
            <a:r>
              <a:rPr lang="en-US" sz="1300" b="1" dirty="0">
                <a:solidFill>
                  <a:srgbClr val="8B9C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4389120" y="2770632"/>
            <a:ext cx="3108960" cy="365760"/>
          </a:xfrm>
          <a:prstGeom prst="rect">
            <a:avLst/>
          </a:prstGeom>
          <a:noFill/>
          <a:ln/>
        </p:spPr>
        <p:txBody>
          <a:bodyPr wrap="square" lIns="0" tIns="0" rIns="0" bIns="0" rtlCol="0" anchor="ctr"/>
          <a:lstStyle/>
          <a:p>
            <a:pPr indent="0" marL="0">
              <a:buNone/>
            </a:pPr>
            <a:r>
              <a:rPr lang="en-US" sz="1400" b="1" dirty="0">
                <a:solidFill>
                  <a:srgbClr val="E6EAF2"/>
                </a:solidFill>
                <a:latin typeface="Calibri" pitchFamily="34" charset="0"/>
                <a:ea typeface="Calibri" pitchFamily="34" charset="-122"/>
                <a:cs typeface="Calibri" pitchFamily="34" charset="-120"/>
              </a:rPr>
              <a:t>Seal the decision</a:t>
            </a:r>
            <a:endParaRPr lang="en-US" sz="1400" dirty="0"/>
          </a:p>
        </p:txBody>
      </p:sp>
      <p:sp>
        <p:nvSpPr>
          <p:cNvPr id="25" name="Text 23"/>
          <p:cNvSpPr/>
          <p:nvPr/>
        </p:nvSpPr>
        <p:spPr>
          <a:xfrm>
            <a:off x="7498080" y="2770632"/>
            <a:ext cx="1188720" cy="365760"/>
          </a:xfrm>
          <a:prstGeom prst="rect">
            <a:avLst/>
          </a:prstGeom>
          <a:noFill/>
          <a:ln/>
        </p:spPr>
        <p:txBody>
          <a:bodyPr wrap="square" lIns="0" tIns="0" rIns="0" bIns="0" rtlCol="0" anchor="ctr"/>
          <a:lstStyle/>
          <a:p>
            <a:pPr algn="r" indent="0" marL="0">
              <a:buNone/>
            </a:pPr>
            <a:r>
              <a:rPr lang="en-US" sz="1100" dirty="0">
                <a:solidFill>
                  <a:srgbClr val="8B9CFF"/>
                </a:solidFill>
                <a:latin typeface="Calibri" pitchFamily="34" charset="0"/>
                <a:ea typeface="Calibri" pitchFamily="34" charset="-122"/>
                <a:cs typeface="Calibri" pitchFamily="34" charset="-120"/>
              </a:rPr>
              <a:t>Avalanche</a:t>
            </a:r>
            <a:endParaRPr lang="en-US" sz="1100" dirty="0"/>
          </a:p>
        </p:txBody>
      </p:sp>
      <p:sp>
        <p:nvSpPr>
          <p:cNvPr id="26" name="Shape 24"/>
          <p:cNvSpPr/>
          <p:nvPr/>
        </p:nvSpPr>
        <p:spPr>
          <a:xfrm>
            <a:off x="3840480" y="3236976"/>
            <a:ext cx="365760" cy="365760"/>
          </a:xfrm>
          <a:prstGeom prst="ellipse">
            <a:avLst/>
          </a:prstGeom>
          <a:solidFill>
            <a:srgbClr val="0B0E14"/>
          </a:solidFill>
          <a:ln w="19050">
            <a:solidFill>
              <a:srgbClr val="E8B04B"/>
            </a:solidFill>
            <a:prstDash val="solid"/>
          </a:ln>
        </p:spPr>
      </p:sp>
      <p:sp>
        <p:nvSpPr>
          <p:cNvPr id="27" name="Text 25"/>
          <p:cNvSpPr/>
          <p:nvPr/>
        </p:nvSpPr>
        <p:spPr>
          <a:xfrm>
            <a:off x="3840480" y="3236976"/>
            <a:ext cx="365760" cy="36576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4389120" y="3236976"/>
            <a:ext cx="3108960" cy="365760"/>
          </a:xfrm>
          <a:prstGeom prst="rect">
            <a:avLst/>
          </a:prstGeom>
          <a:noFill/>
          <a:ln/>
        </p:spPr>
        <p:txBody>
          <a:bodyPr wrap="square" lIns="0" tIns="0" rIns="0" bIns="0" rtlCol="0" anchor="ctr"/>
          <a:lstStyle/>
          <a:p>
            <a:pPr indent="0" marL="0">
              <a:buNone/>
            </a:pPr>
            <a:r>
              <a:rPr lang="en-US" sz="1400" dirty="0">
                <a:solidFill>
                  <a:srgbClr val="E6EAF2"/>
                </a:solidFill>
                <a:latin typeface="Calibri" pitchFamily="34" charset="0"/>
                <a:ea typeface="Calibri" pitchFamily="34" charset="-122"/>
                <a:cs typeface="Calibri" pitchFamily="34" charset="-120"/>
              </a:rPr>
              <a:t>Place the order</a:t>
            </a:r>
            <a:endParaRPr lang="en-US" sz="1400" dirty="0"/>
          </a:p>
        </p:txBody>
      </p:sp>
      <p:sp>
        <p:nvSpPr>
          <p:cNvPr id="29" name="Text 27"/>
          <p:cNvSpPr/>
          <p:nvPr/>
        </p:nvSpPr>
        <p:spPr>
          <a:xfrm>
            <a:off x="7498080" y="3236976"/>
            <a:ext cx="1188720" cy="365760"/>
          </a:xfrm>
          <a:prstGeom prst="rect">
            <a:avLst/>
          </a:prstGeom>
          <a:noFill/>
          <a:ln/>
        </p:spPr>
        <p:txBody>
          <a:bodyPr wrap="square" lIns="0" tIns="0" rIns="0" bIns="0" rtlCol="0" anchor="ctr"/>
          <a:lstStyle/>
          <a:p>
            <a:pPr algn="r" indent="0" marL="0">
              <a:buNone/>
            </a:pPr>
            <a:r>
              <a:rPr lang="en-US" sz="1100" dirty="0">
                <a:solidFill>
                  <a:srgbClr val="8A94A8"/>
                </a:solidFill>
                <a:latin typeface="Calibri" pitchFamily="34" charset="0"/>
                <a:ea typeface="Calibri" pitchFamily="34" charset="-122"/>
                <a:cs typeface="Calibri" pitchFamily="34" charset="-120"/>
              </a:rPr>
              <a:t>OKX</a:t>
            </a:r>
            <a:endParaRPr lang="en-US" sz="1100" dirty="0"/>
          </a:p>
        </p:txBody>
      </p:sp>
      <p:sp>
        <p:nvSpPr>
          <p:cNvPr id="30" name="Shape 28"/>
          <p:cNvSpPr/>
          <p:nvPr/>
        </p:nvSpPr>
        <p:spPr>
          <a:xfrm>
            <a:off x="3840480" y="3703320"/>
            <a:ext cx="365760" cy="365760"/>
          </a:xfrm>
          <a:prstGeom prst="ellipse">
            <a:avLst/>
          </a:prstGeom>
          <a:solidFill>
            <a:srgbClr val="0B0E14"/>
          </a:solidFill>
          <a:ln w="19050">
            <a:solidFill>
              <a:srgbClr val="8B9CFF"/>
            </a:solidFill>
            <a:prstDash val="solid"/>
          </a:ln>
        </p:spPr>
      </p:sp>
      <p:sp>
        <p:nvSpPr>
          <p:cNvPr id="31" name="Text 29"/>
          <p:cNvSpPr/>
          <p:nvPr/>
        </p:nvSpPr>
        <p:spPr>
          <a:xfrm>
            <a:off x="3840480" y="3703320"/>
            <a:ext cx="365760" cy="365760"/>
          </a:xfrm>
          <a:prstGeom prst="rect">
            <a:avLst/>
          </a:prstGeom>
          <a:noFill/>
          <a:ln/>
        </p:spPr>
        <p:txBody>
          <a:bodyPr wrap="square" lIns="0" tIns="0" rIns="0" bIns="0" rtlCol="0" anchor="ctr"/>
          <a:lstStyle/>
          <a:p>
            <a:pPr algn="ctr" indent="0" marL="0">
              <a:buNone/>
            </a:pPr>
            <a:r>
              <a:rPr lang="en-US" sz="1300" b="1" dirty="0">
                <a:solidFill>
                  <a:srgbClr val="8B9C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4389120" y="3703320"/>
            <a:ext cx="3108960" cy="365760"/>
          </a:xfrm>
          <a:prstGeom prst="rect">
            <a:avLst/>
          </a:prstGeom>
          <a:noFill/>
          <a:ln/>
        </p:spPr>
        <p:txBody>
          <a:bodyPr wrap="square" lIns="0" tIns="0" rIns="0" bIns="0" rtlCol="0" anchor="ctr"/>
          <a:lstStyle/>
          <a:p>
            <a:pPr indent="0" marL="0">
              <a:buNone/>
            </a:pPr>
            <a:r>
              <a:rPr lang="en-US" sz="1400" b="1" dirty="0">
                <a:solidFill>
                  <a:srgbClr val="E6EAF2"/>
                </a:solidFill>
                <a:latin typeface="Calibri" pitchFamily="34" charset="0"/>
                <a:ea typeface="Calibri" pitchFamily="34" charset="-122"/>
                <a:cs typeface="Calibri" pitchFamily="34" charset="-120"/>
              </a:rPr>
              <a:t>Open the envelope</a:t>
            </a:r>
            <a:endParaRPr lang="en-US" sz="1400" dirty="0"/>
          </a:p>
        </p:txBody>
      </p:sp>
      <p:sp>
        <p:nvSpPr>
          <p:cNvPr id="33" name="Text 31"/>
          <p:cNvSpPr/>
          <p:nvPr/>
        </p:nvSpPr>
        <p:spPr>
          <a:xfrm>
            <a:off x="7498080" y="3703320"/>
            <a:ext cx="1188720" cy="365760"/>
          </a:xfrm>
          <a:prstGeom prst="rect">
            <a:avLst/>
          </a:prstGeom>
          <a:noFill/>
          <a:ln/>
        </p:spPr>
        <p:txBody>
          <a:bodyPr wrap="square" lIns="0" tIns="0" rIns="0" bIns="0" rtlCol="0" anchor="ctr"/>
          <a:lstStyle/>
          <a:p>
            <a:pPr algn="r" indent="0" marL="0">
              <a:buNone/>
            </a:pPr>
            <a:r>
              <a:rPr lang="en-US" sz="1100" dirty="0">
                <a:solidFill>
                  <a:srgbClr val="8B9CFF"/>
                </a:solidFill>
                <a:latin typeface="Calibri" pitchFamily="34" charset="0"/>
                <a:ea typeface="Calibri" pitchFamily="34" charset="-122"/>
                <a:cs typeface="Calibri" pitchFamily="34" charset="-120"/>
              </a:rPr>
              <a:t>Avalanche</a:t>
            </a:r>
            <a:endParaRPr lang="en-US" sz="1100" dirty="0"/>
          </a:p>
        </p:txBody>
      </p:sp>
      <p:sp>
        <p:nvSpPr>
          <p:cNvPr id="34" name="Shape 32"/>
          <p:cNvSpPr/>
          <p:nvPr/>
        </p:nvSpPr>
        <p:spPr>
          <a:xfrm>
            <a:off x="3840480" y="4169664"/>
            <a:ext cx="365760" cy="365760"/>
          </a:xfrm>
          <a:prstGeom prst="ellipse">
            <a:avLst/>
          </a:prstGeom>
          <a:solidFill>
            <a:srgbClr val="0B0E14"/>
          </a:solidFill>
          <a:ln w="19050">
            <a:solidFill>
              <a:srgbClr val="E8B04B"/>
            </a:solidFill>
            <a:prstDash val="solid"/>
          </a:ln>
        </p:spPr>
      </p:sp>
      <p:sp>
        <p:nvSpPr>
          <p:cNvPr id="35" name="Text 33"/>
          <p:cNvSpPr/>
          <p:nvPr/>
        </p:nvSpPr>
        <p:spPr>
          <a:xfrm>
            <a:off x="3840480" y="4169664"/>
            <a:ext cx="365760" cy="36576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7</a:t>
            </a:r>
            <a:endParaRPr lang="en-US" sz="1300" dirty="0"/>
          </a:p>
        </p:txBody>
      </p:sp>
      <p:sp>
        <p:nvSpPr>
          <p:cNvPr id="36" name="Text 34"/>
          <p:cNvSpPr/>
          <p:nvPr/>
        </p:nvSpPr>
        <p:spPr>
          <a:xfrm>
            <a:off x="4389120" y="4169664"/>
            <a:ext cx="3108960" cy="365760"/>
          </a:xfrm>
          <a:prstGeom prst="rect">
            <a:avLst/>
          </a:prstGeom>
          <a:noFill/>
          <a:ln/>
        </p:spPr>
        <p:txBody>
          <a:bodyPr wrap="square" lIns="0" tIns="0" rIns="0" bIns="0" rtlCol="0" anchor="ctr"/>
          <a:lstStyle/>
          <a:p>
            <a:pPr indent="0" marL="0">
              <a:buNone/>
            </a:pPr>
            <a:r>
              <a:rPr lang="en-US" sz="1400" dirty="0">
                <a:solidFill>
                  <a:srgbClr val="E6EAF2"/>
                </a:solidFill>
                <a:latin typeface="Calibri" pitchFamily="34" charset="0"/>
                <a:ea typeface="Calibri" pitchFamily="34" charset="-122"/>
                <a:cs typeface="Calibri" pitchFamily="34" charset="-120"/>
              </a:rPr>
              <a:t>Update the dashboard, repeat</a:t>
            </a:r>
            <a:endParaRPr lang="en-US" sz="1400" dirty="0"/>
          </a:p>
        </p:txBody>
      </p:sp>
      <p:sp>
        <p:nvSpPr>
          <p:cNvPr id="37" name="Text 35"/>
          <p:cNvSpPr/>
          <p:nvPr/>
        </p:nvSpPr>
        <p:spPr>
          <a:xfrm>
            <a:off x="7498080" y="4169664"/>
            <a:ext cx="1188720" cy="365760"/>
          </a:xfrm>
          <a:prstGeom prst="rect">
            <a:avLst/>
          </a:prstGeom>
          <a:noFill/>
          <a:ln/>
        </p:spPr>
        <p:txBody>
          <a:bodyPr wrap="square" lIns="0" tIns="0" rIns="0" bIns="0" rtlCol="0" anchor="ctr"/>
          <a:lstStyle/>
          <a:p>
            <a:pPr algn="r" indent="0" marL="0">
              <a:buNone/>
            </a:pPr>
            <a:r>
              <a:rPr lang="en-US" sz="1100" dirty="0">
                <a:solidFill>
                  <a:srgbClr val="8A94A8"/>
                </a:solidFill>
                <a:latin typeface="Calibri" pitchFamily="34" charset="0"/>
                <a:ea typeface="Calibri" pitchFamily="34" charset="-122"/>
                <a:cs typeface="Calibri" pitchFamily="34" charset="-120"/>
              </a:rPr>
              <a:t>web</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100" b="1" spc="300" kern="0" dirty="0">
                <a:solidFill>
                  <a:srgbClr val="E8B04B"/>
                </a:solidFill>
                <a:latin typeface="Calibri" pitchFamily="34" charset="0"/>
                <a:ea typeface="Calibri" pitchFamily="34" charset="-122"/>
                <a:cs typeface="Calibri" pitchFamily="34" charset="-120"/>
              </a:rPr>
              <a:t>AUTONOMY · LIMITS</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t"/>
          <a:lstStyle/>
          <a:p>
            <a:pPr indent="0" marL="0">
              <a:buNone/>
            </a:pPr>
            <a:r>
              <a:rPr lang="en-US" sz="3000" b="1" dirty="0">
                <a:solidFill>
                  <a:srgbClr val="E6EAF2"/>
                </a:solidFill>
                <a:latin typeface="Cambria" pitchFamily="34" charset="0"/>
                <a:ea typeface="Cambria" pitchFamily="34" charset="-122"/>
                <a:cs typeface="Cambria" pitchFamily="34" charset="-120"/>
              </a:rPr>
              <a:t>Tight permissions, hard limits</a:t>
            </a:r>
            <a:endParaRPr lang="en-US" sz="3000" dirty="0"/>
          </a:p>
        </p:txBody>
      </p:sp>
      <p:sp>
        <p:nvSpPr>
          <p:cNvPr id="4" name="Shape 2"/>
          <p:cNvSpPr/>
          <p:nvPr/>
        </p:nvSpPr>
        <p:spPr>
          <a:xfrm>
            <a:off x="457200" y="1325880"/>
            <a:ext cx="2606040" cy="1188720"/>
          </a:xfrm>
          <a:prstGeom prst="roundRect">
            <a:avLst>
              <a:gd name="adj" fmla="val 9231"/>
            </a:avLst>
          </a:prstGeom>
          <a:solidFill>
            <a:srgbClr val="1A2130"/>
          </a:solidFill>
          <a:ln w="9525">
            <a:solidFill>
              <a:srgbClr val="263043"/>
            </a:solidFill>
            <a:prstDash val="solid"/>
          </a:ln>
        </p:spPr>
      </p:sp>
      <p:sp>
        <p:nvSpPr>
          <p:cNvPr id="5" name="Text 3"/>
          <p:cNvSpPr/>
          <p:nvPr/>
        </p:nvSpPr>
        <p:spPr>
          <a:xfrm>
            <a:off x="640080" y="1371600"/>
            <a:ext cx="2240280" cy="685800"/>
          </a:xfrm>
          <a:prstGeom prst="rect">
            <a:avLst/>
          </a:prstGeom>
          <a:noFill/>
          <a:ln/>
        </p:spPr>
        <p:txBody>
          <a:bodyPr wrap="square" lIns="0" tIns="0" rIns="0" bIns="0" rtlCol="0" anchor="ctr"/>
          <a:lstStyle/>
          <a:p>
            <a:pPr indent="0" marL="0">
              <a:buNone/>
            </a:pPr>
            <a:r>
              <a:rPr lang="en-US" sz="3600" b="1" dirty="0">
                <a:solidFill>
                  <a:srgbClr val="E8B04B"/>
                </a:solidFill>
                <a:latin typeface="Cambria" pitchFamily="34" charset="0"/>
                <a:ea typeface="Cambria" pitchFamily="34" charset="-122"/>
                <a:cs typeface="Cambria" pitchFamily="34" charset="-120"/>
              </a:rPr>
              <a:t>$10</a:t>
            </a:r>
            <a:endParaRPr lang="en-US" sz="3600" dirty="0"/>
          </a:p>
        </p:txBody>
      </p:sp>
      <p:sp>
        <p:nvSpPr>
          <p:cNvPr id="6" name="Text 4"/>
          <p:cNvSpPr/>
          <p:nvPr/>
        </p:nvSpPr>
        <p:spPr>
          <a:xfrm>
            <a:off x="640080" y="2057400"/>
            <a:ext cx="2240280" cy="365760"/>
          </a:xfrm>
          <a:prstGeom prst="rect">
            <a:avLst/>
          </a:prstGeom>
          <a:noFill/>
          <a:ln/>
        </p:spPr>
        <p:txBody>
          <a:bodyPr wrap="square" lIns="0" tIns="0" rIns="0" bIns="0" rtlCol="0" anchor="ctr"/>
          <a:lstStyle/>
          <a:p>
            <a:pPr indent="0" marL="0">
              <a:buNone/>
            </a:pPr>
            <a:r>
              <a:rPr lang="en-US" sz="1200" dirty="0">
                <a:solidFill>
                  <a:srgbClr val="8A94A8"/>
                </a:solidFill>
                <a:latin typeface="Calibri" pitchFamily="34" charset="0"/>
                <a:ea typeface="Calibri" pitchFamily="34" charset="-122"/>
                <a:cs typeface="Calibri" pitchFamily="34" charset="-120"/>
              </a:rPr>
              <a:t>most it can spend on one order</a:t>
            </a:r>
            <a:endParaRPr lang="en-US" sz="1200" dirty="0"/>
          </a:p>
        </p:txBody>
      </p:sp>
      <p:sp>
        <p:nvSpPr>
          <p:cNvPr id="7" name="Shape 5"/>
          <p:cNvSpPr/>
          <p:nvPr/>
        </p:nvSpPr>
        <p:spPr>
          <a:xfrm>
            <a:off x="3246120" y="1325880"/>
            <a:ext cx="2606040" cy="1188720"/>
          </a:xfrm>
          <a:prstGeom prst="roundRect">
            <a:avLst>
              <a:gd name="adj" fmla="val 9231"/>
            </a:avLst>
          </a:prstGeom>
          <a:solidFill>
            <a:srgbClr val="1A2130"/>
          </a:solidFill>
          <a:ln w="9525">
            <a:solidFill>
              <a:srgbClr val="263043"/>
            </a:solidFill>
            <a:prstDash val="solid"/>
          </a:ln>
        </p:spPr>
      </p:sp>
      <p:sp>
        <p:nvSpPr>
          <p:cNvPr id="8" name="Text 6"/>
          <p:cNvSpPr/>
          <p:nvPr/>
        </p:nvSpPr>
        <p:spPr>
          <a:xfrm>
            <a:off x="3429000" y="1371600"/>
            <a:ext cx="2240280" cy="685800"/>
          </a:xfrm>
          <a:prstGeom prst="rect">
            <a:avLst/>
          </a:prstGeom>
          <a:noFill/>
          <a:ln/>
        </p:spPr>
        <p:txBody>
          <a:bodyPr wrap="square" lIns="0" tIns="0" rIns="0" bIns="0" rtlCol="0" anchor="ctr"/>
          <a:lstStyle/>
          <a:p>
            <a:pPr indent="0" marL="0">
              <a:buNone/>
            </a:pPr>
            <a:r>
              <a:rPr lang="en-US" sz="3600" b="1" dirty="0">
                <a:solidFill>
                  <a:srgbClr val="E8B04B"/>
                </a:solidFill>
                <a:latin typeface="Cambria" pitchFamily="34" charset="0"/>
                <a:ea typeface="Cambria" pitchFamily="34" charset="-122"/>
                <a:cs typeface="Cambria" pitchFamily="34" charset="-120"/>
              </a:rPr>
              <a:t>$50</a:t>
            </a:r>
            <a:endParaRPr lang="en-US" sz="3600" dirty="0"/>
          </a:p>
        </p:txBody>
      </p:sp>
      <p:sp>
        <p:nvSpPr>
          <p:cNvPr id="9" name="Text 7"/>
          <p:cNvSpPr/>
          <p:nvPr/>
        </p:nvSpPr>
        <p:spPr>
          <a:xfrm>
            <a:off x="3429000" y="2057400"/>
            <a:ext cx="2240280" cy="365760"/>
          </a:xfrm>
          <a:prstGeom prst="rect">
            <a:avLst/>
          </a:prstGeom>
          <a:noFill/>
          <a:ln/>
        </p:spPr>
        <p:txBody>
          <a:bodyPr wrap="square" lIns="0" tIns="0" rIns="0" bIns="0" rtlCol="0" anchor="ctr"/>
          <a:lstStyle/>
          <a:p>
            <a:pPr indent="0" marL="0">
              <a:buNone/>
            </a:pPr>
            <a:r>
              <a:rPr lang="en-US" sz="1200" dirty="0">
                <a:solidFill>
                  <a:srgbClr val="8A94A8"/>
                </a:solidFill>
                <a:latin typeface="Calibri" pitchFamily="34" charset="0"/>
                <a:ea typeface="Calibri" pitchFamily="34" charset="-122"/>
                <a:cs typeface="Calibri" pitchFamily="34" charset="-120"/>
              </a:rPr>
              <a:t>most it can have in the market</a:t>
            </a:r>
            <a:endParaRPr lang="en-US" sz="1200" dirty="0"/>
          </a:p>
        </p:txBody>
      </p:sp>
      <p:sp>
        <p:nvSpPr>
          <p:cNvPr id="10" name="Shape 8"/>
          <p:cNvSpPr/>
          <p:nvPr/>
        </p:nvSpPr>
        <p:spPr>
          <a:xfrm>
            <a:off x="6035040" y="1325880"/>
            <a:ext cx="2606040" cy="1188720"/>
          </a:xfrm>
          <a:prstGeom prst="roundRect">
            <a:avLst>
              <a:gd name="adj" fmla="val 9231"/>
            </a:avLst>
          </a:prstGeom>
          <a:solidFill>
            <a:srgbClr val="1A2130"/>
          </a:solidFill>
          <a:ln w="9525">
            <a:solidFill>
              <a:srgbClr val="263043"/>
            </a:solidFill>
            <a:prstDash val="solid"/>
          </a:ln>
        </p:spPr>
      </p:sp>
      <p:sp>
        <p:nvSpPr>
          <p:cNvPr id="11" name="Text 9"/>
          <p:cNvSpPr/>
          <p:nvPr/>
        </p:nvSpPr>
        <p:spPr>
          <a:xfrm>
            <a:off x="6217920" y="1371600"/>
            <a:ext cx="2240280" cy="685800"/>
          </a:xfrm>
          <a:prstGeom prst="rect">
            <a:avLst/>
          </a:prstGeom>
          <a:noFill/>
          <a:ln/>
        </p:spPr>
        <p:txBody>
          <a:bodyPr wrap="square" lIns="0" tIns="0" rIns="0" bIns="0" rtlCol="0" anchor="ctr"/>
          <a:lstStyle/>
          <a:p>
            <a:pPr indent="0" marL="0">
              <a:buNone/>
            </a:pPr>
            <a:r>
              <a:rPr lang="en-US" sz="3600" b="1" dirty="0">
                <a:solidFill>
                  <a:srgbClr val="E8B04B"/>
                </a:solidFill>
                <a:latin typeface="Cambria" pitchFamily="34" charset="0"/>
                <a:ea typeface="Cambria" pitchFamily="34" charset="-122"/>
                <a:cs typeface="Cambria" pitchFamily="34" charset="-120"/>
              </a:rPr>
              <a:t>5%</a:t>
            </a:r>
            <a:endParaRPr lang="en-US" sz="3600" dirty="0"/>
          </a:p>
        </p:txBody>
      </p:sp>
      <p:sp>
        <p:nvSpPr>
          <p:cNvPr id="12" name="Text 10"/>
          <p:cNvSpPr/>
          <p:nvPr/>
        </p:nvSpPr>
        <p:spPr>
          <a:xfrm>
            <a:off x="6217920" y="2057400"/>
            <a:ext cx="2240280" cy="365760"/>
          </a:xfrm>
          <a:prstGeom prst="rect">
            <a:avLst/>
          </a:prstGeom>
          <a:noFill/>
          <a:ln/>
        </p:spPr>
        <p:txBody>
          <a:bodyPr wrap="square" lIns="0" tIns="0" rIns="0" bIns="0" rtlCol="0" anchor="ctr"/>
          <a:lstStyle/>
          <a:p>
            <a:pPr indent="0" marL="0">
              <a:buNone/>
            </a:pPr>
            <a:r>
              <a:rPr lang="en-US" sz="1200" dirty="0">
                <a:solidFill>
                  <a:srgbClr val="8A94A8"/>
                </a:solidFill>
                <a:latin typeface="Calibri" pitchFamily="34" charset="0"/>
                <a:ea typeface="Calibri" pitchFamily="34" charset="-122"/>
                <a:cs typeface="Calibri" pitchFamily="34" charset="-120"/>
              </a:rPr>
              <a:t>drop that stops all trading</a:t>
            </a:r>
            <a:endParaRPr lang="en-US" sz="1200" dirty="0"/>
          </a:p>
        </p:txBody>
      </p:sp>
      <p:sp>
        <p:nvSpPr>
          <p:cNvPr id="13" name="Text 11"/>
          <p:cNvSpPr/>
          <p:nvPr/>
        </p:nvSpPr>
        <p:spPr>
          <a:xfrm>
            <a:off x="457200" y="2578608"/>
            <a:ext cx="8229600" cy="274320"/>
          </a:xfrm>
          <a:prstGeom prst="rect">
            <a:avLst/>
          </a:prstGeom>
          <a:noFill/>
          <a:ln/>
        </p:spPr>
        <p:txBody>
          <a:bodyPr wrap="square" lIns="0" tIns="0" rIns="0" bIns="0" rtlCol="0" anchor="ctr"/>
          <a:lstStyle/>
          <a:p>
            <a:pPr indent="0" marL="0">
              <a:buNone/>
            </a:pPr>
            <a:r>
              <a:rPr lang="en-US" sz="1100" i="1" dirty="0">
                <a:solidFill>
                  <a:srgbClr val="5B6578"/>
                </a:solidFill>
                <a:latin typeface="Calibri" pitchFamily="34" charset="0"/>
                <a:ea typeface="Calibri" pitchFamily="34" charset="-122"/>
                <a:cs typeface="Calibri" pitchFamily="34" charset="-120"/>
              </a:rPr>
              <a:t>Current settings. The code checks them before every single order.</a:t>
            </a:r>
            <a:endParaRPr lang="en-US" sz="1100" dirty="0"/>
          </a:p>
        </p:txBody>
      </p:sp>
      <p:sp>
        <p:nvSpPr>
          <p:cNvPr id="14" name="Shape 12"/>
          <p:cNvSpPr/>
          <p:nvPr/>
        </p:nvSpPr>
        <p:spPr>
          <a:xfrm>
            <a:off x="457200" y="2971800"/>
            <a:ext cx="3977640" cy="1280160"/>
          </a:xfrm>
          <a:prstGeom prst="roundRect">
            <a:avLst>
              <a:gd name="adj" fmla="val 8571"/>
            </a:avLst>
          </a:prstGeom>
          <a:solidFill>
            <a:srgbClr val="121722"/>
          </a:solidFill>
          <a:ln w="9525">
            <a:solidFill>
              <a:srgbClr val="263043"/>
            </a:solidFill>
            <a:prstDash val="solid"/>
          </a:ln>
        </p:spPr>
      </p:sp>
      <p:sp>
        <p:nvSpPr>
          <p:cNvPr id="15" name="Text 13"/>
          <p:cNvSpPr/>
          <p:nvPr/>
        </p:nvSpPr>
        <p:spPr>
          <a:xfrm>
            <a:off x="640080" y="3063240"/>
            <a:ext cx="3657600" cy="320040"/>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It can</a:t>
            </a:r>
            <a:endParaRPr lang="en-US" sz="1400" dirty="0"/>
          </a:p>
        </p:txBody>
      </p:sp>
      <p:sp>
        <p:nvSpPr>
          <p:cNvPr id="16" name="Text 14"/>
          <p:cNvSpPr/>
          <p:nvPr/>
        </p:nvSpPr>
        <p:spPr>
          <a:xfrm>
            <a:off x="640080" y="3429000"/>
            <a:ext cx="3657600" cy="731520"/>
          </a:xfrm>
          <a:prstGeom prst="rect">
            <a:avLst/>
          </a:prstGeom>
          <a:noFill/>
          <a:ln/>
        </p:spPr>
        <p:txBody>
          <a:bodyPr wrap="square" lIns="0" tIns="0" rIns="0" bIns="0" rtlCol="0" anchor="t"/>
          <a:lstStyle/>
          <a:p>
            <a:pPr indent="0" marL="0">
              <a:spcAft>
                <a:spcPts val="400"/>
              </a:spcAft>
              <a:buNone/>
            </a:pPr>
            <a:r>
              <a:rPr lang="en-US" sz="1300" dirty="0">
                <a:solidFill>
                  <a:srgbClr val="E6EAF2"/>
                </a:solidFill>
                <a:latin typeface="Calibri" pitchFamily="34" charset="0"/>
                <a:ea typeface="Calibri" pitchFamily="34" charset="-122"/>
                <a:cs typeface="Calibri" pitchFamily="34" charset="-120"/>
              </a:rPr>
              <a:t>✓  Buy and sell coins on OKX TR (spot only)</a:t>
            </a:r>
            <a:endParaRPr lang="en-US" sz="1300" dirty="0"/>
          </a:p>
          <a:p>
            <a:pPr indent="0" marL="0">
              <a:spcAft>
                <a:spcPts val="400"/>
              </a:spcAft>
              <a:buNone/>
            </a:pPr>
            <a:r>
              <a:rPr lang="en-US" sz="1300" dirty="0">
                <a:solidFill>
                  <a:srgbClr val="E6EAF2"/>
                </a:solidFill>
                <a:latin typeface="Calibri" pitchFamily="34" charset="0"/>
                <a:ea typeface="Calibri" pitchFamily="34" charset="-122"/>
                <a:cs typeface="Calibri" pitchFamily="34" charset="-120"/>
              </a:rPr>
              <a:t>✓  Trade only the 5 coins in its settings</a:t>
            </a:r>
            <a:endParaRPr lang="en-US" sz="1300" dirty="0"/>
          </a:p>
        </p:txBody>
      </p:sp>
      <p:sp>
        <p:nvSpPr>
          <p:cNvPr id="17" name="Shape 15"/>
          <p:cNvSpPr/>
          <p:nvPr/>
        </p:nvSpPr>
        <p:spPr>
          <a:xfrm>
            <a:off x="4663440" y="2971800"/>
            <a:ext cx="3977640" cy="1280160"/>
          </a:xfrm>
          <a:prstGeom prst="roundRect">
            <a:avLst>
              <a:gd name="adj" fmla="val 8571"/>
            </a:avLst>
          </a:prstGeom>
          <a:solidFill>
            <a:srgbClr val="121722"/>
          </a:solidFill>
          <a:ln w="9525">
            <a:solidFill>
              <a:srgbClr val="263043"/>
            </a:solidFill>
            <a:prstDash val="solid"/>
          </a:ln>
        </p:spPr>
      </p:sp>
      <p:sp>
        <p:nvSpPr>
          <p:cNvPr id="18" name="Text 16"/>
          <p:cNvSpPr/>
          <p:nvPr/>
        </p:nvSpPr>
        <p:spPr>
          <a:xfrm>
            <a:off x="4846320" y="3063240"/>
            <a:ext cx="3657600" cy="320040"/>
          </a:xfrm>
          <a:prstGeom prst="rect">
            <a:avLst/>
          </a:prstGeom>
          <a:noFill/>
          <a:ln/>
        </p:spPr>
        <p:txBody>
          <a:bodyPr wrap="square" lIns="0" tIns="0" rIns="0" bIns="0" rtlCol="0" anchor="ctr"/>
          <a:lstStyle/>
          <a:p>
            <a:pPr indent="0" marL="0">
              <a:buNone/>
            </a:pPr>
            <a:r>
              <a:rPr lang="en-US" sz="1400" b="1" dirty="0">
                <a:solidFill>
                  <a:srgbClr val="F97066"/>
                </a:solidFill>
                <a:latin typeface="Calibri" pitchFamily="34" charset="0"/>
                <a:ea typeface="Calibri" pitchFamily="34" charset="-122"/>
                <a:cs typeface="Calibri" pitchFamily="34" charset="-120"/>
              </a:rPr>
              <a:t>It cannot</a:t>
            </a:r>
            <a:endParaRPr lang="en-US" sz="1400" dirty="0"/>
          </a:p>
        </p:txBody>
      </p:sp>
      <p:sp>
        <p:nvSpPr>
          <p:cNvPr id="19" name="Text 17"/>
          <p:cNvSpPr/>
          <p:nvPr/>
        </p:nvSpPr>
        <p:spPr>
          <a:xfrm>
            <a:off x="4846320" y="3429000"/>
            <a:ext cx="3657600" cy="777240"/>
          </a:xfrm>
          <a:prstGeom prst="rect">
            <a:avLst/>
          </a:prstGeom>
          <a:noFill/>
          <a:ln/>
        </p:spPr>
        <p:txBody>
          <a:bodyPr wrap="square" lIns="0" tIns="0" rIns="0" bIns="0" rtlCol="0" anchor="t"/>
          <a:lstStyle/>
          <a:p>
            <a:pPr indent="0" marL="0">
              <a:spcAft>
                <a:spcPts val="200"/>
              </a:spcAft>
              <a:buNone/>
            </a:pPr>
            <a:r>
              <a:rPr lang="en-US" sz="1300" dirty="0">
                <a:solidFill>
                  <a:srgbClr val="E6EAF2"/>
                </a:solidFill>
                <a:latin typeface="Calibri" pitchFamily="34" charset="0"/>
                <a:ea typeface="Calibri" pitchFamily="34" charset="-122"/>
                <a:cs typeface="Calibri" pitchFamily="34" charset="-120"/>
              </a:rPr>
              <a:t>✕  Withdraw or move money</a:t>
            </a:r>
            <a:endParaRPr lang="en-US" sz="1300" dirty="0"/>
          </a:p>
          <a:p>
            <a:pPr indent="0" marL="0">
              <a:spcAft>
                <a:spcPts val="200"/>
              </a:spcAft>
              <a:buNone/>
            </a:pPr>
            <a:r>
              <a:rPr lang="en-US" sz="1300" dirty="0">
                <a:solidFill>
                  <a:srgbClr val="E6EAF2"/>
                </a:solidFill>
                <a:latin typeface="Calibri" pitchFamily="34" charset="0"/>
                <a:ea typeface="Calibri" pitchFamily="34" charset="-122"/>
                <a:cs typeface="Calibri" pitchFamily="34" charset="-120"/>
              </a:rPr>
              <a:t>✕  Borrow or use leverage</a:t>
            </a:r>
            <a:endParaRPr lang="en-US" sz="1300" dirty="0"/>
          </a:p>
          <a:p>
            <a:pPr indent="0" marL="0">
              <a:spcAft>
                <a:spcPts val="200"/>
              </a:spcAft>
              <a:buNone/>
            </a:pPr>
            <a:r>
              <a:rPr lang="en-US" sz="1300" dirty="0">
                <a:solidFill>
                  <a:srgbClr val="E6EAF2"/>
                </a:solidFill>
                <a:latin typeface="Calibri" pitchFamily="34" charset="0"/>
                <a:ea typeface="Calibri" pitchFamily="34" charset="-122"/>
                <a:cs typeface="Calibri" pitchFamily="34" charset="-120"/>
              </a:rPr>
              <a:t>✕  Change account settings</a:t>
            </a:r>
            <a:endParaRPr lang="en-US" sz="1300" dirty="0"/>
          </a:p>
        </p:txBody>
      </p:sp>
      <p:sp>
        <p:nvSpPr>
          <p:cNvPr id="20" name="Text 18"/>
          <p:cNvSpPr/>
          <p:nvPr/>
        </p:nvSpPr>
        <p:spPr>
          <a:xfrm>
            <a:off x="457200" y="4389120"/>
            <a:ext cx="8229600" cy="411480"/>
          </a:xfrm>
          <a:prstGeom prst="rect">
            <a:avLst/>
          </a:prstGeom>
          <a:noFill/>
          <a:ln/>
        </p:spPr>
        <p:txBody>
          <a:bodyPr wrap="square" lIns="0" tIns="0" rIns="0" bIns="0"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Practice mode is on by default. </a:t>
            </a:r>
            <a:pPr indent="0" marL="0">
              <a:buNone/>
            </a:pPr>
            <a:r>
              <a:rPr lang="en-US" sz="1300" dirty="0">
                <a:solidFill>
                  <a:srgbClr val="E6EAF2"/>
                </a:solidFill>
                <a:latin typeface="Calibri" pitchFamily="34" charset="0"/>
                <a:ea typeface="Calibri" pitchFamily="34" charset="-122"/>
                <a:cs typeface="Calibri" pitchFamily="34" charset="-120"/>
              </a:rPr>
              <a:t>Decisions are still sealed, orders are only simulated. Going live is a human decision.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100" b="1" spc="300" kern="0" dirty="0">
                <a:solidFill>
                  <a:srgbClr val="E8B04B"/>
                </a:solidFill>
                <a:latin typeface="Calibri" pitchFamily="34" charset="0"/>
                <a:ea typeface="Calibri" pitchFamily="34" charset="-122"/>
                <a:cs typeface="Calibri" pitchFamily="34" charset="-120"/>
              </a:rPr>
              <a:t>AUTONOMY · FAILURES</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t"/>
          <a:lstStyle/>
          <a:p>
            <a:pPr indent="0" marL="0">
              <a:buNone/>
            </a:pPr>
            <a:r>
              <a:rPr lang="en-US" sz="3000" b="1" dirty="0">
                <a:solidFill>
                  <a:srgbClr val="E6EAF2"/>
                </a:solidFill>
                <a:latin typeface="Cambria" pitchFamily="34" charset="0"/>
                <a:ea typeface="Cambria" pitchFamily="34" charset="-122"/>
                <a:cs typeface="Cambria" pitchFamily="34" charset="-120"/>
              </a:rPr>
              <a:t>When something breaks, it stops safely</a:t>
            </a:r>
            <a:endParaRPr lang="en-US" sz="3000" dirty="0"/>
          </a:p>
        </p:txBody>
      </p:sp>
      <p:sp>
        <p:nvSpPr>
          <p:cNvPr id="4" name="Text 2"/>
          <p:cNvSpPr/>
          <p:nvPr/>
        </p:nvSpPr>
        <p:spPr>
          <a:xfrm>
            <a:off x="685800" y="1234440"/>
            <a:ext cx="3200400" cy="274320"/>
          </a:xfrm>
          <a:prstGeom prst="rect">
            <a:avLst/>
          </a:prstGeom>
          <a:noFill/>
          <a:ln/>
        </p:spPr>
        <p:txBody>
          <a:bodyPr wrap="square" lIns="0" tIns="0" rIns="0" bIns="0" rtlCol="0" anchor="ctr"/>
          <a:lstStyle/>
          <a:p>
            <a:pPr indent="0" marL="0">
              <a:buNone/>
            </a:pPr>
            <a:r>
              <a:rPr lang="en-US" sz="1100" b="1" spc="200" kern="0" dirty="0">
                <a:solidFill>
                  <a:srgbClr val="E8B04B"/>
                </a:solidFill>
                <a:latin typeface="Calibri" pitchFamily="34" charset="0"/>
                <a:ea typeface="Calibri" pitchFamily="34" charset="-122"/>
                <a:cs typeface="Calibri" pitchFamily="34" charset="-120"/>
              </a:rPr>
              <a:t>If…</a:t>
            </a:r>
            <a:endParaRPr lang="en-US" sz="1100" dirty="0"/>
          </a:p>
        </p:txBody>
      </p:sp>
      <p:sp>
        <p:nvSpPr>
          <p:cNvPr id="5" name="Text 3"/>
          <p:cNvSpPr/>
          <p:nvPr/>
        </p:nvSpPr>
        <p:spPr>
          <a:xfrm>
            <a:off x="4800600" y="1234440"/>
            <a:ext cx="3200400" cy="274320"/>
          </a:xfrm>
          <a:prstGeom prst="rect">
            <a:avLst/>
          </a:prstGeom>
          <a:noFill/>
          <a:ln/>
        </p:spPr>
        <p:txBody>
          <a:bodyPr wrap="square" lIns="0" tIns="0" rIns="0" bIns="0" rtlCol="0" anchor="ctr"/>
          <a:lstStyle/>
          <a:p>
            <a:pPr indent="0" marL="0">
              <a:buNone/>
            </a:pPr>
            <a:r>
              <a:rPr lang="en-US" sz="1100" b="1" spc="200" kern="0" dirty="0">
                <a:solidFill>
                  <a:srgbClr val="E8B04B"/>
                </a:solidFill>
                <a:latin typeface="Calibri" pitchFamily="34" charset="0"/>
                <a:ea typeface="Calibri" pitchFamily="34" charset="-122"/>
                <a:cs typeface="Calibri" pitchFamily="34" charset="-120"/>
              </a:rPr>
              <a:t>GRAIL…</a:t>
            </a:r>
            <a:endParaRPr lang="en-US" sz="1100" dirty="0"/>
          </a:p>
        </p:txBody>
      </p:sp>
      <p:sp>
        <p:nvSpPr>
          <p:cNvPr id="6" name="Shape 4"/>
          <p:cNvSpPr/>
          <p:nvPr/>
        </p:nvSpPr>
        <p:spPr>
          <a:xfrm>
            <a:off x="457200" y="1554480"/>
            <a:ext cx="3931920" cy="548640"/>
          </a:xfrm>
          <a:prstGeom prst="roundRect">
            <a:avLst>
              <a:gd name="adj" fmla="val 20000"/>
            </a:avLst>
          </a:prstGeom>
          <a:solidFill>
            <a:srgbClr val="121722"/>
          </a:solidFill>
          <a:ln w="9525">
            <a:solidFill>
              <a:srgbClr val="263043"/>
            </a:solidFill>
            <a:prstDash val="solid"/>
          </a:ln>
        </p:spPr>
      </p:sp>
      <p:sp>
        <p:nvSpPr>
          <p:cNvPr id="7" name="Text 5"/>
          <p:cNvSpPr/>
          <p:nvPr/>
        </p:nvSpPr>
        <p:spPr>
          <a:xfrm>
            <a:off x="685800" y="1554480"/>
            <a:ext cx="3566160" cy="548640"/>
          </a:xfrm>
          <a:prstGeom prst="rect">
            <a:avLst/>
          </a:prstGeom>
          <a:noFill/>
          <a:ln/>
        </p:spPr>
        <p:txBody>
          <a:bodyPr wrap="square" lIns="0" tIns="0" rIns="0" bIns="0" rtlCol="0" anchor="ctr"/>
          <a:lstStyle/>
          <a:p>
            <a:pPr indent="0" marL="0">
              <a:buNone/>
            </a:pPr>
            <a:r>
              <a:rPr lang="en-US" sz="1400" b="1" dirty="0">
                <a:solidFill>
                  <a:srgbClr val="E6EAF2"/>
                </a:solidFill>
                <a:latin typeface="Calibri" pitchFamily="34" charset="0"/>
                <a:ea typeface="Calibri" pitchFamily="34" charset="-122"/>
                <a:cs typeface="Calibri" pitchFamily="34" charset="-120"/>
              </a:rPr>
              <a:t>It can't seal the decision</a:t>
            </a:r>
            <a:endParaRPr lang="en-US" sz="1400" dirty="0"/>
          </a:p>
        </p:txBody>
      </p:sp>
      <p:sp>
        <p:nvSpPr>
          <p:cNvPr id="8" name="Text 6"/>
          <p:cNvSpPr/>
          <p:nvPr/>
        </p:nvSpPr>
        <p:spPr>
          <a:xfrm>
            <a:off x="4389120" y="1554480"/>
            <a:ext cx="411480" cy="548640"/>
          </a:xfrm>
          <a:prstGeom prst="rect">
            <a:avLst/>
          </a:prstGeom>
          <a:noFill/>
          <a:ln/>
        </p:spPr>
        <p:txBody>
          <a:bodyPr wrap="square" lIns="0" tIns="0" rIns="0" bIns="0" rtlCol="0" anchor="ctr"/>
          <a:lstStyle/>
          <a:p>
            <a:pPr algn="ctr" indent="0" marL="0">
              <a:buNone/>
            </a:pPr>
            <a:r>
              <a:rPr lang="en-US" sz="1800" dirty="0">
                <a:solidFill>
                  <a:srgbClr val="E8B04B"/>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4800600" y="1554480"/>
            <a:ext cx="3840480" cy="548640"/>
          </a:xfrm>
          <a:prstGeom prst="roundRect">
            <a:avLst>
              <a:gd name="adj" fmla="val 20000"/>
            </a:avLst>
          </a:prstGeom>
          <a:solidFill>
            <a:srgbClr val="1A2130"/>
          </a:solidFill>
          <a:ln w="9525">
            <a:solidFill>
              <a:srgbClr val="263043"/>
            </a:solidFill>
            <a:prstDash val="solid"/>
          </a:ln>
        </p:spPr>
      </p:sp>
      <p:sp>
        <p:nvSpPr>
          <p:cNvPr id="10" name="Text 8"/>
          <p:cNvSpPr/>
          <p:nvPr/>
        </p:nvSpPr>
        <p:spPr>
          <a:xfrm>
            <a:off x="4983480" y="1554480"/>
            <a:ext cx="3566160" cy="548640"/>
          </a:xfrm>
          <a:prstGeom prst="rect">
            <a:avLst/>
          </a:prstGeom>
          <a:noFill/>
          <a:ln/>
        </p:spPr>
        <p:txBody>
          <a:bodyPr wrap="square" lIns="0" tIns="0" rIns="0" bIns="0" rtlCol="0" anchor="ctr"/>
          <a:lstStyle/>
          <a:p>
            <a:pPr indent="0" marL="0">
              <a:buNone/>
            </a:pPr>
            <a:r>
              <a:rPr lang="en-US" sz="1400" dirty="0">
                <a:solidFill>
                  <a:srgbClr val="E6EAF2"/>
                </a:solidFill>
                <a:latin typeface="Calibri" pitchFamily="34" charset="0"/>
                <a:ea typeface="Calibri" pitchFamily="34" charset="-122"/>
                <a:cs typeface="Calibri" pitchFamily="34" charset="-120"/>
              </a:rPr>
              <a:t>No trade this cycle.</a:t>
            </a:r>
            <a:endParaRPr lang="en-US" sz="1400" dirty="0"/>
          </a:p>
        </p:txBody>
      </p:sp>
      <p:sp>
        <p:nvSpPr>
          <p:cNvPr id="11" name="Shape 9"/>
          <p:cNvSpPr/>
          <p:nvPr/>
        </p:nvSpPr>
        <p:spPr>
          <a:xfrm>
            <a:off x="457200" y="2212848"/>
            <a:ext cx="3931920" cy="548640"/>
          </a:xfrm>
          <a:prstGeom prst="roundRect">
            <a:avLst>
              <a:gd name="adj" fmla="val 20000"/>
            </a:avLst>
          </a:prstGeom>
          <a:solidFill>
            <a:srgbClr val="121722"/>
          </a:solidFill>
          <a:ln w="9525">
            <a:solidFill>
              <a:srgbClr val="263043"/>
            </a:solidFill>
            <a:prstDash val="solid"/>
          </a:ln>
        </p:spPr>
      </p:sp>
      <p:sp>
        <p:nvSpPr>
          <p:cNvPr id="12" name="Text 10"/>
          <p:cNvSpPr/>
          <p:nvPr/>
        </p:nvSpPr>
        <p:spPr>
          <a:xfrm>
            <a:off x="685800" y="2212848"/>
            <a:ext cx="3566160" cy="548640"/>
          </a:xfrm>
          <a:prstGeom prst="rect">
            <a:avLst/>
          </a:prstGeom>
          <a:noFill/>
          <a:ln/>
        </p:spPr>
        <p:txBody>
          <a:bodyPr wrap="square" lIns="0" tIns="0" rIns="0" bIns="0" rtlCol="0" anchor="ctr"/>
          <a:lstStyle/>
          <a:p>
            <a:pPr indent="0" marL="0">
              <a:buNone/>
            </a:pPr>
            <a:r>
              <a:rPr lang="en-US" sz="1400" b="1" dirty="0">
                <a:solidFill>
                  <a:srgbClr val="E6EAF2"/>
                </a:solidFill>
                <a:latin typeface="Calibri" pitchFamily="34" charset="0"/>
                <a:ea typeface="Calibri" pitchFamily="34" charset="-122"/>
                <a:cs typeface="Calibri" pitchFamily="34" charset="-120"/>
              </a:rPr>
              <a:t>Price data is missing or broken</a:t>
            </a:r>
            <a:endParaRPr lang="en-US" sz="1400" dirty="0"/>
          </a:p>
        </p:txBody>
      </p:sp>
      <p:sp>
        <p:nvSpPr>
          <p:cNvPr id="13" name="Text 11"/>
          <p:cNvSpPr/>
          <p:nvPr/>
        </p:nvSpPr>
        <p:spPr>
          <a:xfrm>
            <a:off x="4389120" y="2212848"/>
            <a:ext cx="411480" cy="548640"/>
          </a:xfrm>
          <a:prstGeom prst="rect">
            <a:avLst/>
          </a:prstGeom>
          <a:noFill/>
          <a:ln/>
        </p:spPr>
        <p:txBody>
          <a:bodyPr wrap="square" lIns="0" tIns="0" rIns="0" bIns="0" rtlCol="0" anchor="ctr"/>
          <a:lstStyle/>
          <a:p>
            <a:pPr algn="ctr" indent="0" marL="0">
              <a:buNone/>
            </a:pPr>
            <a:r>
              <a:rPr lang="en-US" sz="1800" dirty="0">
                <a:solidFill>
                  <a:srgbClr val="E8B04B"/>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4800600" y="2212848"/>
            <a:ext cx="3840480" cy="548640"/>
          </a:xfrm>
          <a:prstGeom prst="roundRect">
            <a:avLst>
              <a:gd name="adj" fmla="val 20000"/>
            </a:avLst>
          </a:prstGeom>
          <a:solidFill>
            <a:srgbClr val="1A2130"/>
          </a:solidFill>
          <a:ln w="9525">
            <a:solidFill>
              <a:srgbClr val="263043"/>
            </a:solidFill>
            <a:prstDash val="solid"/>
          </a:ln>
        </p:spPr>
      </p:sp>
      <p:sp>
        <p:nvSpPr>
          <p:cNvPr id="15" name="Text 13"/>
          <p:cNvSpPr/>
          <p:nvPr/>
        </p:nvSpPr>
        <p:spPr>
          <a:xfrm>
            <a:off x="4983480" y="2212848"/>
            <a:ext cx="3566160" cy="548640"/>
          </a:xfrm>
          <a:prstGeom prst="rect">
            <a:avLst/>
          </a:prstGeom>
          <a:noFill/>
          <a:ln/>
        </p:spPr>
        <p:txBody>
          <a:bodyPr wrap="square" lIns="0" tIns="0" rIns="0" bIns="0" rtlCol="0" anchor="ctr"/>
          <a:lstStyle/>
          <a:p>
            <a:pPr indent="0" marL="0">
              <a:buNone/>
            </a:pPr>
            <a:r>
              <a:rPr lang="en-US" sz="1400" dirty="0">
                <a:solidFill>
                  <a:srgbClr val="E6EAF2"/>
                </a:solidFill>
                <a:latin typeface="Calibri" pitchFamily="34" charset="0"/>
                <a:ea typeface="Calibri" pitchFamily="34" charset="-122"/>
                <a:cs typeface="Calibri" pitchFamily="34" charset="-120"/>
              </a:rPr>
              <a:t>Holds that coin and writes down why.</a:t>
            </a:r>
            <a:endParaRPr lang="en-US" sz="1400" dirty="0"/>
          </a:p>
        </p:txBody>
      </p:sp>
      <p:sp>
        <p:nvSpPr>
          <p:cNvPr id="16" name="Shape 14"/>
          <p:cNvSpPr/>
          <p:nvPr/>
        </p:nvSpPr>
        <p:spPr>
          <a:xfrm>
            <a:off x="457200" y="2871216"/>
            <a:ext cx="3931920" cy="548640"/>
          </a:xfrm>
          <a:prstGeom prst="roundRect">
            <a:avLst>
              <a:gd name="adj" fmla="val 20000"/>
            </a:avLst>
          </a:prstGeom>
          <a:solidFill>
            <a:srgbClr val="121722"/>
          </a:solidFill>
          <a:ln w="9525">
            <a:solidFill>
              <a:srgbClr val="263043"/>
            </a:solidFill>
            <a:prstDash val="solid"/>
          </a:ln>
        </p:spPr>
      </p:sp>
      <p:sp>
        <p:nvSpPr>
          <p:cNvPr id="17" name="Text 15"/>
          <p:cNvSpPr/>
          <p:nvPr/>
        </p:nvSpPr>
        <p:spPr>
          <a:xfrm>
            <a:off x="685800" y="2871216"/>
            <a:ext cx="3566160" cy="548640"/>
          </a:xfrm>
          <a:prstGeom prst="rect">
            <a:avLst/>
          </a:prstGeom>
          <a:noFill/>
          <a:ln/>
        </p:spPr>
        <p:txBody>
          <a:bodyPr wrap="square" lIns="0" tIns="0" rIns="0" bIns="0" rtlCol="0" anchor="ctr"/>
          <a:lstStyle/>
          <a:p>
            <a:pPr indent="0" marL="0">
              <a:buNone/>
            </a:pPr>
            <a:r>
              <a:rPr lang="en-US" sz="1400" b="1" dirty="0">
                <a:solidFill>
                  <a:srgbClr val="E6EAF2"/>
                </a:solidFill>
                <a:latin typeface="Calibri" pitchFamily="34" charset="0"/>
                <a:ea typeface="Calibri" pitchFamily="34" charset="-122"/>
                <a:cs typeface="Calibri" pitchFamily="34" charset="-120"/>
              </a:rPr>
              <a:t>It crashes halfway through</a:t>
            </a:r>
            <a:endParaRPr lang="en-US" sz="1400" dirty="0"/>
          </a:p>
        </p:txBody>
      </p:sp>
      <p:sp>
        <p:nvSpPr>
          <p:cNvPr id="18" name="Text 16"/>
          <p:cNvSpPr/>
          <p:nvPr/>
        </p:nvSpPr>
        <p:spPr>
          <a:xfrm>
            <a:off x="4389120" y="2871216"/>
            <a:ext cx="411480" cy="548640"/>
          </a:xfrm>
          <a:prstGeom prst="rect">
            <a:avLst/>
          </a:prstGeom>
          <a:noFill/>
          <a:ln/>
        </p:spPr>
        <p:txBody>
          <a:bodyPr wrap="square" lIns="0" tIns="0" rIns="0" bIns="0" rtlCol="0" anchor="ctr"/>
          <a:lstStyle/>
          <a:p>
            <a:pPr algn="ctr" indent="0" marL="0">
              <a:buNone/>
            </a:pPr>
            <a:r>
              <a:rPr lang="en-US" sz="1800" dirty="0">
                <a:solidFill>
                  <a:srgbClr val="E8B04B"/>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4800600" y="2871216"/>
            <a:ext cx="3840480" cy="548640"/>
          </a:xfrm>
          <a:prstGeom prst="roundRect">
            <a:avLst>
              <a:gd name="adj" fmla="val 20000"/>
            </a:avLst>
          </a:prstGeom>
          <a:solidFill>
            <a:srgbClr val="1A2130"/>
          </a:solidFill>
          <a:ln w="9525">
            <a:solidFill>
              <a:srgbClr val="263043"/>
            </a:solidFill>
            <a:prstDash val="solid"/>
          </a:ln>
        </p:spPr>
      </p:sp>
      <p:sp>
        <p:nvSpPr>
          <p:cNvPr id="20" name="Text 18"/>
          <p:cNvSpPr/>
          <p:nvPr/>
        </p:nvSpPr>
        <p:spPr>
          <a:xfrm>
            <a:off x="4983480" y="2871216"/>
            <a:ext cx="3566160" cy="548640"/>
          </a:xfrm>
          <a:prstGeom prst="rect">
            <a:avLst/>
          </a:prstGeom>
          <a:noFill/>
          <a:ln/>
        </p:spPr>
        <p:txBody>
          <a:bodyPr wrap="square" lIns="0" tIns="0" rIns="0" bIns="0" rtlCol="0" anchor="ctr"/>
          <a:lstStyle/>
          <a:p>
            <a:pPr indent="0" marL="0">
              <a:buNone/>
            </a:pPr>
            <a:r>
              <a:rPr lang="en-US" sz="1400" dirty="0">
                <a:solidFill>
                  <a:srgbClr val="E6EAF2"/>
                </a:solidFill>
                <a:latin typeface="Calibri" pitchFamily="34" charset="0"/>
                <a:ea typeface="Calibri" pitchFamily="34" charset="-122"/>
                <a:cs typeface="Calibri" pitchFamily="34" charset="-120"/>
              </a:rPr>
              <a:t>On restart, it opens the waiting envelope first.</a:t>
            </a:r>
            <a:endParaRPr lang="en-US" sz="1400" dirty="0"/>
          </a:p>
        </p:txBody>
      </p:sp>
      <p:sp>
        <p:nvSpPr>
          <p:cNvPr id="21" name="Shape 19"/>
          <p:cNvSpPr/>
          <p:nvPr/>
        </p:nvSpPr>
        <p:spPr>
          <a:xfrm>
            <a:off x="457200" y="3529584"/>
            <a:ext cx="3931920" cy="548640"/>
          </a:xfrm>
          <a:prstGeom prst="roundRect">
            <a:avLst>
              <a:gd name="adj" fmla="val 20000"/>
            </a:avLst>
          </a:prstGeom>
          <a:solidFill>
            <a:srgbClr val="121722"/>
          </a:solidFill>
          <a:ln w="9525">
            <a:solidFill>
              <a:srgbClr val="263043"/>
            </a:solidFill>
            <a:prstDash val="solid"/>
          </a:ln>
        </p:spPr>
      </p:sp>
      <p:sp>
        <p:nvSpPr>
          <p:cNvPr id="22" name="Text 20"/>
          <p:cNvSpPr/>
          <p:nvPr/>
        </p:nvSpPr>
        <p:spPr>
          <a:xfrm>
            <a:off x="685800" y="3529584"/>
            <a:ext cx="3566160" cy="548640"/>
          </a:xfrm>
          <a:prstGeom prst="rect">
            <a:avLst/>
          </a:prstGeom>
          <a:noFill/>
          <a:ln/>
        </p:spPr>
        <p:txBody>
          <a:bodyPr wrap="square" lIns="0" tIns="0" rIns="0" bIns="0" rtlCol="0" anchor="ctr"/>
          <a:lstStyle/>
          <a:p>
            <a:pPr indent="0" marL="0">
              <a:buNone/>
            </a:pPr>
            <a:r>
              <a:rPr lang="en-US" sz="1400" b="1" dirty="0">
                <a:solidFill>
                  <a:srgbClr val="E6EAF2"/>
                </a:solidFill>
                <a:latin typeface="Calibri" pitchFamily="34" charset="0"/>
                <a:ea typeface="Calibri" pitchFamily="34" charset="-122"/>
                <a:cs typeface="Calibri" pitchFamily="34" charset="-120"/>
              </a:rPr>
              <a:t>An order result is unclear</a:t>
            </a:r>
            <a:endParaRPr lang="en-US" sz="1400" dirty="0"/>
          </a:p>
        </p:txBody>
      </p:sp>
      <p:sp>
        <p:nvSpPr>
          <p:cNvPr id="23" name="Text 21"/>
          <p:cNvSpPr/>
          <p:nvPr/>
        </p:nvSpPr>
        <p:spPr>
          <a:xfrm>
            <a:off x="4389120" y="3529584"/>
            <a:ext cx="411480" cy="548640"/>
          </a:xfrm>
          <a:prstGeom prst="rect">
            <a:avLst/>
          </a:prstGeom>
          <a:noFill/>
          <a:ln/>
        </p:spPr>
        <p:txBody>
          <a:bodyPr wrap="square" lIns="0" tIns="0" rIns="0" bIns="0" rtlCol="0" anchor="ctr"/>
          <a:lstStyle/>
          <a:p>
            <a:pPr algn="ctr" indent="0" marL="0">
              <a:buNone/>
            </a:pPr>
            <a:r>
              <a:rPr lang="en-US" sz="1800" dirty="0">
                <a:solidFill>
                  <a:srgbClr val="E8B04B"/>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4800600" y="3529584"/>
            <a:ext cx="3840480" cy="548640"/>
          </a:xfrm>
          <a:prstGeom prst="roundRect">
            <a:avLst>
              <a:gd name="adj" fmla="val 20000"/>
            </a:avLst>
          </a:prstGeom>
          <a:solidFill>
            <a:srgbClr val="1A2130"/>
          </a:solidFill>
          <a:ln w="9525">
            <a:solidFill>
              <a:srgbClr val="263043"/>
            </a:solidFill>
            <a:prstDash val="solid"/>
          </a:ln>
        </p:spPr>
      </p:sp>
      <p:sp>
        <p:nvSpPr>
          <p:cNvPr id="25" name="Text 23"/>
          <p:cNvSpPr/>
          <p:nvPr/>
        </p:nvSpPr>
        <p:spPr>
          <a:xfrm>
            <a:off x="4983480" y="3529584"/>
            <a:ext cx="3566160" cy="548640"/>
          </a:xfrm>
          <a:prstGeom prst="rect">
            <a:avLst/>
          </a:prstGeom>
          <a:noFill/>
          <a:ln/>
        </p:spPr>
        <p:txBody>
          <a:bodyPr wrap="square" lIns="0" tIns="0" rIns="0" bIns="0" rtlCol="0" anchor="ctr"/>
          <a:lstStyle/>
          <a:p>
            <a:pPr indent="0" marL="0">
              <a:buNone/>
            </a:pPr>
            <a:r>
              <a:rPr lang="en-US" sz="1400" dirty="0">
                <a:solidFill>
                  <a:srgbClr val="E6EAF2"/>
                </a:solidFill>
                <a:latin typeface="Calibri" pitchFamily="34" charset="0"/>
                <a:ea typeface="Calibri" pitchFamily="34" charset="-122"/>
                <a:cs typeface="Calibri" pitchFamily="34" charset="-120"/>
              </a:rPr>
              <a:t>Looks it up by ID. Never sends it twice.</a:t>
            </a:r>
            <a:endParaRPr lang="en-US" sz="1400" dirty="0"/>
          </a:p>
        </p:txBody>
      </p:sp>
      <p:sp>
        <p:nvSpPr>
          <p:cNvPr id="26" name="Text 24"/>
          <p:cNvSpPr/>
          <p:nvPr/>
        </p:nvSpPr>
        <p:spPr>
          <a:xfrm>
            <a:off x="457200" y="4297680"/>
            <a:ext cx="8229600" cy="411480"/>
          </a:xfrm>
          <a:prstGeom prst="rect">
            <a:avLst/>
          </a:prstGeom>
          <a:noFill/>
          <a:ln/>
        </p:spPr>
        <p:txBody>
          <a:bodyPr wrap="square" lIns="0" tIns="0" rIns="0" bIns="0" rtlCol="0" anchor="ctr"/>
          <a:lstStyle/>
          <a:p>
            <a:pPr indent="0" marL="0">
              <a:buNone/>
            </a:pPr>
            <a:r>
              <a:rPr lang="en-US" sz="1300" i="1" dirty="0">
                <a:solidFill>
                  <a:srgbClr val="8A94A8"/>
                </a:solidFill>
                <a:latin typeface="Calibri" pitchFamily="34" charset="0"/>
                <a:ea typeface="Calibri" pitchFamily="34" charset="-122"/>
                <a:cs typeface="Calibri" pitchFamily="34" charset="-120"/>
              </a:rPr>
              <a:t>One error never stops the agent: the cycle is skipped, the error is logged, and it tries again next cycle.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100" b="1" spc="300" kern="0" dirty="0">
                <a:solidFill>
                  <a:srgbClr val="E8B04B"/>
                </a:solidFill>
                <a:latin typeface="Calibri" pitchFamily="34" charset="0"/>
                <a:ea typeface="Calibri" pitchFamily="34" charset="-122"/>
                <a:cs typeface="Calibri" pitchFamily="34" charset="-120"/>
              </a:rPr>
              <a:t>WHY AVALANCHE</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t"/>
          <a:lstStyle/>
          <a:p>
            <a:pPr indent="0" marL="0">
              <a:buNone/>
            </a:pPr>
            <a:r>
              <a:rPr lang="en-US" sz="3000" b="1" dirty="0">
                <a:solidFill>
                  <a:srgbClr val="E6EAF2"/>
                </a:solidFill>
                <a:latin typeface="Cambria" pitchFamily="34" charset="0"/>
                <a:ea typeface="Cambria" pitchFamily="34" charset="-122"/>
                <a:cs typeface="Cambria" pitchFamily="34" charset="-120"/>
              </a:rPr>
              <a:t>The sealed envelope</a:t>
            </a:r>
            <a:endParaRPr lang="en-US" sz="3000" dirty="0"/>
          </a:p>
        </p:txBody>
      </p:sp>
      <p:sp>
        <p:nvSpPr>
          <p:cNvPr id="4" name="Shape 2"/>
          <p:cNvSpPr/>
          <p:nvPr/>
        </p:nvSpPr>
        <p:spPr>
          <a:xfrm>
            <a:off x="457200" y="1325880"/>
            <a:ext cx="2514600" cy="1600200"/>
          </a:xfrm>
          <a:prstGeom prst="roundRect">
            <a:avLst>
              <a:gd name="adj" fmla="val 6857"/>
            </a:avLst>
          </a:prstGeom>
          <a:solidFill>
            <a:srgbClr val="121722"/>
          </a:solidFill>
          <a:ln w="9525">
            <a:solidFill>
              <a:srgbClr val="263043"/>
            </a:solidFill>
            <a:prstDash val="solid"/>
          </a:ln>
        </p:spPr>
      </p:sp>
      <p:sp>
        <p:nvSpPr>
          <p:cNvPr id="5" name="Shape 3"/>
          <p:cNvSpPr/>
          <p:nvPr/>
        </p:nvSpPr>
        <p:spPr>
          <a:xfrm>
            <a:off x="640080" y="1481328"/>
            <a:ext cx="411480" cy="411480"/>
          </a:xfrm>
          <a:prstGeom prst="ellipse">
            <a:avLst/>
          </a:prstGeom>
          <a:solidFill>
            <a:srgbClr val="0B0E14"/>
          </a:solidFill>
          <a:ln w="19050">
            <a:solidFill>
              <a:srgbClr val="8B9CFF"/>
            </a:solidFill>
            <a:prstDash val="solid"/>
          </a:ln>
        </p:spPr>
      </p:sp>
      <p:sp>
        <p:nvSpPr>
          <p:cNvPr id="6" name="Text 4"/>
          <p:cNvSpPr/>
          <p:nvPr/>
        </p:nvSpPr>
        <p:spPr>
          <a:xfrm>
            <a:off x="640080" y="1481328"/>
            <a:ext cx="411480" cy="411480"/>
          </a:xfrm>
          <a:prstGeom prst="rect">
            <a:avLst/>
          </a:prstGeom>
          <a:noFill/>
          <a:ln/>
        </p:spPr>
        <p:txBody>
          <a:bodyPr wrap="square" lIns="0" tIns="0" rIns="0" bIns="0" rtlCol="0" anchor="ctr"/>
          <a:lstStyle/>
          <a:p>
            <a:pPr algn="ctr" indent="0" marL="0">
              <a:buNone/>
            </a:pPr>
            <a:r>
              <a:rPr lang="en-US" sz="1300" b="1" dirty="0">
                <a:solidFill>
                  <a:srgbClr val="8B9C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481328"/>
            <a:ext cx="1645920" cy="411480"/>
          </a:xfrm>
          <a:prstGeom prst="rect">
            <a:avLst/>
          </a:prstGeom>
          <a:noFill/>
          <a:ln/>
        </p:spPr>
        <p:txBody>
          <a:bodyPr wrap="square" lIns="0" tIns="0" rIns="0" bIns="0" rtlCol="0" anchor="ctr"/>
          <a:lstStyle/>
          <a:p>
            <a:pPr indent="0" marL="0">
              <a:buNone/>
            </a:pPr>
            <a:r>
              <a:rPr lang="en-US" sz="2000" b="1" dirty="0">
                <a:solidFill>
                  <a:srgbClr val="E6EAF2"/>
                </a:solidFill>
                <a:latin typeface="Cambria" pitchFamily="34" charset="0"/>
                <a:ea typeface="Cambria" pitchFamily="34" charset="-122"/>
                <a:cs typeface="Cambria" pitchFamily="34" charset="-120"/>
              </a:rPr>
              <a:t>Seal</a:t>
            </a:r>
            <a:endParaRPr lang="en-US" sz="2000" dirty="0"/>
          </a:p>
        </p:txBody>
      </p:sp>
      <p:sp>
        <p:nvSpPr>
          <p:cNvPr id="8" name="Text 6"/>
          <p:cNvSpPr/>
          <p:nvPr/>
        </p:nvSpPr>
        <p:spPr>
          <a:xfrm>
            <a:off x="640080" y="2011680"/>
            <a:ext cx="2148840" cy="868680"/>
          </a:xfrm>
          <a:prstGeom prst="rect">
            <a:avLst/>
          </a:prstGeom>
          <a:noFill/>
          <a:ln/>
        </p:spPr>
        <p:txBody>
          <a:bodyPr wrap="square" lIns="0" tIns="0" rIns="0" bIns="0" rtlCol="0" anchor="t"/>
          <a:lstStyle/>
          <a:p>
            <a:pPr indent="0" marL="0">
              <a:buNone/>
            </a:pPr>
            <a:r>
              <a:rPr lang="en-US" sz="1200" dirty="0">
                <a:solidFill>
                  <a:srgbClr val="8A94A8"/>
                </a:solidFill>
                <a:latin typeface="Calibri" pitchFamily="34" charset="0"/>
                <a:ea typeface="Calibri" pitchFamily="34" charset="-122"/>
                <a:cs typeface="Calibri" pitchFamily="34" charset="-120"/>
              </a:rPr>
              <a:t>Before the order, a fingerprint of the decision is written to Avalanche.</a:t>
            </a:r>
            <a:endParaRPr lang="en-US" sz="1200" dirty="0"/>
          </a:p>
        </p:txBody>
      </p:sp>
      <p:sp>
        <p:nvSpPr>
          <p:cNvPr id="9" name="Text 7"/>
          <p:cNvSpPr/>
          <p:nvPr/>
        </p:nvSpPr>
        <p:spPr>
          <a:xfrm>
            <a:off x="2971800" y="1874520"/>
            <a:ext cx="320040" cy="457200"/>
          </a:xfrm>
          <a:prstGeom prst="rect">
            <a:avLst/>
          </a:prstGeom>
          <a:noFill/>
          <a:ln/>
        </p:spPr>
        <p:txBody>
          <a:bodyPr wrap="square" lIns="0" tIns="0" rIns="0" bIns="0" rtlCol="0" anchor="ctr"/>
          <a:lstStyle/>
          <a:p>
            <a:pPr algn="ctr" indent="0" marL="0">
              <a:buNone/>
            </a:pPr>
            <a:r>
              <a:rPr lang="en-US" sz="2000" dirty="0">
                <a:solidFill>
                  <a:srgbClr val="E8B04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291840" y="1325880"/>
            <a:ext cx="2514600" cy="1600200"/>
          </a:xfrm>
          <a:prstGeom prst="roundRect">
            <a:avLst>
              <a:gd name="adj" fmla="val 6857"/>
            </a:avLst>
          </a:prstGeom>
          <a:solidFill>
            <a:srgbClr val="121722"/>
          </a:solidFill>
          <a:ln w="9525">
            <a:solidFill>
              <a:srgbClr val="263043"/>
            </a:solidFill>
            <a:prstDash val="solid"/>
          </a:ln>
        </p:spPr>
      </p:sp>
      <p:sp>
        <p:nvSpPr>
          <p:cNvPr id="11" name="Shape 9"/>
          <p:cNvSpPr/>
          <p:nvPr/>
        </p:nvSpPr>
        <p:spPr>
          <a:xfrm>
            <a:off x="3474720" y="1481328"/>
            <a:ext cx="411480" cy="411480"/>
          </a:xfrm>
          <a:prstGeom prst="ellipse">
            <a:avLst/>
          </a:prstGeom>
          <a:solidFill>
            <a:srgbClr val="0B0E14"/>
          </a:solidFill>
          <a:ln w="19050">
            <a:solidFill>
              <a:srgbClr val="E8B04B"/>
            </a:solidFill>
            <a:prstDash val="solid"/>
          </a:ln>
        </p:spPr>
      </p:sp>
      <p:sp>
        <p:nvSpPr>
          <p:cNvPr id="12" name="Text 10"/>
          <p:cNvSpPr/>
          <p:nvPr/>
        </p:nvSpPr>
        <p:spPr>
          <a:xfrm>
            <a:off x="3474720" y="1481328"/>
            <a:ext cx="411480" cy="41148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023360" y="1481328"/>
            <a:ext cx="1645920" cy="411480"/>
          </a:xfrm>
          <a:prstGeom prst="rect">
            <a:avLst/>
          </a:prstGeom>
          <a:noFill/>
          <a:ln/>
        </p:spPr>
        <p:txBody>
          <a:bodyPr wrap="square" lIns="0" tIns="0" rIns="0" bIns="0" rtlCol="0" anchor="ctr"/>
          <a:lstStyle/>
          <a:p>
            <a:pPr indent="0" marL="0">
              <a:buNone/>
            </a:pPr>
            <a:r>
              <a:rPr lang="en-US" sz="2000" b="1" dirty="0">
                <a:solidFill>
                  <a:srgbClr val="E6EAF2"/>
                </a:solidFill>
                <a:latin typeface="Cambria" pitchFamily="34" charset="0"/>
                <a:ea typeface="Cambria" pitchFamily="34" charset="-122"/>
                <a:cs typeface="Cambria" pitchFamily="34" charset="-120"/>
              </a:rPr>
              <a:t>Trade</a:t>
            </a:r>
            <a:endParaRPr lang="en-US" sz="2000" dirty="0"/>
          </a:p>
        </p:txBody>
      </p:sp>
      <p:sp>
        <p:nvSpPr>
          <p:cNvPr id="14" name="Text 12"/>
          <p:cNvSpPr/>
          <p:nvPr/>
        </p:nvSpPr>
        <p:spPr>
          <a:xfrm>
            <a:off x="3474720" y="2011680"/>
            <a:ext cx="2148840" cy="868680"/>
          </a:xfrm>
          <a:prstGeom prst="rect">
            <a:avLst/>
          </a:prstGeom>
          <a:noFill/>
          <a:ln/>
        </p:spPr>
        <p:txBody>
          <a:bodyPr wrap="square" lIns="0" tIns="0" rIns="0" bIns="0" rtlCol="0" anchor="t"/>
          <a:lstStyle/>
          <a:p>
            <a:pPr indent="0" marL="0">
              <a:buNone/>
            </a:pPr>
            <a:r>
              <a:rPr lang="en-US" sz="1200" dirty="0">
                <a:solidFill>
                  <a:srgbClr val="8A94A8"/>
                </a:solidFill>
                <a:latin typeface="Calibri" pitchFamily="34" charset="0"/>
                <a:ea typeface="Calibri" pitchFamily="34" charset="-122"/>
                <a:cs typeface="Calibri" pitchFamily="34" charset="-120"/>
              </a:rPr>
              <a:t>The order goes to OKX TR (or is simulated in practice mode).</a:t>
            </a:r>
            <a:endParaRPr lang="en-US" sz="1200" dirty="0"/>
          </a:p>
        </p:txBody>
      </p:sp>
      <p:sp>
        <p:nvSpPr>
          <p:cNvPr id="15" name="Text 13"/>
          <p:cNvSpPr/>
          <p:nvPr/>
        </p:nvSpPr>
        <p:spPr>
          <a:xfrm>
            <a:off x="5806440" y="1874520"/>
            <a:ext cx="320040" cy="457200"/>
          </a:xfrm>
          <a:prstGeom prst="rect">
            <a:avLst/>
          </a:prstGeom>
          <a:noFill/>
          <a:ln/>
        </p:spPr>
        <p:txBody>
          <a:bodyPr wrap="square" lIns="0" tIns="0" rIns="0" bIns="0" rtlCol="0" anchor="ctr"/>
          <a:lstStyle/>
          <a:p>
            <a:pPr algn="ctr" indent="0" marL="0">
              <a:buNone/>
            </a:pPr>
            <a:r>
              <a:rPr lang="en-US" sz="2000" dirty="0">
                <a:solidFill>
                  <a:srgbClr val="E8B04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126480" y="1325880"/>
            <a:ext cx="2514600" cy="1600200"/>
          </a:xfrm>
          <a:prstGeom prst="roundRect">
            <a:avLst>
              <a:gd name="adj" fmla="val 6857"/>
            </a:avLst>
          </a:prstGeom>
          <a:solidFill>
            <a:srgbClr val="121722"/>
          </a:solidFill>
          <a:ln w="9525">
            <a:solidFill>
              <a:srgbClr val="263043"/>
            </a:solidFill>
            <a:prstDash val="solid"/>
          </a:ln>
        </p:spPr>
      </p:sp>
      <p:sp>
        <p:nvSpPr>
          <p:cNvPr id="17" name="Shape 15"/>
          <p:cNvSpPr/>
          <p:nvPr/>
        </p:nvSpPr>
        <p:spPr>
          <a:xfrm>
            <a:off x="6309360" y="1481328"/>
            <a:ext cx="411480" cy="411480"/>
          </a:xfrm>
          <a:prstGeom prst="ellipse">
            <a:avLst/>
          </a:prstGeom>
          <a:solidFill>
            <a:srgbClr val="0B0E14"/>
          </a:solidFill>
          <a:ln w="19050">
            <a:solidFill>
              <a:srgbClr val="8B9CFF"/>
            </a:solidFill>
            <a:prstDash val="solid"/>
          </a:ln>
        </p:spPr>
      </p:sp>
      <p:sp>
        <p:nvSpPr>
          <p:cNvPr id="18" name="Text 16"/>
          <p:cNvSpPr/>
          <p:nvPr/>
        </p:nvSpPr>
        <p:spPr>
          <a:xfrm>
            <a:off x="6309360" y="1481328"/>
            <a:ext cx="411480" cy="411480"/>
          </a:xfrm>
          <a:prstGeom prst="rect">
            <a:avLst/>
          </a:prstGeom>
          <a:noFill/>
          <a:ln/>
        </p:spPr>
        <p:txBody>
          <a:bodyPr wrap="square" lIns="0" tIns="0" rIns="0" bIns="0" rtlCol="0" anchor="ctr"/>
          <a:lstStyle/>
          <a:p>
            <a:pPr algn="ctr" indent="0" marL="0">
              <a:buNone/>
            </a:pPr>
            <a:r>
              <a:rPr lang="en-US" sz="1300" b="1" dirty="0">
                <a:solidFill>
                  <a:srgbClr val="8B9C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858000" y="1481328"/>
            <a:ext cx="1645920" cy="411480"/>
          </a:xfrm>
          <a:prstGeom prst="rect">
            <a:avLst/>
          </a:prstGeom>
          <a:noFill/>
          <a:ln/>
        </p:spPr>
        <p:txBody>
          <a:bodyPr wrap="square" lIns="0" tIns="0" rIns="0" bIns="0" rtlCol="0" anchor="ctr"/>
          <a:lstStyle/>
          <a:p>
            <a:pPr indent="0" marL="0">
              <a:buNone/>
            </a:pPr>
            <a:r>
              <a:rPr lang="en-US" sz="2000" b="1" dirty="0">
                <a:solidFill>
                  <a:srgbClr val="E6EAF2"/>
                </a:solidFill>
                <a:latin typeface="Cambria" pitchFamily="34" charset="0"/>
                <a:ea typeface="Cambria" pitchFamily="34" charset="-122"/>
                <a:cs typeface="Cambria" pitchFamily="34" charset="-120"/>
              </a:rPr>
              <a:t>Open</a:t>
            </a:r>
            <a:endParaRPr lang="en-US" sz="2000" dirty="0"/>
          </a:p>
        </p:txBody>
      </p:sp>
      <p:sp>
        <p:nvSpPr>
          <p:cNvPr id="20" name="Text 18"/>
          <p:cNvSpPr/>
          <p:nvPr/>
        </p:nvSpPr>
        <p:spPr>
          <a:xfrm>
            <a:off x="6309360" y="2011680"/>
            <a:ext cx="2148840" cy="868680"/>
          </a:xfrm>
          <a:prstGeom prst="rect">
            <a:avLst/>
          </a:prstGeom>
          <a:noFill/>
          <a:ln/>
        </p:spPr>
        <p:txBody>
          <a:bodyPr wrap="square" lIns="0" tIns="0" rIns="0" bIns="0" rtlCol="0" anchor="t"/>
          <a:lstStyle/>
          <a:p>
            <a:pPr indent="0" marL="0">
              <a:buNone/>
            </a:pPr>
            <a:r>
              <a:rPr lang="en-US" sz="1200" dirty="0">
                <a:solidFill>
                  <a:srgbClr val="8A94A8"/>
                </a:solidFill>
                <a:latin typeface="Calibri" pitchFamily="34" charset="0"/>
                <a:ea typeface="Calibri" pitchFamily="34" charset="-122"/>
                <a:cs typeface="Calibri" pitchFamily="34" charset="-120"/>
              </a:rPr>
              <a:t>The full decision is published. Anyone can check it matches the seal.</a:t>
            </a:r>
            <a:endParaRPr lang="en-US" sz="1200" dirty="0"/>
          </a:p>
        </p:txBody>
      </p:sp>
      <p:sp>
        <p:nvSpPr>
          <p:cNvPr id="21" name="Shape 19"/>
          <p:cNvSpPr/>
          <p:nvPr/>
        </p:nvSpPr>
        <p:spPr>
          <a:xfrm>
            <a:off x="457200" y="3108960"/>
            <a:ext cx="3977640" cy="1097280"/>
          </a:xfrm>
          <a:prstGeom prst="roundRect">
            <a:avLst>
              <a:gd name="adj" fmla="val 10000"/>
            </a:avLst>
          </a:prstGeom>
          <a:solidFill>
            <a:srgbClr val="1A2130"/>
          </a:solidFill>
          <a:ln w="9525">
            <a:solidFill>
              <a:srgbClr val="263043"/>
            </a:solidFill>
            <a:prstDash val="solid"/>
          </a:ln>
        </p:spPr>
      </p:sp>
      <p:sp>
        <p:nvSpPr>
          <p:cNvPr id="22" name="Text 20"/>
          <p:cNvSpPr/>
          <p:nvPr/>
        </p:nvSpPr>
        <p:spPr>
          <a:xfrm>
            <a:off x="640080" y="3200400"/>
            <a:ext cx="3657600" cy="320040"/>
          </a:xfrm>
          <a:prstGeom prst="rect">
            <a:avLst/>
          </a:prstGeom>
          <a:noFill/>
          <a:ln/>
        </p:spPr>
        <p:txBody>
          <a:bodyPr wrap="square" lIns="0" tIns="0" rIns="0" bIns="0" rtlCol="0" anchor="ctr"/>
          <a:lstStyle/>
          <a:p>
            <a:pPr indent="0" marL="0">
              <a:buNone/>
            </a:pPr>
            <a:r>
              <a:rPr lang="en-US" sz="1400" b="1" dirty="0">
                <a:solidFill>
                  <a:srgbClr val="E8B04B"/>
                </a:solidFill>
                <a:latin typeface="Calibri" pitchFamily="34" charset="0"/>
                <a:ea typeface="Calibri" pitchFamily="34" charset="-122"/>
                <a:cs typeface="Calibri" pitchFamily="34" charset="-120"/>
              </a:rPr>
              <a:t>No hiding bad calls</a:t>
            </a:r>
            <a:endParaRPr lang="en-US" sz="1400" dirty="0"/>
          </a:p>
        </p:txBody>
      </p:sp>
      <p:sp>
        <p:nvSpPr>
          <p:cNvPr id="23" name="Text 21"/>
          <p:cNvSpPr/>
          <p:nvPr/>
        </p:nvSpPr>
        <p:spPr>
          <a:xfrm>
            <a:off x="640080" y="3520440"/>
            <a:ext cx="3657600" cy="640080"/>
          </a:xfrm>
          <a:prstGeom prst="rect">
            <a:avLst/>
          </a:prstGeom>
          <a:noFill/>
          <a:ln/>
        </p:spPr>
        <p:txBody>
          <a:bodyPr wrap="square" lIns="0" tIns="0" rIns="0" bIns="0" rtlCol="0" anchor="t"/>
          <a:lstStyle/>
          <a:p>
            <a:pPr indent="0" marL="0">
              <a:buNone/>
            </a:pPr>
            <a:r>
              <a:rPr lang="en-US" sz="1200" dirty="0">
                <a:solidFill>
                  <a:srgbClr val="E6EAF2"/>
                </a:solidFill>
                <a:latin typeface="Calibri" pitchFamily="34" charset="0"/>
                <a:ea typeface="Calibri" pitchFamily="34" charset="-122"/>
                <a:cs typeface="Calibri" pitchFamily="34" charset="-120"/>
              </a:rPr>
              <a:t>Unopened envelopes are counted on chain. Anyone can see if the agent skipped one.</a:t>
            </a:r>
            <a:endParaRPr lang="en-US" sz="1200" dirty="0"/>
          </a:p>
        </p:txBody>
      </p:sp>
      <p:sp>
        <p:nvSpPr>
          <p:cNvPr id="24" name="Shape 22"/>
          <p:cNvSpPr/>
          <p:nvPr/>
        </p:nvSpPr>
        <p:spPr>
          <a:xfrm>
            <a:off x="4663440" y="3108960"/>
            <a:ext cx="3977640" cy="1097280"/>
          </a:xfrm>
          <a:prstGeom prst="roundRect">
            <a:avLst>
              <a:gd name="adj" fmla="val 10000"/>
            </a:avLst>
          </a:prstGeom>
          <a:solidFill>
            <a:srgbClr val="1A2130"/>
          </a:solidFill>
          <a:ln w="9525">
            <a:solidFill>
              <a:srgbClr val="263043"/>
            </a:solidFill>
            <a:prstDash val="solid"/>
          </a:ln>
        </p:spPr>
      </p:sp>
      <p:sp>
        <p:nvSpPr>
          <p:cNvPr id="25" name="Text 23"/>
          <p:cNvSpPr/>
          <p:nvPr/>
        </p:nvSpPr>
        <p:spPr>
          <a:xfrm>
            <a:off x="4846320" y="3200400"/>
            <a:ext cx="3657600" cy="320040"/>
          </a:xfrm>
          <a:prstGeom prst="rect">
            <a:avLst/>
          </a:prstGeom>
          <a:noFill/>
          <a:ln/>
        </p:spPr>
        <p:txBody>
          <a:bodyPr wrap="square" lIns="0" tIns="0" rIns="0" bIns="0" rtlCol="0" anchor="ctr"/>
          <a:lstStyle/>
          <a:p>
            <a:pPr indent="0" marL="0">
              <a:buNone/>
            </a:pPr>
            <a:r>
              <a:rPr lang="en-US" sz="1400" b="1" dirty="0">
                <a:solidFill>
                  <a:srgbClr val="E8B04B"/>
                </a:solidFill>
                <a:latin typeface="Calibri" pitchFamily="34" charset="0"/>
                <a:ea typeface="Calibri" pitchFamily="34" charset="-122"/>
                <a:cs typeface="Calibri" pitchFamily="34" charset="-120"/>
              </a:rPr>
              <a:t>An ID card on chain</a:t>
            </a:r>
            <a:endParaRPr lang="en-US" sz="1400" dirty="0"/>
          </a:p>
        </p:txBody>
      </p:sp>
      <p:sp>
        <p:nvSpPr>
          <p:cNvPr id="26" name="Text 24"/>
          <p:cNvSpPr/>
          <p:nvPr/>
        </p:nvSpPr>
        <p:spPr>
          <a:xfrm>
            <a:off x="4846320" y="3520440"/>
            <a:ext cx="3657600" cy="640080"/>
          </a:xfrm>
          <a:prstGeom prst="rect">
            <a:avLst/>
          </a:prstGeom>
          <a:noFill/>
          <a:ln/>
        </p:spPr>
        <p:txBody>
          <a:bodyPr wrap="square" lIns="0" tIns="0" rIns="0" bIns="0" rtlCol="0" anchor="t"/>
          <a:lstStyle/>
          <a:p>
            <a:pPr indent="0" marL="0">
              <a:buNone/>
            </a:pPr>
            <a:r>
              <a:rPr lang="en-US" sz="1200" dirty="0">
                <a:solidFill>
                  <a:srgbClr val="E6EAF2"/>
                </a:solidFill>
                <a:latin typeface="Calibri" pitchFamily="34" charset="0"/>
                <a:ea typeface="Calibri" pitchFamily="34" charset="-122"/>
                <a:cs typeface="Calibri" pitchFamily="34" charset="-120"/>
              </a:rPr>
              <a:t>GRAIL is registered as agent #1 on Avalanche Fuji (ERC‑8004 standard). Only it can write to its record.</a:t>
            </a:r>
            <a:endParaRPr lang="en-US" sz="1200" dirty="0"/>
          </a:p>
        </p:txBody>
      </p:sp>
      <p:sp>
        <p:nvSpPr>
          <p:cNvPr id="27" name="Text 25"/>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dirty="0">
                <a:solidFill>
                  <a:srgbClr val="8B9CFF"/>
                </a:solidFill>
                <a:latin typeface="Courier New" pitchFamily="34" charset="0"/>
                <a:ea typeface="Courier New" pitchFamily="34" charset="-122"/>
                <a:cs typeface="Courier New" pitchFamily="34" charset="-120"/>
              </a:rPr>
              <a:t>Record contract (Fuji): 0x1B5fcf6DeFf2F9375338A2C35932224522118851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100" b="1" spc="300" kern="0" dirty="0">
                <a:solidFill>
                  <a:srgbClr val="E8B04B"/>
                </a:solidFill>
                <a:latin typeface="Calibri" pitchFamily="34" charset="0"/>
                <a:ea typeface="Calibri" pitchFamily="34" charset="-122"/>
                <a:cs typeface="Calibri" pitchFamily="34" charset="-120"/>
              </a:rPr>
              <a:t>LIVE DEMO</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t"/>
          <a:lstStyle/>
          <a:p>
            <a:pPr indent="0" marL="0">
              <a:buNone/>
            </a:pPr>
            <a:r>
              <a:rPr lang="en-US" sz="3000" b="1" dirty="0">
                <a:solidFill>
                  <a:srgbClr val="E6EAF2"/>
                </a:solidFill>
                <a:latin typeface="Cambria" pitchFamily="34" charset="0"/>
                <a:ea typeface="Cambria" pitchFamily="34" charset="-122"/>
                <a:cs typeface="Cambria" pitchFamily="34" charset="-120"/>
              </a:rPr>
              <a:t>Don't trust us — check it yourself</a:t>
            </a:r>
            <a:endParaRPr lang="en-US" sz="3000" dirty="0"/>
          </a:p>
        </p:txBody>
      </p:sp>
      <p:sp>
        <p:nvSpPr>
          <p:cNvPr id="4" name="Shape 2"/>
          <p:cNvSpPr/>
          <p:nvPr/>
        </p:nvSpPr>
        <p:spPr>
          <a:xfrm>
            <a:off x="457200" y="1325880"/>
            <a:ext cx="1508760" cy="1463040"/>
          </a:xfrm>
          <a:prstGeom prst="roundRect">
            <a:avLst>
              <a:gd name="adj" fmla="val 7500"/>
            </a:avLst>
          </a:prstGeom>
          <a:solidFill>
            <a:srgbClr val="121722"/>
          </a:solidFill>
          <a:ln w="9525">
            <a:solidFill>
              <a:srgbClr val="263043"/>
            </a:solidFill>
            <a:prstDash val="solid"/>
          </a:ln>
        </p:spPr>
      </p:sp>
      <p:sp>
        <p:nvSpPr>
          <p:cNvPr id="5" name="Shape 3"/>
          <p:cNvSpPr/>
          <p:nvPr/>
        </p:nvSpPr>
        <p:spPr>
          <a:xfrm>
            <a:off x="594360" y="1463040"/>
            <a:ext cx="365760" cy="365760"/>
          </a:xfrm>
          <a:prstGeom prst="ellipse">
            <a:avLst/>
          </a:prstGeom>
          <a:solidFill>
            <a:srgbClr val="0B0E14"/>
          </a:solidFill>
          <a:ln w="19050">
            <a:solidFill>
              <a:srgbClr val="E8B04B"/>
            </a:solidFill>
            <a:prstDash val="solid"/>
          </a:ln>
        </p:spPr>
      </p:sp>
      <p:sp>
        <p:nvSpPr>
          <p:cNvPr id="6" name="Text 4"/>
          <p:cNvSpPr/>
          <p:nvPr/>
        </p:nvSpPr>
        <p:spPr>
          <a:xfrm>
            <a:off x="594360" y="1463040"/>
            <a:ext cx="365760" cy="36576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594360" y="1901952"/>
            <a:ext cx="1280160" cy="320040"/>
          </a:xfrm>
          <a:prstGeom prst="rect">
            <a:avLst/>
          </a:prstGeom>
          <a:noFill/>
          <a:ln/>
        </p:spPr>
        <p:txBody>
          <a:bodyPr wrap="square" lIns="0" tIns="0" rIns="0" bIns="0" rtlCol="0" anchor="ctr"/>
          <a:lstStyle/>
          <a:p>
            <a:pPr indent="0" marL="0">
              <a:buNone/>
            </a:pPr>
            <a:r>
              <a:rPr lang="en-US" sz="1400" b="1" dirty="0">
                <a:solidFill>
                  <a:srgbClr val="E6EAF2"/>
                </a:solidFill>
                <a:latin typeface="Calibri" pitchFamily="34" charset="0"/>
                <a:ea typeface="Calibri" pitchFamily="34" charset="-122"/>
                <a:cs typeface="Calibri" pitchFamily="34" charset="-120"/>
              </a:rPr>
              <a:t>Dashboard</a:t>
            </a:r>
            <a:endParaRPr lang="en-US" sz="1400" dirty="0"/>
          </a:p>
        </p:txBody>
      </p:sp>
      <p:sp>
        <p:nvSpPr>
          <p:cNvPr id="8" name="Text 6"/>
          <p:cNvSpPr/>
          <p:nvPr/>
        </p:nvSpPr>
        <p:spPr>
          <a:xfrm>
            <a:off x="594360" y="2221992"/>
            <a:ext cx="1280160" cy="548640"/>
          </a:xfrm>
          <a:prstGeom prst="rect">
            <a:avLst/>
          </a:prstGeom>
          <a:noFill/>
          <a:ln/>
        </p:spPr>
        <p:txBody>
          <a:bodyPr wrap="square" lIns="0" tIns="0" rIns="0" bIns="0" rtlCol="0" anchor="t"/>
          <a:lstStyle/>
          <a:p>
            <a:pPr indent="0" marL="0">
              <a:buNone/>
            </a:pPr>
            <a:r>
              <a:rPr lang="en-US" sz="1100" dirty="0">
                <a:solidFill>
                  <a:srgbClr val="8A94A8"/>
                </a:solidFill>
                <a:latin typeface="Calibri" pitchFamily="34" charset="0"/>
                <a:ea typeface="Calibri" pitchFamily="34" charset="-122"/>
                <a:cs typeface="Calibri" pitchFamily="34" charset="-120"/>
              </a:rPr>
              <a:t>Independent bets and the live curve</a:t>
            </a:r>
            <a:endParaRPr lang="en-US" sz="1100" dirty="0"/>
          </a:p>
        </p:txBody>
      </p:sp>
      <p:sp>
        <p:nvSpPr>
          <p:cNvPr id="9" name="Shape 7"/>
          <p:cNvSpPr/>
          <p:nvPr/>
        </p:nvSpPr>
        <p:spPr>
          <a:xfrm>
            <a:off x="2121408" y="1325880"/>
            <a:ext cx="1508760" cy="1463040"/>
          </a:xfrm>
          <a:prstGeom prst="roundRect">
            <a:avLst>
              <a:gd name="adj" fmla="val 7500"/>
            </a:avLst>
          </a:prstGeom>
          <a:solidFill>
            <a:srgbClr val="121722"/>
          </a:solidFill>
          <a:ln w="9525">
            <a:solidFill>
              <a:srgbClr val="263043"/>
            </a:solidFill>
            <a:prstDash val="solid"/>
          </a:ln>
        </p:spPr>
      </p:sp>
      <p:sp>
        <p:nvSpPr>
          <p:cNvPr id="10" name="Shape 8"/>
          <p:cNvSpPr/>
          <p:nvPr/>
        </p:nvSpPr>
        <p:spPr>
          <a:xfrm>
            <a:off x="2258568" y="1463040"/>
            <a:ext cx="365760" cy="365760"/>
          </a:xfrm>
          <a:prstGeom prst="ellipse">
            <a:avLst/>
          </a:prstGeom>
          <a:solidFill>
            <a:srgbClr val="0B0E14"/>
          </a:solidFill>
          <a:ln w="19050">
            <a:solidFill>
              <a:srgbClr val="E8B04B"/>
            </a:solidFill>
            <a:prstDash val="solid"/>
          </a:ln>
        </p:spPr>
      </p:sp>
      <p:sp>
        <p:nvSpPr>
          <p:cNvPr id="11" name="Text 9"/>
          <p:cNvSpPr/>
          <p:nvPr/>
        </p:nvSpPr>
        <p:spPr>
          <a:xfrm>
            <a:off x="2258568" y="1463040"/>
            <a:ext cx="365760" cy="36576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2258568" y="1901952"/>
            <a:ext cx="1280160" cy="320040"/>
          </a:xfrm>
          <a:prstGeom prst="rect">
            <a:avLst/>
          </a:prstGeom>
          <a:noFill/>
          <a:ln/>
        </p:spPr>
        <p:txBody>
          <a:bodyPr wrap="square" lIns="0" tIns="0" rIns="0" bIns="0" rtlCol="0" anchor="ctr"/>
          <a:lstStyle/>
          <a:p>
            <a:pPr indent="0" marL="0">
              <a:buNone/>
            </a:pPr>
            <a:r>
              <a:rPr lang="en-US" sz="1400" b="1" dirty="0">
                <a:solidFill>
                  <a:srgbClr val="E6EAF2"/>
                </a:solidFill>
                <a:latin typeface="Calibri" pitchFamily="34" charset="0"/>
                <a:ea typeface="Calibri" pitchFamily="34" charset="-122"/>
                <a:cs typeface="Calibri" pitchFamily="34" charset="-120"/>
              </a:rPr>
              <a:t>Record</a:t>
            </a:r>
            <a:endParaRPr lang="en-US" sz="1400" dirty="0"/>
          </a:p>
        </p:txBody>
      </p:sp>
      <p:sp>
        <p:nvSpPr>
          <p:cNvPr id="13" name="Text 11"/>
          <p:cNvSpPr/>
          <p:nvPr/>
        </p:nvSpPr>
        <p:spPr>
          <a:xfrm>
            <a:off x="2258568" y="2221992"/>
            <a:ext cx="1280160" cy="548640"/>
          </a:xfrm>
          <a:prstGeom prst="rect">
            <a:avLst/>
          </a:prstGeom>
          <a:noFill/>
          <a:ln/>
        </p:spPr>
        <p:txBody>
          <a:bodyPr wrap="square" lIns="0" tIns="0" rIns="0" bIns="0" rtlCol="0" anchor="t"/>
          <a:lstStyle/>
          <a:p>
            <a:pPr indent="0" marL="0">
              <a:buNone/>
            </a:pPr>
            <a:r>
              <a:rPr lang="en-US" sz="1100" dirty="0">
                <a:solidFill>
                  <a:srgbClr val="8A94A8"/>
                </a:solidFill>
                <a:latin typeface="Calibri" pitchFamily="34" charset="0"/>
                <a:ea typeface="Calibri" pitchFamily="34" charset="-122"/>
                <a:cs typeface="Calibri" pitchFamily="34" charset="-120"/>
              </a:rPr>
              <a:t>Envelopes sealed, opened, still closed</a:t>
            </a:r>
            <a:endParaRPr lang="en-US" sz="1100" dirty="0"/>
          </a:p>
        </p:txBody>
      </p:sp>
      <p:sp>
        <p:nvSpPr>
          <p:cNvPr id="14" name="Shape 12"/>
          <p:cNvSpPr/>
          <p:nvPr/>
        </p:nvSpPr>
        <p:spPr>
          <a:xfrm>
            <a:off x="3785616" y="1325880"/>
            <a:ext cx="1508760" cy="1463040"/>
          </a:xfrm>
          <a:prstGeom prst="roundRect">
            <a:avLst>
              <a:gd name="adj" fmla="val 7500"/>
            </a:avLst>
          </a:prstGeom>
          <a:solidFill>
            <a:srgbClr val="121722"/>
          </a:solidFill>
          <a:ln w="9525">
            <a:solidFill>
              <a:srgbClr val="263043"/>
            </a:solidFill>
            <a:prstDash val="solid"/>
          </a:ln>
        </p:spPr>
      </p:sp>
      <p:sp>
        <p:nvSpPr>
          <p:cNvPr id="15" name="Shape 13"/>
          <p:cNvSpPr/>
          <p:nvPr/>
        </p:nvSpPr>
        <p:spPr>
          <a:xfrm>
            <a:off x="3922776" y="1463040"/>
            <a:ext cx="365760" cy="365760"/>
          </a:xfrm>
          <a:prstGeom prst="ellipse">
            <a:avLst/>
          </a:prstGeom>
          <a:solidFill>
            <a:srgbClr val="0B0E14"/>
          </a:solidFill>
          <a:ln w="19050">
            <a:solidFill>
              <a:srgbClr val="E8B04B"/>
            </a:solidFill>
            <a:prstDash val="solid"/>
          </a:ln>
        </p:spPr>
      </p:sp>
      <p:sp>
        <p:nvSpPr>
          <p:cNvPr id="16" name="Text 14"/>
          <p:cNvSpPr/>
          <p:nvPr/>
        </p:nvSpPr>
        <p:spPr>
          <a:xfrm>
            <a:off x="3922776" y="1463040"/>
            <a:ext cx="365760" cy="36576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3922776" y="1901952"/>
            <a:ext cx="1280160" cy="320040"/>
          </a:xfrm>
          <a:prstGeom prst="rect">
            <a:avLst/>
          </a:prstGeom>
          <a:noFill/>
          <a:ln/>
        </p:spPr>
        <p:txBody>
          <a:bodyPr wrap="square" lIns="0" tIns="0" rIns="0" bIns="0" rtlCol="0" anchor="ctr"/>
          <a:lstStyle/>
          <a:p>
            <a:pPr indent="0" marL="0">
              <a:buNone/>
            </a:pPr>
            <a:r>
              <a:rPr lang="en-US" sz="1400" b="1" dirty="0">
                <a:solidFill>
                  <a:srgbClr val="E6EAF2"/>
                </a:solidFill>
                <a:latin typeface="Calibri" pitchFamily="34" charset="0"/>
                <a:ea typeface="Calibri" pitchFamily="34" charset="-122"/>
                <a:cs typeface="Calibri" pitchFamily="34" charset="-120"/>
              </a:rPr>
              <a:t>Decisions</a:t>
            </a:r>
            <a:endParaRPr lang="en-US" sz="1400" dirty="0"/>
          </a:p>
        </p:txBody>
      </p:sp>
      <p:sp>
        <p:nvSpPr>
          <p:cNvPr id="18" name="Text 16"/>
          <p:cNvSpPr/>
          <p:nvPr/>
        </p:nvSpPr>
        <p:spPr>
          <a:xfrm>
            <a:off x="3922776" y="2221992"/>
            <a:ext cx="1280160" cy="548640"/>
          </a:xfrm>
          <a:prstGeom prst="rect">
            <a:avLst/>
          </a:prstGeom>
          <a:noFill/>
          <a:ln/>
        </p:spPr>
        <p:txBody>
          <a:bodyPr wrap="square" lIns="0" tIns="0" rIns="0" bIns="0" rtlCol="0" anchor="t"/>
          <a:lstStyle/>
          <a:p>
            <a:pPr indent="0" marL="0">
              <a:buNone/>
            </a:pPr>
            <a:r>
              <a:rPr lang="en-US" sz="1100" dirty="0">
                <a:solidFill>
                  <a:srgbClr val="8A94A8"/>
                </a:solidFill>
                <a:latin typeface="Calibri" pitchFamily="34" charset="0"/>
                <a:ea typeface="Calibri" pitchFamily="34" charset="-122"/>
                <a:cs typeface="Calibri" pitchFamily="34" charset="-120"/>
              </a:rPr>
              <a:t>One cycle, step by step</a:t>
            </a:r>
            <a:endParaRPr lang="en-US" sz="1100" dirty="0"/>
          </a:p>
        </p:txBody>
      </p:sp>
      <p:sp>
        <p:nvSpPr>
          <p:cNvPr id="19" name="Shape 17"/>
          <p:cNvSpPr/>
          <p:nvPr/>
        </p:nvSpPr>
        <p:spPr>
          <a:xfrm>
            <a:off x="5449824" y="1325880"/>
            <a:ext cx="1508760" cy="1463040"/>
          </a:xfrm>
          <a:prstGeom prst="roundRect">
            <a:avLst>
              <a:gd name="adj" fmla="val 7500"/>
            </a:avLst>
          </a:prstGeom>
          <a:solidFill>
            <a:srgbClr val="1A2130"/>
          </a:solidFill>
          <a:ln w="9525">
            <a:solidFill>
              <a:srgbClr val="263043"/>
            </a:solidFill>
            <a:prstDash val="solid"/>
          </a:ln>
        </p:spPr>
      </p:sp>
      <p:sp>
        <p:nvSpPr>
          <p:cNvPr id="20" name="Shape 18"/>
          <p:cNvSpPr/>
          <p:nvPr/>
        </p:nvSpPr>
        <p:spPr>
          <a:xfrm>
            <a:off x="5586984" y="1463040"/>
            <a:ext cx="365760" cy="365760"/>
          </a:xfrm>
          <a:prstGeom prst="ellipse">
            <a:avLst/>
          </a:prstGeom>
          <a:solidFill>
            <a:srgbClr val="0B0E14"/>
          </a:solidFill>
          <a:ln w="19050">
            <a:solidFill>
              <a:srgbClr val="22C55E"/>
            </a:solidFill>
            <a:prstDash val="solid"/>
          </a:ln>
        </p:spPr>
      </p:sp>
      <p:sp>
        <p:nvSpPr>
          <p:cNvPr id="21" name="Text 19"/>
          <p:cNvSpPr/>
          <p:nvPr/>
        </p:nvSpPr>
        <p:spPr>
          <a:xfrm>
            <a:off x="5586984" y="1463040"/>
            <a:ext cx="365760" cy="365760"/>
          </a:xfrm>
          <a:prstGeom prst="rect">
            <a:avLst/>
          </a:prstGeom>
          <a:noFill/>
          <a:ln/>
        </p:spPr>
        <p:txBody>
          <a:bodyPr wrap="square" lIns="0" tIns="0" rIns="0" bIns="0" rtlCol="0" anchor="ctr"/>
          <a:lstStyle/>
          <a:p>
            <a:pPr algn="ctr" indent="0" marL="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5586984" y="1901952"/>
            <a:ext cx="1280160" cy="320040"/>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Check it</a:t>
            </a:r>
            <a:endParaRPr lang="en-US" sz="1400" dirty="0"/>
          </a:p>
        </p:txBody>
      </p:sp>
      <p:sp>
        <p:nvSpPr>
          <p:cNvPr id="23" name="Text 21"/>
          <p:cNvSpPr/>
          <p:nvPr/>
        </p:nvSpPr>
        <p:spPr>
          <a:xfrm>
            <a:off x="5586984" y="2221992"/>
            <a:ext cx="1280160" cy="548640"/>
          </a:xfrm>
          <a:prstGeom prst="rect">
            <a:avLst/>
          </a:prstGeom>
          <a:noFill/>
          <a:ln/>
        </p:spPr>
        <p:txBody>
          <a:bodyPr wrap="square" lIns="0" tIns="0" rIns="0" bIns="0" rtlCol="0" anchor="t"/>
          <a:lstStyle/>
          <a:p>
            <a:pPr indent="0" marL="0">
              <a:buNone/>
            </a:pPr>
            <a:r>
              <a:rPr lang="en-US" sz="1100" dirty="0">
                <a:solidFill>
                  <a:srgbClr val="8A94A8"/>
                </a:solidFill>
                <a:latin typeface="Calibri" pitchFamily="34" charset="0"/>
                <a:ea typeface="Calibri" pitchFamily="34" charset="-122"/>
                <a:cs typeface="Calibri" pitchFamily="34" charset="-120"/>
              </a:rPr>
              <a:t>Your browser checks the seal again</a:t>
            </a:r>
            <a:endParaRPr lang="en-US" sz="1100" dirty="0"/>
          </a:p>
        </p:txBody>
      </p:sp>
      <p:sp>
        <p:nvSpPr>
          <p:cNvPr id="24" name="Shape 22"/>
          <p:cNvSpPr/>
          <p:nvPr/>
        </p:nvSpPr>
        <p:spPr>
          <a:xfrm>
            <a:off x="7114032" y="1325880"/>
            <a:ext cx="1508760" cy="1463040"/>
          </a:xfrm>
          <a:prstGeom prst="roundRect">
            <a:avLst>
              <a:gd name="adj" fmla="val 7500"/>
            </a:avLst>
          </a:prstGeom>
          <a:solidFill>
            <a:srgbClr val="121722"/>
          </a:solidFill>
          <a:ln w="9525">
            <a:solidFill>
              <a:srgbClr val="263043"/>
            </a:solidFill>
            <a:prstDash val="solid"/>
          </a:ln>
        </p:spPr>
      </p:sp>
      <p:sp>
        <p:nvSpPr>
          <p:cNvPr id="25" name="Shape 23"/>
          <p:cNvSpPr/>
          <p:nvPr/>
        </p:nvSpPr>
        <p:spPr>
          <a:xfrm>
            <a:off x="7251192" y="1463040"/>
            <a:ext cx="365760" cy="365760"/>
          </a:xfrm>
          <a:prstGeom prst="ellipse">
            <a:avLst/>
          </a:prstGeom>
          <a:solidFill>
            <a:srgbClr val="0B0E14"/>
          </a:solidFill>
          <a:ln w="19050">
            <a:solidFill>
              <a:srgbClr val="E8B04B"/>
            </a:solidFill>
            <a:prstDash val="solid"/>
          </a:ln>
        </p:spPr>
      </p:sp>
      <p:sp>
        <p:nvSpPr>
          <p:cNvPr id="26" name="Text 24"/>
          <p:cNvSpPr/>
          <p:nvPr/>
        </p:nvSpPr>
        <p:spPr>
          <a:xfrm>
            <a:off x="7251192" y="1463040"/>
            <a:ext cx="365760" cy="365760"/>
          </a:xfrm>
          <a:prstGeom prst="rect">
            <a:avLst/>
          </a:prstGeom>
          <a:noFill/>
          <a:ln/>
        </p:spPr>
        <p:txBody>
          <a:bodyPr wrap="square" lIns="0" tIns="0" rIns="0" bIns="0" rtlCol="0" anchor="ctr"/>
          <a:lstStyle/>
          <a:p>
            <a:pPr algn="ctr" indent="0" marL="0">
              <a:buNone/>
            </a:pPr>
            <a:r>
              <a:rPr lang="en-US" sz="1300" b="1" dirty="0">
                <a:solidFill>
                  <a:srgbClr val="E8B04B"/>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7251192" y="1901952"/>
            <a:ext cx="1280160" cy="320040"/>
          </a:xfrm>
          <a:prstGeom prst="rect">
            <a:avLst/>
          </a:prstGeom>
          <a:noFill/>
          <a:ln/>
        </p:spPr>
        <p:txBody>
          <a:bodyPr wrap="square" lIns="0" tIns="0" rIns="0" bIns="0" rtlCol="0" anchor="ctr"/>
          <a:lstStyle/>
          <a:p>
            <a:pPr indent="0" marL="0">
              <a:buNone/>
            </a:pPr>
            <a:r>
              <a:rPr lang="en-US" sz="1400" b="1" dirty="0">
                <a:solidFill>
                  <a:srgbClr val="E6EAF2"/>
                </a:solidFill>
                <a:latin typeface="Calibri" pitchFamily="34" charset="0"/>
                <a:ea typeface="Calibri" pitchFamily="34" charset="-122"/>
                <a:cs typeface="Calibri" pitchFamily="34" charset="-120"/>
              </a:rPr>
              <a:t>Limits</a:t>
            </a:r>
            <a:endParaRPr lang="en-US" sz="1400" dirty="0"/>
          </a:p>
        </p:txBody>
      </p:sp>
      <p:sp>
        <p:nvSpPr>
          <p:cNvPr id="28" name="Text 26"/>
          <p:cNvSpPr/>
          <p:nvPr/>
        </p:nvSpPr>
        <p:spPr>
          <a:xfrm>
            <a:off x="7251192" y="2221992"/>
            <a:ext cx="1280160" cy="548640"/>
          </a:xfrm>
          <a:prstGeom prst="rect">
            <a:avLst/>
          </a:prstGeom>
          <a:noFill/>
          <a:ln/>
        </p:spPr>
        <p:txBody>
          <a:bodyPr wrap="square" lIns="0" tIns="0" rIns="0" bIns="0" rtlCol="0" anchor="t"/>
          <a:lstStyle/>
          <a:p>
            <a:pPr indent="0" marL="0">
              <a:buNone/>
            </a:pPr>
            <a:r>
              <a:rPr lang="en-US" sz="1100" dirty="0">
                <a:solidFill>
                  <a:srgbClr val="8A94A8"/>
                </a:solidFill>
                <a:latin typeface="Calibri" pitchFamily="34" charset="0"/>
                <a:ea typeface="Calibri" pitchFamily="34" charset="-122"/>
                <a:cs typeface="Calibri" pitchFamily="34" charset="-120"/>
              </a:rPr>
              <a:t>Permissions and the error log</a:t>
            </a:r>
            <a:endParaRPr lang="en-US" sz="1100" dirty="0"/>
          </a:p>
        </p:txBody>
      </p:sp>
      <p:sp>
        <p:nvSpPr>
          <p:cNvPr id="29" name="Shape 27"/>
          <p:cNvSpPr/>
          <p:nvPr/>
        </p:nvSpPr>
        <p:spPr>
          <a:xfrm>
            <a:off x="457200" y="3017520"/>
            <a:ext cx="8183880" cy="1051560"/>
          </a:xfrm>
          <a:prstGeom prst="roundRect">
            <a:avLst>
              <a:gd name="adj" fmla="val 10435"/>
            </a:avLst>
          </a:prstGeom>
          <a:solidFill>
            <a:srgbClr val="1A2130"/>
          </a:solidFill>
          <a:ln w="9525">
            <a:solidFill>
              <a:srgbClr val="263043"/>
            </a:solidFill>
            <a:prstDash val="solid"/>
          </a:ln>
        </p:spPr>
      </p:sp>
      <p:sp>
        <p:nvSpPr>
          <p:cNvPr id="30" name="Text 28"/>
          <p:cNvSpPr/>
          <p:nvPr/>
        </p:nvSpPr>
        <p:spPr>
          <a:xfrm>
            <a:off x="685800" y="3017520"/>
            <a:ext cx="7772400" cy="1051560"/>
          </a:xfrm>
          <a:prstGeom prst="rect">
            <a:avLst/>
          </a:prstGeom>
          <a:noFill/>
          <a:ln/>
        </p:spPr>
        <p:txBody>
          <a:bodyPr wrap="square" lIns="0" tIns="0" rIns="0" bIns="0" rtlCol="0" anchor="ctr"/>
          <a:lstStyle/>
          <a:p>
            <a:pPr indent="0" marL="0">
              <a:buNone/>
            </a:pPr>
            <a:r>
              <a:rPr lang="en-US" sz="1400" b="1" dirty="0">
                <a:solidFill>
                  <a:srgbClr val="E8B04B"/>
                </a:solidFill>
                <a:latin typeface="Calibri" pitchFamily="34" charset="0"/>
                <a:ea typeface="Calibri" pitchFamily="34" charset="-122"/>
                <a:cs typeface="Calibri" pitchFamily="34" charset="-120"/>
              </a:rPr>
              <a:t>The "check it yourself" moment: </a:t>
            </a:r>
            <a:pPr indent="0" marL="0">
              <a:buNone/>
            </a:pPr>
            <a:r>
              <a:rPr lang="en-US" sz="1400" dirty="0">
                <a:solidFill>
                  <a:srgbClr val="E6EAF2"/>
                </a:solidFill>
                <a:latin typeface="Calibri" pitchFamily="34" charset="0"/>
                <a:ea typeface="Calibri" pitchFamily="34" charset="-122"/>
                <a:cs typeface="Calibri" pitchFamily="34" charset="-120"/>
              </a:rPr>
              <a:t>your browser rebuilds the fingerprint from the opened envelope and compares it with the seal on Avalanche. Same fingerprint = the decision was never changed.</a:t>
            </a:r>
            <a:endParaRPr lang="en-US" sz="1400" dirty="0"/>
          </a:p>
        </p:txBody>
      </p:sp>
      <p:sp>
        <p:nvSpPr>
          <p:cNvPr id="31" name="Text 29"/>
          <p:cNvSpPr/>
          <p:nvPr/>
        </p:nvSpPr>
        <p:spPr>
          <a:xfrm>
            <a:off x="457200" y="4297680"/>
            <a:ext cx="822960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Backup video: &lt;TBD&gt;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457200" y="640080"/>
            <a:ext cx="8229600" cy="685800"/>
          </a:xfrm>
          <a:prstGeom prst="rect">
            <a:avLst/>
          </a:prstGeom>
          <a:noFill/>
          <a:ln/>
        </p:spPr>
        <p:txBody>
          <a:bodyPr wrap="square" lIns="0" tIns="0" rIns="0" bIns="0" rtlCol="0" anchor="ctr"/>
          <a:lstStyle/>
          <a:p>
            <a:pPr indent="0" marL="0">
              <a:buNone/>
            </a:pPr>
            <a:r>
              <a:rPr lang="en-US" sz="4000" b="1" dirty="0">
                <a:solidFill>
                  <a:srgbClr val="E6EAF2"/>
                </a:solidFill>
                <a:latin typeface="Cambria" pitchFamily="34" charset="0"/>
                <a:ea typeface="Cambria" pitchFamily="34" charset="-122"/>
                <a:cs typeface="Cambria" pitchFamily="34" charset="-120"/>
              </a:rPr>
              <a:t>Backtests can lie.</a:t>
            </a:r>
            <a:endParaRPr lang="en-US" sz="4000" dirty="0"/>
          </a:p>
        </p:txBody>
      </p:sp>
      <p:sp>
        <p:nvSpPr>
          <p:cNvPr id="3" name="Text 1"/>
          <p:cNvSpPr/>
          <p:nvPr/>
        </p:nvSpPr>
        <p:spPr>
          <a:xfrm>
            <a:off x="457200" y="1280160"/>
            <a:ext cx="8229600" cy="685800"/>
          </a:xfrm>
          <a:prstGeom prst="rect">
            <a:avLst/>
          </a:prstGeom>
          <a:noFill/>
          <a:ln/>
        </p:spPr>
        <p:txBody>
          <a:bodyPr wrap="square" lIns="0" tIns="0" rIns="0" bIns="0" rtlCol="0" anchor="ctr"/>
          <a:lstStyle/>
          <a:p>
            <a:pPr indent="0" marL="0">
              <a:buNone/>
            </a:pPr>
            <a:r>
              <a:rPr lang="en-US" sz="4000" b="1" dirty="0">
                <a:solidFill>
                  <a:srgbClr val="E8B04B"/>
                </a:solidFill>
                <a:latin typeface="Cambria" pitchFamily="34" charset="0"/>
                <a:ea typeface="Cambria" pitchFamily="34" charset="-122"/>
                <a:cs typeface="Cambria" pitchFamily="34" charset="-120"/>
              </a:rPr>
              <a:t>Avalanche can't.</a:t>
            </a:r>
            <a:endParaRPr lang="en-US" sz="4000" dirty="0"/>
          </a:p>
        </p:txBody>
      </p:sp>
      <p:sp>
        <p:nvSpPr>
          <p:cNvPr id="4" name="Shape 2"/>
          <p:cNvSpPr/>
          <p:nvPr/>
        </p:nvSpPr>
        <p:spPr>
          <a:xfrm>
            <a:off x="457200" y="2286000"/>
            <a:ext cx="2606040" cy="1005840"/>
          </a:xfrm>
          <a:prstGeom prst="roundRect">
            <a:avLst>
              <a:gd name="adj" fmla="val 10909"/>
            </a:avLst>
          </a:prstGeom>
          <a:solidFill>
            <a:srgbClr val="121722"/>
          </a:solidFill>
          <a:ln w="9525">
            <a:solidFill>
              <a:srgbClr val="263043"/>
            </a:solidFill>
            <a:prstDash val="solid"/>
          </a:ln>
        </p:spPr>
      </p:sp>
      <p:sp>
        <p:nvSpPr>
          <p:cNvPr id="5" name="Text 3"/>
          <p:cNvSpPr/>
          <p:nvPr/>
        </p:nvSpPr>
        <p:spPr>
          <a:xfrm>
            <a:off x="640080" y="2331720"/>
            <a:ext cx="1097280" cy="548640"/>
          </a:xfrm>
          <a:prstGeom prst="rect">
            <a:avLst/>
          </a:prstGeom>
          <a:noFill/>
          <a:ln/>
        </p:spPr>
        <p:txBody>
          <a:bodyPr wrap="square" lIns="0" tIns="0" rIns="0" bIns="0" rtlCol="0" anchor="ctr"/>
          <a:lstStyle/>
          <a:p>
            <a:pPr indent="0" marL="0">
              <a:buNone/>
            </a:pPr>
            <a:r>
              <a:rPr lang="en-US" sz="3000" b="1" dirty="0">
                <a:solidFill>
                  <a:srgbClr val="E8B04B"/>
                </a:solidFill>
                <a:latin typeface="Cambria" pitchFamily="34" charset="0"/>
                <a:ea typeface="Cambria" pitchFamily="34" charset="-122"/>
                <a:cs typeface="Cambria" pitchFamily="34" charset="-120"/>
              </a:rPr>
              <a:t>84</a:t>
            </a:r>
            <a:endParaRPr lang="en-US" sz="3000" dirty="0"/>
          </a:p>
        </p:txBody>
      </p:sp>
      <p:sp>
        <p:nvSpPr>
          <p:cNvPr id="6" name="Text 4"/>
          <p:cNvSpPr/>
          <p:nvPr/>
        </p:nvSpPr>
        <p:spPr>
          <a:xfrm>
            <a:off x="640080" y="2852928"/>
            <a:ext cx="2286000" cy="365760"/>
          </a:xfrm>
          <a:prstGeom prst="rect">
            <a:avLst/>
          </a:prstGeom>
          <a:noFill/>
          <a:ln/>
        </p:spPr>
        <p:txBody>
          <a:bodyPr wrap="square" lIns="0" tIns="0" rIns="0" bIns="0" rtlCol="0" anchor="ctr"/>
          <a:lstStyle/>
          <a:p>
            <a:pPr indent="0" marL="0">
              <a:buNone/>
            </a:pPr>
            <a:r>
              <a:rPr lang="en-US" sz="1100" dirty="0">
                <a:solidFill>
                  <a:srgbClr val="8A94A8"/>
                </a:solidFill>
                <a:latin typeface="Calibri" pitchFamily="34" charset="0"/>
                <a:ea typeface="Calibri" pitchFamily="34" charset="-122"/>
                <a:cs typeface="Calibri" pitchFamily="34" charset="-120"/>
              </a:rPr>
              <a:t>decision-engine and AI-check tests</a:t>
            </a:r>
            <a:endParaRPr lang="en-US" sz="1100" dirty="0"/>
          </a:p>
        </p:txBody>
      </p:sp>
      <p:sp>
        <p:nvSpPr>
          <p:cNvPr id="7" name="Shape 5"/>
          <p:cNvSpPr/>
          <p:nvPr/>
        </p:nvSpPr>
        <p:spPr>
          <a:xfrm>
            <a:off x="3246120" y="2286000"/>
            <a:ext cx="2606040" cy="1005840"/>
          </a:xfrm>
          <a:prstGeom prst="roundRect">
            <a:avLst>
              <a:gd name="adj" fmla="val 10909"/>
            </a:avLst>
          </a:prstGeom>
          <a:solidFill>
            <a:srgbClr val="121722"/>
          </a:solidFill>
          <a:ln w="9525">
            <a:solidFill>
              <a:srgbClr val="263043"/>
            </a:solidFill>
            <a:prstDash val="solid"/>
          </a:ln>
        </p:spPr>
      </p:sp>
      <p:sp>
        <p:nvSpPr>
          <p:cNvPr id="8" name="Text 6"/>
          <p:cNvSpPr/>
          <p:nvPr/>
        </p:nvSpPr>
        <p:spPr>
          <a:xfrm>
            <a:off x="3429000" y="2331720"/>
            <a:ext cx="1097280" cy="548640"/>
          </a:xfrm>
          <a:prstGeom prst="rect">
            <a:avLst/>
          </a:prstGeom>
          <a:noFill/>
          <a:ln/>
        </p:spPr>
        <p:txBody>
          <a:bodyPr wrap="square" lIns="0" tIns="0" rIns="0" bIns="0" rtlCol="0" anchor="ctr"/>
          <a:lstStyle/>
          <a:p>
            <a:pPr indent="0" marL="0">
              <a:buNone/>
            </a:pPr>
            <a:r>
              <a:rPr lang="en-US" sz="3000" b="1" dirty="0">
                <a:solidFill>
                  <a:srgbClr val="E8B04B"/>
                </a:solidFill>
                <a:latin typeface="Cambria" pitchFamily="34" charset="0"/>
                <a:ea typeface="Cambria" pitchFamily="34" charset="-122"/>
                <a:cs typeface="Cambria" pitchFamily="34" charset="-120"/>
              </a:rPr>
              <a:t>78</a:t>
            </a:r>
            <a:endParaRPr lang="en-US" sz="3000" dirty="0"/>
          </a:p>
        </p:txBody>
      </p:sp>
      <p:sp>
        <p:nvSpPr>
          <p:cNvPr id="9" name="Text 7"/>
          <p:cNvSpPr/>
          <p:nvPr/>
        </p:nvSpPr>
        <p:spPr>
          <a:xfrm>
            <a:off x="3429000" y="2852928"/>
            <a:ext cx="2286000" cy="365760"/>
          </a:xfrm>
          <a:prstGeom prst="rect">
            <a:avLst/>
          </a:prstGeom>
          <a:noFill/>
          <a:ln/>
        </p:spPr>
        <p:txBody>
          <a:bodyPr wrap="square" lIns="0" tIns="0" rIns="0" bIns="0" rtlCol="0" anchor="ctr"/>
          <a:lstStyle/>
          <a:p>
            <a:pPr indent="0" marL="0">
              <a:buNone/>
            </a:pPr>
            <a:r>
              <a:rPr lang="en-US" sz="1100" dirty="0">
                <a:solidFill>
                  <a:srgbClr val="8A94A8"/>
                </a:solidFill>
                <a:latin typeface="Calibri" pitchFamily="34" charset="0"/>
                <a:ea typeface="Calibri" pitchFamily="34" charset="-122"/>
                <a:cs typeface="Calibri" pitchFamily="34" charset="-120"/>
              </a:rPr>
              <a:t>OKX trading-layer tests</a:t>
            </a:r>
            <a:endParaRPr lang="en-US" sz="1100" dirty="0"/>
          </a:p>
        </p:txBody>
      </p:sp>
      <p:sp>
        <p:nvSpPr>
          <p:cNvPr id="10" name="Shape 8"/>
          <p:cNvSpPr/>
          <p:nvPr/>
        </p:nvSpPr>
        <p:spPr>
          <a:xfrm>
            <a:off x="6035040" y="2286000"/>
            <a:ext cx="2606040" cy="1005840"/>
          </a:xfrm>
          <a:prstGeom prst="roundRect">
            <a:avLst>
              <a:gd name="adj" fmla="val 10909"/>
            </a:avLst>
          </a:prstGeom>
          <a:solidFill>
            <a:srgbClr val="121722"/>
          </a:solidFill>
          <a:ln w="9525">
            <a:solidFill>
              <a:srgbClr val="263043"/>
            </a:solidFill>
            <a:prstDash val="solid"/>
          </a:ln>
        </p:spPr>
      </p:sp>
      <p:sp>
        <p:nvSpPr>
          <p:cNvPr id="11" name="Text 9"/>
          <p:cNvSpPr/>
          <p:nvPr/>
        </p:nvSpPr>
        <p:spPr>
          <a:xfrm>
            <a:off x="6217920" y="2331720"/>
            <a:ext cx="1097280" cy="548640"/>
          </a:xfrm>
          <a:prstGeom prst="rect">
            <a:avLst/>
          </a:prstGeom>
          <a:noFill/>
          <a:ln/>
        </p:spPr>
        <p:txBody>
          <a:bodyPr wrap="square" lIns="0" tIns="0" rIns="0" bIns="0" rtlCol="0" anchor="ctr"/>
          <a:lstStyle/>
          <a:p>
            <a:pPr indent="0" marL="0">
              <a:buNone/>
            </a:pPr>
            <a:r>
              <a:rPr lang="en-US" sz="3000" b="1" dirty="0">
                <a:solidFill>
                  <a:srgbClr val="E8B04B"/>
                </a:solidFill>
                <a:latin typeface="Cambria" pitchFamily="34" charset="0"/>
                <a:ea typeface="Cambria" pitchFamily="34" charset="-122"/>
                <a:cs typeface="Cambria" pitchFamily="34" charset="-120"/>
              </a:rPr>
              <a:t>25</a:t>
            </a:r>
            <a:endParaRPr lang="en-US" sz="3000" dirty="0"/>
          </a:p>
        </p:txBody>
      </p:sp>
      <p:sp>
        <p:nvSpPr>
          <p:cNvPr id="12" name="Text 10"/>
          <p:cNvSpPr/>
          <p:nvPr/>
        </p:nvSpPr>
        <p:spPr>
          <a:xfrm>
            <a:off x="6217920" y="2852928"/>
            <a:ext cx="2286000" cy="365760"/>
          </a:xfrm>
          <a:prstGeom prst="rect">
            <a:avLst/>
          </a:prstGeom>
          <a:noFill/>
          <a:ln/>
        </p:spPr>
        <p:txBody>
          <a:bodyPr wrap="square" lIns="0" tIns="0" rIns="0" bIns="0" rtlCol="0" anchor="ctr"/>
          <a:lstStyle/>
          <a:p>
            <a:pPr indent="0" marL="0">
              <a:buNone/>
            </a:pPr>
            <a:r>
              <a:rPr lang="en-US" sz="1100" dirty="0">
                <a:solidFill>
                  <a:srgbClr val="8A94A8"/>
                </a:solidFill>
                <a:latin typeface="Calibri" pitchFamily="34" charset="0"/>
                <a:ea typeface="Calibri" pitchFamily="34" charset="-122"/>
                <a:cs typeface="Calibri" pitchFamily="34" charset="-120"/>
              </a:rPr>
              <a:t>Avalanche contract tests</a:t>
            </a:r>
            <a:endParaRPr lang="en-US" sz="1100" dirty="0"/>
          </a:p>
        </p:txBody>
      </p:sp>
      <p:sp>
        <p:nvSpPr>
          <p:cNvPr id="13" name="Text 11"/>
          <p:cNvSpPr/>
          <p:nvPr/>
        </p:nvSpPr>
        <p:spPr>
          <a:xfrm>
            <a:off x="457200" y="3337560"/>
            <a:ext cx="8229600" cy="274320"/>
          </a:xfrm>
          <a:prstGeom prst="rect">
            <a:avLst/>
          </a:prstGeom>
          <a:noFill/>
          <a:ln/>
        </p:spPr>
        <p:txBody>
          <a:bodyPr wrap="square" lIns="0" tIns="0" rIns="0" bIns="0" rtlCol="0" anchor="ctr"/>
          <a:lstStyle/>
          <a:p>
            <a:pPr indent="0" marL="0">
              <a:buNone/>
            </a:pPr>
            <a:r>
              <a:rPr lang="en-US" sz="1000" i="1" dirty="0">
                <a:solidFill>
                  <a:srgbClr val="5B6578"/>
                </a:solidFill>
                <a:latin typeface="Calibri" pitchFamily="34" charset="0"/>
                <a:ea typeface="Calibri" pitchFamily="34" charset="-122"/>
                <a:cs typeface="Calibri" pitchFamily="34" charset="-120"/>
              </a:rPr>
              <a:t>Automated tests passing, 17 Oct, 14:43.</a:t>
            </a:r>
            <a:endParaRPr lang="en-US" sz="1000" dirty="0"/>
          </a:p>
        </p:txBody>
      </p:sp>
      <p:sp>
        <p:nvSpPr>
          <p:cNvPr id="14" name="Text 12"/>
          <p:cNvSpPr/>
          <p:nvPr/>
        </p:nvSpPr>
        <p:spPr>
          <a:xfrm>
            <a:off x="457200" y="3703320"/>
            <a:ext cx="8229600" cy="548640"/>
          </a:xfrm>
          <a:prstGeom prst="rect">
            <a:avLst/>
          </a:prstGeom>
          <a:noFill/>
          <a:ln/>
        </p:spPr>
        <p:txBody>
          <a:bodyPr wrap="square" lIns="0" tIns="0" rIns="0" bIns="0" rtlCol="0" anchor="t"/>
          <a:lstStyle/>
          <a:p>
            <a:pPr indent="0" marL="0">
              <a:buNone/>
            </a:pPr>
            <a:r>
              <a:rPr lang="en-US" sz="1300" b="1" dirty="0">
                <a:solidFill>
                  <a:srgbClr val="E8B04B"/>
                </a:solidFill>
                <a:latin typeface="Calibri" pitchFamily="34" charset="0"/>
                <a:ea typeface="Calibri" pitchFamily="34" charset="-122"/>
                <a:cs typeface="Calibri" pitchFamily="34" charset="-120"/>
              </a:rPr>
              <a:t>Next: </a:t>
            </a:r>
            <a:pPr indent="0" marL="0">
              <a:buNone/>
            </a:pPr>
            <a:r>
              <a:rPr lang="en-US" sz="1300" dirty="0">
                <a:solidFill>
                  <a:srgbClr val="E6EAF2"/>
                </a:solidFill>
                <a:latin typeface="Calibri" pitchFamily="34" charset="0"/>
                <a:ea typeface="Calibri" pitchFamily="34" charset="-122"/>
                <a:cs typeface="Calibri" pitchFamily="34" charset="-120"/>
              </a:rPr>
              <a:t>a second "risk guard" agent that reviews each decision on chain · a reputation built from opened envelopes · Avalanche mainnet</a:t>
            </a:r>
            <a:endParaRPr lang="en-US" sz="1300" dirty="0"/>
          </a:p>
        </p:txBody>
      </p:sp>
      <p:sp>
        <p:nvSpPr>
          <p:cNvPr id="15" name="Text 13"/>
          <p:cNvSpPr/>
          <p:nvPr/>
        </p:nvSpPr>
        <p:spPr>
          <a:xfrm>
            <a:off x="457200" y="4434840"/>
            <a:ext cx="8229600" cy="274320"/>
          </a:xfrm>
          <a:prstGeom prst="rect">
            <a:avLst/>
          </a:prstGeom>
          <a:noFill/>
          <a:ln/>
        </p:spPr>
        <p:txBody>
          <a:bodyPr wrap="square" lIns="0" tIns="0" rIns="0" bIns="0" rtlCol="0" anchor="ctr"/>
          <a:lstStyle/>
          <a:p>
            <a:pPr indent="0" marL="0">
              <a:buNone/>
            </a:pPr>
            <a:r>
              <a:rPr lang="en-US" sz="1100" dirty="0">
                <a:solidFill>
                  <a:srgbClr val="8B9CFF"/>
                </a:solidFill>
                <a:latin typeface="Courier New" pitchFamily="34" charset="0"/>
                <a:ea typeface="Courier New" pitchFamily="34" charset="-122"/>
                <a:cs typeface="Courier New" pitchFamily="34" charset="-120"/>
              </a:rPr>
              <a:t>github.com/WalAngeL06/grail-agent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GRAIL — a trading agent whose record you can check</dc:title>
  <dc:subject>PptxGenJS Presentation</dc:subject>
  <dc:creator>GRAIL</dc:creator>
  <cp:lastModifiedBy>GRAIL</cp:lastModifiedBy>
  <cp:revision>1</cp:revision>
  <dcterms:created xsi:type="dcterms:W3CDTF">2026-10-17T12:02:38Z</dcterms:created>
  <dcterms:modified xsi:type="dcterms:W3CDTF">2026-10-17T12:02:38Z</dcterms:modified>
</cp:coreProperties>
</file>