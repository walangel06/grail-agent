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0" i="0" u="none" strike="noStrike">
                <a:solidFill>
                  <a:srgbClr val="E6EAF2"/>
                </a:solidFill>
                <a:latin typeface="Calibri"/>
              </a:defRPr>
            </a:pPr>
            <a:r>
              <a:rPr sz="1200" b="0" i="0" u="none" strike="noStrike">
                <a:solidFill>
                  <a:srgbClr val="E6EAF2"/>
                </a:solidFill>
                <a:latin typeface="Calibri"/>
              </a:rPr>
              <a:t>Bağımsız bahis (n_eff) ve coin sayısı</a:t>
            </a:r>
          </a:p>
        </c:rich>
      </c:tx>
      <c:layout/>
      <c:overlay val="0"/>
    </c:title>
    <c:autoTitleDeleted val="0"/>
    <c:plotArea>
      <c:layout/>
      <c:lineChart>
        <c:varyColors val="0"/>
        <c:ser>
          <c:idx val="0"/>
          <c:order val="0"/>
          <c:tx>
            <c:strRef>
              <c:f>Sheet1!$B$1</c:f>
              <c:strCache>
                <c:ptCount val="1"/>
                <c:pt idx="0">
                  <c:v>Nadiren birlikte hareket ediyor</c:v>
                </c:pt>
              </c:strCache>
            </c:strRef>
          </c:tx>
          <c:spPr>
            <a:solidFill>
              <a:srgbClr val="22C55E"/>
            </a:solidFill>
            <a:ln w="31750" cap="flat">
              <a:solidFill>
                <a:srgbClr val="22C5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2C55E"/>
              </a:solidFill>
              <a:ln w="9525" cap="flat">
                <a:solidFill>
                  <a:srgbClr val="22C55E"/>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1</c:v>
                </c:pt>
                <c:pt idx="1">
                  <c:v>1.67</c:v>
                </c:pt>
                <c:pt idx="2">
                  <c:v>2.14</c:v>
                </c:pt>
                <c:pt idx="3">
                  <c:v>2.5</c:v>
                </c:pt>
                <c:pt idx="4">
                  <c:v>2.78</c:v>
                </c:pt>
                <c:pt idx="5">
                  <c:v>3</c:v>
                </c:pt>
                <c:pt idx="6">
                  <c:v>3.18</c:v>
                </c:pt>
                <c:pt idx="7">
                  <c:v>3.33</c:v>
                </c:pt>
                <c:pt idx="8">
                  <c:v>3.46</c:v>
                </c:pt>
                <c:pt idx="9">
                  <c:v>3.57</c:v>
                </c:pt>
                <c:pt idx="10">
                  <c:v>3.67</c:v>
                </c:pt>
                <c:pt idx="11">
                  <c:v>3.75</c:v>
                </c:pt>
                <c:pt idx="12">
                  <c:v>3.82</c:v>
                </c:pt>
                <c:pt idx="13">
                  <c:v>3.89</c:v>
                </c:pt>
                <c:pt idx="14">
                  <c:v>3.95</c:v>
                </c:pt>
                <c:pt idx="15">
                  <c:v>4</c:v>
                </c:pt>
                <c:pt idx="16">
                  <c:v>4.05</c:v>
                </c:pt>
                <c:pt idx="17">
                  <c:v>4.09</c:v>
                </c:pt>
                <c:pt idx="18">
                  <c:v>4.13</c:v>
                </c:pt>
                <c:pt idx="19">
                  <c:v>4.17</c:v>
                </c:pt>
              </c:numCache>
            </c:numRef>
          </c:val>
          <c:smooth val="0"/>
        </c:ser>
        <c:ser>
          <c:idx val="1"/>
          <c:order val="1"/>
          <c:tx>
            <c:strRef>
              <c:f>Sheet1!$C$1</c:f>
              <c:strCache>
                <c:ptCount val="1"/>
                <c:pt idx="0">
                  <c:v>Sık sık birlikte</c:v>
                </c:pt>
              </c:strCache>
            </c:strRef>
          </c:tx>
          <c:spPr>
            <a:solidFill>
              <a:srgbClr val="8B9CFF"/>
            </a:solidFill>
            <a:ln w="31750" cap="flat">
              <a:solidFill>
                <a:srgbClr val="8B9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B9CFF"/>
              </a:solidFill>
              <a:ln w="9525" cap="flat">
                <a:solidFill>
                  <a:srgbClr val="8B9CFF"/>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1</c:v>
                </c:pt>
                <c:pt idx="1">
                  <c:v>1.33</c:v>
                </c:pt>
                <c:pt idx="2">
                  <c:v>1.5</c:v>
                </c:pt>
                <c:pt idx="3">
                  <c:v>1.6</c:v>
                </c:pt>
                <c:pt idx="4">
                  <c:v>1.67</c:v>
                </c:pt>
                <c:pt idx="5">
                  <c:v>1.71</c:v>
                </c:pt>
                <c:pt idx="6">
                  <c:v>1.75</c:v>
                </c:pt>
                <c:pt idx="7">
                  <c:v>1.78</c:v>
                </c:pt>
                <c:pt idx="8">
                  <c:v>1.8</c:v>
                </c:pt>
                <c:pt idx="9">
                  <c:v>1.82</c:v>
                </c:pt>
                <c:pt idx="10">
                  <c:v>1.83</c:v>
                </c:pt>
                <c:pt idx="11">
                  <c:v>1.85</c:v>
                </c:pt>
                <c:pt idx="12">
                  <c:v>1.86</c:v>
                </c:pt>
                <c:pt idx="13">
                  <c:v>1.87</c:v>
                </c:pt>
                <c:pt idx="14">
                  <c:v>1.88</c:v>
                </c:pt>
                <c:pt idx="15">
                  <c:v>1.88</c:v>
                </c:pt>
                <c:pt idx="16">
                  <c:v>1.89</c:v>
                </c:pt>
                <c:pt idx="17">
                  <c:v>1.89</c:v>
                </c:pt>
                <c:pt idx="18">
                  <c:v>1.9</c:v>
                </c:pt>
                <c:pt idx="19">
                  <c:v>1.9</c:v>
                </c:pt>
              </c:numCache>
            </c:numRef>
          </c:val>
          <c:smooth val="0"/>
        </c:ser>
        <c:ser>
          <c:idx val="2"/>
          <c:order val="2"/>
          <c:tx>
            <c:strRef>
              <c:f>Sheet1!$D$1</c:f>
              <c:strCache>
                <c:ptCount val="1"/>
                <c:pt idx="0">
                  <c:v>Neredeyse hep birlikte</c:v>
                </c:pt>
              </c:strCache>
            </c:strRef>
          </c:tx>
          <c:spPr>
            <a:solidFill>
              <a:srgbClr val="E8B04B"/>
            </a:solidFill>
            <a:ln w="31750" cap="flat">
              <a:solidFill>
                <a:srgbClr val="E8B04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8B04B"/>
              </a:solidFill>
              <a:ln w="9525" cap="flat">
                <a:solidFill>
                  <a:srgbClr val="E8B04B"/>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Sheet1!$D$2:$D$21</c:f>
              <c:numCache>
                <c:formatCode>General</c:formatCode>
                <c:ptCount val="20"/>
                <c:pt idx="0">
                  <c:v>1</c:v>
                </c:pt>
                <c:pt idx="1">
                  <c:v>1.11</c:v>
                </c:pt>
                <c:pt idx="2">
                  <c:v>1.15</c:v>
                </c:pt>
                <c:pt idx="3">
                  <c:v>1.18</c:v>
                </c:pt>
                <c:pt idx="4">
                  <c:v>1.19</c:v>
                </c:pt>
                <c:pt idx="5">
                  <c:v>1.2</c:v>
                </c:pt>
                <c:pt idx="6">
                  <c:v>1.21</c:v>
                </c:pt>
                <c:pt idx="7">
                  <c:v>1.21</c:v>
                </c:pt>
                <c:pt idx="8">
                  <c:v>1.22</c:v>
                </c:pt>
                <c:pt idx="9">
                  <c:v>1.22</c:v>
                </c:pt>
                <c:pt idx="10">
                  <c:v>1.22</c:v>
                </c:pt>
                <c:pt idx="11">
                  <c:v>1.22</c:v>
                </c:pt>
                <c:pt idx="12">
                  <c:v>1.23</c:v>
                </c:pt>
                <c:pt idx="13">
                  <c:v>1.23</c:v>
                </c:pt>
                <c:pt idx="14">
                  <c:v>1.23</c:v>
                </c:pt>
                <c:pt idx="15">
                  <c:v>1.23</c:v>
                </c:pt>
                <c:pt idx="16">
                  <c:v>1.23</c:v>
                </c:pt>
                <c:pt idx="17">
                  <c:v>1.23</c:v>
                </c:pt>
                <c:pt idx="18">
                  <c:v>1.23</c:v>
                </c:pt>
                <c:pt idx="19">
                  <c:v>1.23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A94A8"/>
                    </a:solidFill>
                    <a:latin typeface="Arial"/>
                  </a:defRPr>
                </a:pPr>
                <a:r>
                  <a:rPr sz="1000" b="0" i="0" u="none" strike="noStrike">
                    <a:solidFill>
                      <a:srgbClr val="8A94A8"/>
                    </a:solidFill>
                    <a:latin typeface="Arial"/>
                  </a:rPr>
                  <a:t>Coin sayısı</a:t>
                </a:r>
              </a:p>
            </c:rich>
          </c:tx>
          <c:layout/>
          <c:overlay val="0"/>
        </c:title>
        <c:numFmt formatCode="General" sourceLinked="1"/>
        <c:majorTickMark val="out"/>
        <c:minorTickMark val="none"/>
        <c:tickLblPos val="low"/>
        <c:spPr>
          <a:ln w="12700" cap="flat">
            <a:solidFill>
              <a:srgbClr val="263043"/>
            </a:solidFill>
            <a:prstDash val="solid"/>
            <a:round/>
          </a:ln>
        </c:spPr>
        <c:txPr>
          <a:bodyPr/>
          <a:lstStyle/>
          <a:p>
            <a:pPr>
              <a:defRPr sz="900" b="0" i="0" u="none" strike="noStrike">
                <a:solidFill>
                  <a:srgbClr val="8A94A8"/>
                </a:solidFill>
                <a:latin typeface="Arial"/>
              </a:defRPr>
            </a:pPr>
            <a:endParaRPr lang="en-US"/>
          </a:p>
        </c:txPr>
        <c:crossAx val="2094734552"/>
        <c:crosses val="autoZero"/>
        <c:auto val="1"/>
        <c:lblAlgn val="ctr"/>
        <c:noMultiLvlLbl val="1"/>
        <c:tickLblSkip val="1"/>
      </c:catAx>
      <c:valAx>
        <c:axId val="2094734552"/>
        <c:scaling>
          <c:orientation val="minMax"/>
        </c:scaling>
        <c:delete val="0"/>
        <c:axPos val="l"/>
        <c:majorGridlines>
          <c:spPr>
            <a:ln w="6350" cap="flat">
              <a:solidFill>
                <a:srgbClr val="263043"/>
              </a:solidFill>
              <a:prstDash val="solid"/>
              <a:round/>
            </a:ln>
          </c:spPr>
        </c:majorGridlines>
        <c:title>
          <c:tx>
            <c:rich>
              <a:bodyPr/>
              <a:lstStyle/>
              <a:p>
                <a:pPr>
                  <a:defRPr sz="1000" b="0" i="0" u="none" strike="noStrike">
                    <a:solidFill>
                      <a:srgbClr val="8A94A8"/>
                    </a:solidFill>
                    <a:latin typeface="Arial"/>
                  </a:defRPr>
                </a:pPr>
                <a:r>
                  <a:rPr sz="1000" b="0" i="0" u="none" strike="noStrike">
                    <a:solidFill>
                      <a:srgbClr val="8A94A8"/>
                    </a:solidFill>
                    <a:latin typeface="Arial"/>
                  </a:rPr>
                  <a:t>Bağımsız bahis</a:t>
                </a:r>
              </a:p>
            </c:rich>
          </c:tx>
          <c:layout/>
          <c:overlay val="0"/>
        </c:title>
        <c:numFmt formatCode="General" sourceLinked="0"/>
        <c:majorTickMark val="out"/>
        <c:minorTickMark val="none"/>
        <c:tickLblPos val="nextTo"/>
        <c:spPr>
          <a:ln w="12700" cap="flat">
            <a:solidFill>
              <a:srgbClr val="263043"/>
            </a:solidFill>
            <a:prstDash val="solid"/>
            <a:round/>
          </a:ln>
        </c:spPr>
        <c:txPr>
          <a:bodyPr/>
          <a:lstStyle/>
          <a:p>
            <a:pPr>
              <a:defRPr sz="900" b="0" i="0" u="none" strike="noStrike">
                <a:solidFill>
                  <a:srgbClr val="8A94A8"/>
                </a:solidFill>
                <a:latin typeface="Arial"/>
              </a:defRPr>
            </a:pPr>
            <a:endParaRPr lang="en-US"/>
          </a:p>
        </c:txPr>
        <c:crossAx val="2094734554"/>
        <c:crosses val="autoZero"/>
        <c:crossBetween val="between"/>
      </c:valAx>
      <c:spPr>
        <a:solidFill>
          <a:srgbClr val="121722"/>
        </a:solidFill>
        <a:ln>
          <a:noFill/>
        </a:ln>
        <a:effectLst/>
      </c:spPr>
    </c:plotArea>
    <c:legend>
      <c:legendPos val="b"/>
      <c:overlay val="0"/>
      <c:txPr>
        <a:bodyPr/>
        <a:lstStyle/>
        <a:p>
          <a:pPr>
            <a:defRPr sz="900">
              <a:solidFill>
                <a:srgbClr val="8A94A8"/>
              </a:solidFill>
              <a:latin typeface="Calibri"/>
              <a:cs typeface="Calibri"/>
            </a:defRPr>
          </a:pPr>
          <a:endParaRPr lang="en-US"/>
        </a:p>
      </c:txPr>
    </c:legend>
    <c:plotVisOnly val="1"/>
    <c:dispBlanksAs val="span"/>
  </c:chart>
  <c:spPr>
    <a:solidFill>
      <a:srgbClr val="12172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Ekibi değil, sayıyı söyleyerek aç. "Beş coin aldınız. Birlikte yükselip düştükleri için son 30 günde ortalama 1,36 bağımsız bahis gibi davrandılar. Bu coinleri sizin yerinize bir yapay zekâ ajanı yönetseydi, onun sicilini de kontrol edemezdiniz. GRAIL ikisini birden çözüyor."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Jürinin 'sorun ve hedef kullanıcı' sorusunun doğrudan cevabı. Tek nefeste söyle: insanlar parayı alım-satım ajanlarına emanet etmek istiyor, ama hiçbir ajan geçmişini kanıtlayamıyor. Üstelik 'çeşitlendirilmiş' kripto portföylerin çoğu aslında tek bir bahis. Sonra geç.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 Dalio'nun 'Kutsal Kâse' (Holy Grail) fikri, sade haliyle. Eğri, coin ekledikçe kaç gerçekten bağımsız bahis elde ettiğini gösteriyor. Coinler birlikte hareket ediyorsa (altın çizgi) eğri hemen düzleşir: onuncu coin neredeyse hiçbir şey katmaz. Canlı panelde 'you are here' noktası ve birlikte hareketi değiştiren bir kaydırıcı var. Arka planda motor N / (1 + (N-1) x ortalama korelasyon) kullanıyor, ama bunu basitçe anlat.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Dört parça: bak, karar ver, mühürle, göster. Para kararlarının yapay zekânın keyfine değil, sabit matematiğe bağlı olduğunu vurgula. Yapay zekâ (bir dil modeli) sadece bir güvenlik kontrolü: bir alımı küçültebilir ya da iptal edebilir, asla risk ekleyemez ve satışlara dokunmaz. Yapay zekâ yoksa ya da yavaşsa karar değişmeden geçer ve bu da kayda yazılır.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Ajan piyasanın rejimine göre davranışını seçiyor. Trend varsa momentum alımı; piyasa yatay görünüyorsa alım yapmadan bekliyor. Rejimi Hurst değeriyle TAHMİN ediyoruz; 48 saatlik veride bu tahmin gürültülü, rastgele veride bile yaklaşık %41 'yatay' çıkıyor. O yüzden 'tespit' demiyoruz. İkinci kapı: kırılım olduysa geri dönüp seviyeyi test etmesini bekliyoruz; kırılım yoksa yarım, kırılım ve geri test varsa tam boyut. Bugün canlıda, deneme modunda, aynı piyasa verisiyle: döngü başına alım 5'ten 1'e, tutar −%86. 4 coin yatay göründüğü için bekledi, ETH kırılım olmadığı için yarım boyutla alındı. Motor hatası 0, 48/48 döngünün hepsi zincirde. Dürüst not: 34 ile 44. döngüler arasında yapay zekâ sağlayıcısı kota nedeniyle cevap vermedi; kararlar değişmeden geçti (fail-open). 30 günlük tekrar oynatmada işlem sayısı 382'den 220'ye, en kötü düşüş %7,5'ten %4,3'e indi.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Puanın %35'i bu slaytta: otonomi. Döngü her 90 saniyede, kimse bir şeye tıklamadan çalışıyor. 4. ve 6. adımları göster: karar, emir daha ortada yokken Avalanche'a mühürleniyor; ajan piyasa cevap vermeden bağlanıyor. Beklemek de bir karar ve o da mühürleniyor. Zincirde 48 döngü var, hepsi açılmış ve npm run audit ile hepsi eşleşiyor. İnsanın işi kuralları (ayarları) koymak, işlemleri onaylamak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Jürinin 'neye yetkisi var' sorusunun cevabı. Yetkiyi daralt, harcamayı sınırla, izi tut, canlıya geçişi insana bırak. Borsa anahtarında para çekme izni yok; kodda para çekme, transfer, kaldıraç ya da hesap ayarı değiştiren hiçbir çağrı yok. Acil durdurma (kill switch) yeni emirleri durdurur, pozisyon satmaz; bunu doğru söyle. Deneme modu mühürlü kararın içinde; simüle ve gerçek işlemler asla karışmaz. Settings ekranını göster.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'Beklenmedik girdide ne yapıyor?' sorusunun cevabı. Varsayılan güvenli: mühürleyemezse işlem yapmaz. Mühürden önce zarfın gizli parçası diske yazılır; çökme bir kararı sonsuza kadar gizli bırakamaz. Settings ekranındaki hata kaydında gerçek bir satır varsa onu göster.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Avalanche'ın neden çekirdek olduğu, bonus kutucuğu olmadığı burada. Diğer takımlar sonucu sonradan zincire yazıyor. GRAIL niyetini işlemden ÖNCE yazıyor, mühürlü bir zarf gibi. Teknik olarak: kararın ve rastgele bir değerin (salt) parmak izini mühürle, sonra ikisini de aç. Açılmamış zarflar görünür kalır; ajan sadece iyi kararlarını gösteremez. Sorulursa kontratı testnet.snowtrace.io'da aç; kaynak kodu doğrulanmış.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Canlı uygulamaya geç. Sıra: Dashboard, On-chain Ledger, Decisions (bir döngüyü izle: mühürlendi, emir verildi, açıldı), 'Verify yourself' düğmesine bas, sonra Settings. İsteyen jüri üyesi 'Verify yourself'e kendisi bassın. Cümle: 'Bize güvenmeyin, tarayıcınız az önce kontrol etti.' Sahneye çıkmadan: sekmeler açık, gerçek veri yüklü (MOCK DATA rozeti yok), deneme/canlı rozeti görünür. Bir şey bozulursa yedek videoyu oynat.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tarafı tek cümle: aynı 30 günde en kötü düşüş %4,3, eşit ağırlıklı al-tut %14,5; acil durdurma hiç tetiklenmedi. Getiri daha düşük (+%2,0 ve +%8,8), bunu biz söylüyoruz. Kalite: karar Python'da, Avalanche kontratında ve tarayıcıda aynı şekilde kuruluyor ve hepsi aynı sonucu veriyor. Sonraki adımdan kısaca bahset. Sonra kapanış: 'Backtest yalan söyleyebilir. Avalanche söyleyemez.' ve 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502920"/>
            <a:ext cx="45720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OKX AGENT TRADE KIT  ×  AVALANCHE</a:t>
            </a:r>
            <a:endParaRPr lang="en-US" sz="1100" dirty="0"/>
          </a:p>
        </p:txBody>
      </p:sp>
      <p:sp>
        <p:nvSpPr>
          <p:cNvPr id="3" name="Text 1"/>
          <p:cNvSpPr/>
          <p:nvPr/>
        </p:nvSpPr>
        <p:spPr>
          <a:xfrm>
            <a:off x="457200" y="868680"/>
            <a:ext cx="4572000" cy="914400"/>
          </a:xfrm>
          <a:prstGeom prst="rect">
            <a:avLst/>
          </a:prstGeom>
          <a:noFill/>
          <a:ln/>
        </p:spPr>
        <p:txBody>
          <a:bodyPr wrap="square" lIns="0" tIns="0" rIns="0" bIns="0" rtlCol="0" anchor="ctr"/>
          <a:lstStyle/>
          <a:p>
            <a:pPr indent="0" marL="0">
              <a:buNone/>
            </a:pPr>
            <a:r>
              <a:rPr lang="en-US" sz="6000" b="1" dirty="0">
                <a:solidFill>
                  <a:srgbClr val="E6EAF2"/>
                </a:solidFill>
                <a:latin typeface="Cambria" pitchFamily="34" charset="0"/>
                <a:ea typeface="Cambria" pitchFamily="34" charset="-122"/>
                <a:cs typeface="Cambria" pitchFamily="34" charset="-120"/>
              </a:rPr>
              <a:t>GRAIL</a:t>
            </a:r>
            <a:endParaRPr lang="en-US" sz="6000" dirty="0"/>
          </a:p>
        </p:txBody>
      </p:sp>
      <p:sp>
        <p:nvSpPr>
          <p:cNvPr id="4" name="Text 2"/>
          <p:cNvSpPr/>
          <p:nvPr/>
        </p:nvSpPr>
        <p:spPr>
          <a:xfrm>
            <a:off x="457200" y="1828800"/>
            <a:ext cx="4206240" cy="822960"/>
          </a:xfrm>
          <a:prstGeom prst="rect">
            <a:avLst/>
          </a:prstGeom>
          <a:noFill/>
          <a:ln/>
        </p:spPr>
        <p:txBody>
          <a:bodyPr wrap="square" lIns="0" tIns="0" rIns="0" bIns="0" rtlCol="0" anchor="t"/>
          <a:lstStyle/>
          <a:p>
            <a:pPr indent="0" marL="0">
              <a:buNone/>
            </a:pPr>
            <a:r>
              <a:rPr lang="en-US" sz="2200" dirty="0">
                <a:solidFill>
                  <a:srgbClr val="8A94A8"/>
                </a:solidFill>
                <a:latin typeface="Calibri" pitchFamily="34" charset="0"/>
                <a:ea typeface="Calibri" pitchFamily="34" charset="-122"/>
                <a:cs typeface="Calibri" pitchFamily="34" charset="-120"/>
              </a:rPr>
              <a:t>Sicili herkesçe doğrulanabilen otonom alım-satım ajanı.</a:t>
            </a:r>
            <a:endParaRPr lang="en-US" sz="2200" dirty="0"/>
          </a:p>
        </p:txBody>
      </p:sp>
      <p:sp>
        <p:nvSpPr>
          <p:cNvPr id="5" name="Text 3"/>
          <p:cNvSpPr/>
          <p:nvPr/>
        </p:nvSpPr>
        <p:spPr>
          <a:xfrm>
            <a:off x="457200" y="2880360"/>
            <a:ext cx="4206240" cy="731520"/>
          </a:xfrm>
          <a:prstGeom prst="rect">
            <a:avLst/>
          </a:prstGeom>
          <a:noFill/>
          <a:ln/>
        </p:spPr>
        <p:txBody>
          <a:bodyPr wrap="square" lIns="0" tIns="0" rIns="0" bIns="0" rtlCol="0" anchor="t"/>
          <a:lstStyle/>
          <a:p>
            <a:pPr indent="0" marL="0">
              <a:buNone/>
            </a:pPr>
            <a:r>
              <a:rPr lang="en-US" sz="1500" dirty="0">
                <a:solidFill>
                  <a:srgbClr val="E6EAF2"/>
                </a:solidFill>
                <a:latin typeface="Calibri" pitchFamily="34" charset="0"/>
                <a:ea typeface="Calibri" pitchFamily="34" charset="-122"/>
                <a:cs typeface="Calibri" pitchFamily="34" charset="-120"/>
              </a:rPr>
              <a:t>5 coin tutuyorsun. </a:t>
            </a:r>
            <a:pPr indent="0" marL="0">
              <a:buNone/>
            </a:pPr>
            <a:r>
              <a:rPr lang="en-US" sz="1500" dirty="0">
                <a:solidFill>
                  <a:srgbClr val="8A94A8"/>
                </a:solidFill>
                <a:latin typeface="Calibri" pitchFamily="34" charset="0"/>
                <a:ea typeface="Calibri" pitchFamily="34" charset="-122"/>
                <a:cs typeface="Calibri" pitchFamily="34" charset="-120"/>
              </a:rPr>
              <a:t>Birlikte hareket ettikleri için son 30 günde ortalama 1,36 bağımsız bahis (n_eff) gibi davrandılar.</a:t>
            </a:r>
            <a:endParaRPr lang="en-US" sz="1500" dirty="0"/>
          </a:p>
        </p:txBody>
      </p:sp>
      <p:sp>
        <p:nvSpPr>
          <p:cNvPr id="6" name="Text 4"/>
          <p:cNvSpPr/>
          <p:nvPr/>
        </p:nvSpPr>
        <p:spPr>
          <a:xfrm>
            <a:off x="457200" y="4434840"/>
            <a:ext cx="45720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Agentic Trading Hackathon · Ankara · 17 Ekim 2026</a:t>
            </a:r>
            <a:endParaRPr lang="en-US" sz="1100" dirty="0"/>
          </a:p>
        </p:txBody>
      </p:sp>
      <p:sp>
        <p:nvSpPr>
          <p:cNvPr id="7" name="Shape 5"/>
          <p:cNvSpPr/>
          <p:nvPr/>
        </p:nvSpPr>
        <p:spPr>
          <a:xfrm>
            <a:off x="5074920" y="1874520"/>
            <a:ext cx="685800" cy="685800"/>
          </a:xfrm>
          <a:prstGeom prst="ellipse">
            <a:avLst/>
          </a:prstGeom>
          <a:solidFill>
            <a:srgbClr val="1A2130">
              <a:alpha val="90000"/>
            </a:srgbClr>
          </a:solidFill>
          <a:ln w="12700">
            <a:solidFill>
              <a:srgbClr val="8A94A8"/>
            </a:solidFill>
            <a:prstDash val="solid"/>
          </a:ln>
        </p:spPr>
      </p:sp>
      <p:sp>
        <p:nvSpPr>
          <p:cNvPr id="8" name="Shape 6"/>
          <p:cNvSpPr/>
          <p:nvPr/>
        </p:nvSpPr>
        <p:spPr>
          <a:xfrm>
            <a:off x="5623560" y="1691640"/>
            <a:ext cx="685800" cy="685800"/>
          </a:xfrm>
          <a:prstGeom prst="ellipse">
            <a:avLst/>
          </a:prstGeom>
          <a:solidFill>
            <a:srgbClr val="1A2130">
              <a:alpha val="90000"/>
            </a:srgbClr>
          </a:solidFill>
          <a:ln w="12700">
            <a:solidFill>
              <a:srgbClr val="8A94A8"/>
            </a:solidFill>
            <a:prstDash val="solid"/>
          </a:ln>
        </p:spPr>
      </p:sp>
      <p:sp>
        <p:nvSpPr>
          <p:cNvPr id="9" name="Shape 7"/>
          <p:cNvSpPr/>
          <p:nvPr/>
        </p:nvSpPr>
        <p:spPr>
          <a:xfrm>
            <a:off x="6035040" y="2194560"/>
            <a:ext cx="685800" cy="685800"/>
          </a:xfrm>
          <a:prstGeom prst="ellipse">
            <a:avLst/>
          </a:prstGeom>
          <a:solidFill>
            <a:srgbClr val="1A2130">
              <a:alpha val="90000"/>
            </a:srgbClr>
          </a:solidFill>
          <a:ln w="12700">
            <a:solidFill>
              <a:srgbClr val="8A94A8"/>
            </a:solidFill>
            <a:prstDash val="solid"/>
          </a:ln>
        </p:spPr>
      </p:sp>
      <p:sp>
        <p:nvSpPr>
          <p:cNvPr id="10" name="Shape 8"/>
          <p:cNvSpPr/>
          <p:nvPr/>
        </p:nvSpPr>
        <p:spPr>
          <a:xfrm>
            <a:off x="5486400" y="2423160"/>
            <a:ext cx="685800" cy="685800"/>
          </a:xfrm>
          <a:prstGeom prst="ellipse">
            <a:avLst/>
          </a:prstGeom>
          <a:solidFill>
            <a:srgbClr val="1A2130">
              <a:alpha val="90000"/>
            </a:srgbClr>
          </a:solidFill>
          <a:ln w="12700">
            <a:solidFill>
              <a:srgbClr val="8A94A8"/>
            </a:solidFill>
            <a:prstDash val="solid"/>
          </a:ln>
        </p:spPr>
      </p:sp>
      <p:sp>
        <p:nvSpPr>
          <p:cNvPr id="11" name="Shape 9"/>
          <p:cNvSpPr/>
          <p:nvPr/>
        </p:nvSpPr>
        <p:spPr>
          <a:xfrm>
            <a:off x="5029200" y="2514600"/>
            <a:ext cx="685800" cy="685800"/>
          </a:xfrm>
          <a:prstGeom prst="ellipse">
            <a:avLst/>
          </a:prstGeom>
          <a:solidFill>
            <a:srgbClr val="1A2130">
              <a:alpha val="90000"/>
            </a:srgbClr>
          </a:solidFill>
          <a:ln w="12700">
            <a:solidFill>
              <a:srgbClr val="8A94A8"/>
            </a:solidFill>
            <a:prstDash val="solid"/>
          </a:ln>
        </p:spPr>
      </p:sp>
      <p:sp>
        <p:nvSpPr>
          <p:cNvPr id="12" name="Text 10"/>
          <p:cNvSpPr/>
          <p:nvPr/>
        </p:nvSpPr>
        <p:spPr>
          <a:xfrm>
            <a:off x="5074920" y="187452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BTC</a:t>
            </a:r>
            <a:endParaRPr lang="en-US" sz="1000" dirty="0"/>
          </a:p>
        </p:txBody>
      </p:sp>
      <p:sp>
        <p:nvSpPr>
          <p:cNvPr id="13" name="Text 11"/>
          <p:cNvSpPr/>
          <p:nvPr/>
        </p:nvSpPr>
        <p:spPr>
          <a:xfrm>
            <a:off x="5623560" y="169164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ETH</a:t>
            </a:r>
            <a:endParaRPr lang="en-US" sz="1000" dirty="0"/>
          </a:p>
        </p:txBody>
      </p:sp>
      <p:sp>
        <p:nvSpPr>
          <p:cNvPr id="14" name="Text 12"/>
          <p:cNvSpPr/>
          <p:nvPr/>
        </p:nvSpPr>
        <p:spPr>
          <a:xfrm>
            <a:off x="6035040" y="219456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SOL</a:t>
            </a:r>
            <a:endParaRPr lang="en-US" sz="1000" dirty="0"/>
          </a:p>
        </p:txBody>
      </p:sp>
      <p:sp>
        <p:nvSpPr>
          <p:cNvPr id="15" name="Text 13"/>
          <p:cNvSpPr/>
          <p:nvPr/>
        </p:nvSpPr>
        <p:spPr>
          <a:xfrm>
            <a:off x="5486400" y="242316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AVAX</a:t>
            </a:r>
            <a:endParaRPr lang="en-US" sz="1000" dirty="0"/>
          </a:p>
        </p:txBody>
      </p:sp>
      <p:sp>
        <p:nvSpPr>
          <p:cNvPr id="16" name="Text 14"/>
          <p:cNvSpPr/>
          <p:nvPr/>
        </p:nvSpPr>
        <p:spPr>
          <a:xfrm>
            <a:off x="5029200" y="2514600"/>
            <a:ext cx="685800" cy="685800"/>
          </a:xfrm>
          <a:prstGeom prst="rect">
            <a:avLst/>
          </a:prstGeom>
          <a:noFill/>
          <a:ln/>
        </p:spPr>
        <p:txBody>
          <a:bodyPr wrap="square" lIns="0" tIns="0" rIns="0" bIns="0" rtlCol="0" anchor="ctr"/>
          <a:lstStyle/>
          <a:p>
            <a:pPr algn="ctr" indent="0" marL="0">
              <a:buNone/>
            </a:pPr>
            <a:r>
              <a:rPr lang="en-US" sz="1000" b="1" dirty="0">
                <a:solidFill>
                  <a:srgbClr val="E6EAF2"/>
                </a:solidFill>
                <a:latin typeface="Calibri" pitchFamily="34" charset="0"/>
                <a:ea typeface="Calibri" pitchFamily="34" charset="-122"/>
                <a:cs typeface="Calibri" pitchFamily="34" charset="-120"/>
              </a:rPr>
              <a:t>OKB</a:t>
            </a:r>
            <a:endParaRPr lang="en-US" sz="1000" dirty="0"/>
          </a:p>
        </p:txBody>
      </p:sp>
      <p:sp>
        <p:nvSpPr>
          <p:cNvPr id="17" name="Text 15"/>
          <p:cNvSpPr/>
          <p:nvPr/>
        </p:nvSpPr>
        <p:spPr>
          <a:xfrm>
            <a:off x="4983480" y="3291840"/>
            <a:ext cx="1828800" cy="274320"/>
          </a:xfrm>
          <a:prstGeom prst="rect">
            <a:avLst/>
          </a:prstGeom>
          <a:noFill/>
          <a:ln/>
        </p:spPr>
        <p:txBody>
          <a:bodyPr wrap="square" lIns="0" tIns="0" rIns="0" bIns="0" rtlCol="0" anchor="ctr"/>
          <a:lstStyle/>
          <a:p>
            <a:pPr algn="ctr" indent="0" marL="0">
              <a:buNone/>
            </a:pPr>
            <a:r>
              <a:rPr lang="en-US" sz="1200" dirty="0">
                <a:solidFill>
                  <a:srgbClr val="8A94A8"/>
                </a:solidFill>
                <a:latin typeface="Calibri" pitchFamily="34" charset="0"/>
                <a:ea typeface="Calibri" pitchFamily="34" charset="-122"/>
                <a:cs typeface="Calibri" pitchFamily="34" charset="-120"/>
              </a:rPr>
              <a:t>5 coin</a:t>
            </a:r>
            <a:endParaRPr lang="en-US" sz="1200" dirty="0"/>
          </a:p>
        </p:txBody>
      </p:sp>
      <p:sp>
        <p:nvSpPr>
          <p:cNvPr id="18" name="Text 16"/>
          <p:cNvSpPr/>
          <p:nvPr/>
        </p:nvSpPr>
        <p:spPr>
          <a:xfrm>
            <a:off x="6812280" y="2011680"/>
            <a:ext cx="411480" cy="548640"/>
          </a:xfrm>
          <a:prstGeom prst="rect">
            <a:avLst/>
          </a:prstGeom>
          <a:noFill/>
          <a:ln/>
        </p:spPr>
        <p:txBody>
          <a:bodyPr wrap="square" lIns="0" tIns="0" rIns="0" bIns="0" rtlCol="0" anchor="ctr"/>
          <a:lstStyle/>
          <a:p>
            <a:pPr algn="ctr" indent="0" marL="0">
              <a:buNone/>
            </a:pPr>
            <a:r>
              <a:rPr lang="en-US" sz="3200" dirty="0">
                <a:solidFill>
                  <a:srgbClr val="8A94A8"/>
                </a:solidFill>
                <a:latin typeface="Calibri" pitchFamily="34" charset="0"/>
                <a:ea typeface="Calibri" pitchFamily="34" charset="-122"/>
                <a:cs typeface="Calibri" pitchFamily="34" charset="-120"/>
              </a:rPr>
              <a:t>≈</a:t>
            </a:r>
            <a:endParaRPr lang="en-US" sz="3200" dirty="0"/>
          </a:p>
        </p:txBody>
      </p:sp>
      <p:sp>
        <p:nvSpPr>
          <p:cNvPr id="19" name="Shape 17"/>
          <p:cNvSpPr/>
          <p:nvPr/>
        </p:nvSpPr>
        <p:spPr>
          <a:xfrm>
            <a:off x="7269480" y="1600200"/>
            <a:ext cx="1463040" cy="1463040"/>
          </a:xfrm>
          <a:prstGeom prst="ellipse">
            <a:avLst/>
          </a:prstGeom>
          <a:solidFill>
            <a:srgbClr val="0B0E14"/>
          </a:solidFill>
          <a:ln w="31750">
            <a:solidFill>
              <a:srgbClr val="E8B04B"/>
            </a:solidFill>
            <a:prstDash val="solid"/>
          </a:ln>
        </p:spPr>
      </p:sp>
      <p:sp>
        <p:nvSpPr>
          <p:cNvPr id="20" name="Text 18"/>
          <p:cNvSpPr/>
          <p:nvPr/>
        </p:nvSpPr>
        <p:spPr>
          <a:xfrm>
            <a:off x="7269480" y="1600200"/>
            <a:ext cx="1463040" cy="1463040"/>
          </a:xfrm>
          <a:prstGeom prst="rect">
            <a:avLst/>
          </a:prstGeom>
          <a:noFill/>
          <a:ln/>
        </p:spPr>
        <p:txBody>
          <a:bodyPr wrap="square" lIns="0" tIns="0" rIns="0" bIns="0" rtlCol="0" anchor="ctr"/>
          <a:lstStyle/>
          <a:p>
            <a:pPr algn="ctr" indent="0" marL="0">
              <a:buNone/>
            </a:pPr>
            <a:r>
              <a:rPr lang="en-US" sz="2600" b="1" dirty="0">
                <a:solidFill>
                  <a:srgbClr val="E8B04B"/>
                </a:solidFill>
                <a:latin typeface="Cambria" pitchFamily="34" charset="0"/>
                <a:ea typeface="Cambria" pitchFamily="34" charset="-122"/>
                <a:cs typeface="Cambria" pitchFamily="34" charset="-120"/>
              </a:rPr>
              <a:t>1,36</a:t>
            </a:r>
            <a:endParaRPr lang="en-US" sz="2600" dirty="0"/>
          </a:p>
        </p:txBody>
      </p:sp>
      <p:sp>
        <p:nvSpPr>
          <p:cNvPr id="21" name="Text 19"/>
          <p:cNvSpPr/>
          <p:nvPr/>
        </p:nvSpPr>
        <p:spPr>
          <a:xfrm>
            <a:off x="6949440" y="3291840"/>
            <a:ext cx="2103120" cy="274320"/>
          </a:xfrm>
          <a:prstGeom prst="rect">
            <a:avLst/>
          </a:prstGeom>
          <a:noFill/>
          <a:ln/>
        </p:spPr>
        <p:txBody>
          <a:bodyPr wrap="square" lIns="0" tIns="0" rIns="0" bIns="0" rtlCol="0" anchor="ctr"/>
          <a:lstStyle/>
          <a:p>
            <a:pPr algn="ctr" indent="0" marL="0">
              <a:buNone/>
            </a:pPr>
            <a:r>
              <a:rPr lang="en-US" sz="1100" dirty="0">
                <a:solidFill>
                  <a:srgbClr val="E8B04B"/>
                </a:solidFill>
                <a:latin typeface="Calibri" pitchFamily="34" charset="0"/>
                <a:ea typeface="Calibri" pitchFamily="34" charset="-122"/>
                <a:cs typeface="Calibri" pitchFamily="34" charset="-120"/>
              </a:rPr>
              <a:t>bağımsız bahis · 30 gün ort.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SORUN</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Bir ajanın sicilini kontrol edemezsin</a:t>
            </a:r>
            <a:endParaRPr lang="en-US" sz="3000" dirty="0"/>
          </a:p>
        </p:txBody>
      </p:sp>
      <p:sp>
        <p:nvSpPr>
          <p:cNvPr id="4" name="Shape 2"/>
          <p:cNvSpPr/>
          <p:nvPr/>
        </p:nvSpPr>
        <p:spPr>
          <a:xfrm>
            <a:off x="457200" y="1417320"/>
            <a:ext cx="4206240" cy="731520"/>
          </a:xfrm>
          <a:prstGeom prst="roundRect">
            <a:avLst>
              <a:gd name="adj" fmla="val 15000"/>
            </a:avLst>
          </a:prstGeom>
          <a:solidFill>
            <a:srgbClr val="121722"/>
          </a:solidFill>
          <a:ln w="9525">
            <a:solidFill>
              <a:srgbClr val="263043"/>
            </a:solidFill>
            <a:prstDash val="solid"/>
          </a:ln>
        </p:spPr>
      </p:sp>
      <p:sp>
        <p:nvSpPr>
          <p:cNvPr id="5" name="Shape 3"/>
          <p:cNvSpPr/>
          <p:nvPr/>
        </p:nvSpPr>
        <p:spPr>
          <a:xfrm>
            <a:off x="640080" y="1591056"/>
            <a:ext cx="384048" cy="384048"/>
          </a:xfrm>
          <a:prstGeom prst="ellipse">
            <a:avLst/>
          </a:prstGeom>
          <a:solidFill>
            <a:srgbClr val="0B0E14"/>
          </a:solidFill>
          <a:ln w="19050">
            <a:solidFill>
              <a:srgbClr val="E8B04B"/>
            </a:solidFill>
            <a:prstDash val="solid"/>
          </a:ln>
        </p:spPr>
      </p:sp>
      <p:sp>
        <p:nvSpPr>
          <p:cNvPr id="6" name="Text 4"/>
          <p:cNvSpPr/>
          <p:nvPr/>
        </p:nvSpPr>
        <p:spPr>
          <a:xfrm>
            <a:off x="640080" y="159105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50876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Test sonuçları seçilerek gösteriliyor</a:t>
            </a:r>
            <a:endParaRPr lang="en-US" sz="1500" dirty="0"/>
          </a:p>
        </p:txBody>
      </p:sp>
      <p:sp>
        <p:nvSpPr>
          <p:cNvPr id="8" name="Text 6"/>
          <p:cNvSpPr/>
          <p:nvPr/>
        </p:nvSpPr>
        <p:spPr>
          <a:xfrm>
            <a:off x="1188720" y="180136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Sadece iyi denemeler öne çıkarılıyor.</a:t>
            </a:r>
            <a:endParaRPr lang="en-US" sz="1200" dirty="0"/>
          </a:p>
        </p:txBody>
      </p:sp>
      <p:sp>
        <p:nvSpPr>
          <p:cNvPr id="9" name="Shape 7"/>
          <p:cNvSpPr/>
          <p:nvPr/>
        </p:nvSpPr>
        <p:spPr>
          <a:xfrm>
            <a:off x="457200" y="2286000"/>
            <a:ext cx="4206240" cy="731520"/>
          </a:xfrm>
          <a:prstGeom prst="roundRect">
            <a:avLst>
              <a:gd name="adj" fmla="val 15000"/>
            </a:avLst>
          </a:prstGeom>
          <a:solidFill>
            <a:srgbClr val="121722"/>
          </a:solidFill>
          <a:ln w="9525">
            <a:solidFill>
              <a:srgbClr val="263043"/>
            </a:solidFill>
            <a:prstDash val="solid"/>
          </a:ln>
        </p:spPr>
      </p:sp>
      <p:sp>
        <p:nvSpPr>
          <p:cNvPr id="10" name="Shape 8"/>
          <p:cNvSpPr/>
          <p:nvPr/>
        </p:nvSpPr>
        <p:spPr>
          <a:xfrm>
            <a:off x="640080" y="2459736"/>
            <a:ext cx="384048" cy="384048"/>
          </a:xfrm>
          <a:prstGeom prst="ellipse">
            <a:avLst/>
          </a:prstGeom>
          <a:solidFill>
            <a:srgbClr val="0B0E14"/>
          </a:solidFill>
          <a:ln w="19050">
            <a:solidFill>
              <a:srgbClr val="E8B04B"/>
            </a:solidFill>
            <a:prstDash val="solid"/>
          </a:ln>
        </p:spPr>
      </p:sp>
      <p:sp>
        <p:nvSpPr>
          <p:cNvPr id="11" name="Text 9"/>
          <p:cNvSpPr/>
          <p:nvPr/>
        </p:nvSpPr>
        <p:spPr>
          <a:xfrm>
            <a:off x="640080" y="245973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188720" y="237744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Ekran görüntüsü düzenlenebilir</a:t>
            </a:r>
            <a:endParaRPr lang="en-US" sz="1500" dirty="0"/>
          </a:p>
        </p:txBody>
      </p:sp>
      <p:sp>
        <p:nvSpPr>
          <p:cNvPr id="13" name="Text 11"/>
          <p:cNvSpPr/>
          <p:nvPr/>
        </p:nvSpPr>
        <p:spPr>
          <a:xfrm>
            <a:off x="1188720" y="267004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Kâr gösteren bir resim kanıt değildir.</a:t>
            </a:r>
            <a:endParaRPr lang="en-US" sz="1200" dirty="0"/>
          </a:p>
        </p:txBody>
      </p:sp>
      <p:sp>
        <p:nvSpPr>
          <p:cNvPr id="14" name="Shape 12"/>
          <p:cNvSpPr/>
          <p:nvPr/>
        </p:nvSpPr>
        <p:spPr>
          <a:xfrm>
            <a:off x="457200" y="3154680"/>
            <a:ext cx="4206240" cy="731520"/>
          </a:xfrm>
          <a:prstGeom prst="roundRect">
            <a:avLst>
              <a:gd name="adj" fmla="val 15000"/>
            </a:avLst>
          </a:prstGeom>
          <a:solidFill>
            <a:srgbClr val="121722"/>
          </a:solidFill>
          <a:ln w="9525">
            <a:solidFill>
              <a:srgbClr val="263043"/>
            </a:solidFill>
            <a:prstDash val="solid"/>
          </a:ln>
        </p:spPr>
      </p:sp>
      <p:sp>
        <p:nvSpPr>
          <p:cNvPr id="15" name="Shape 13"/>
          <p:cNvSpPr/>
          <p:nvPr/>
        </p:nvSpPr>
        <p:spPr>
          <a:xfrm>
            <a:off x="640080" y="3328416"/>
            <a:ext cx="384048" cy="384048"/>
          </a:xfrm>
          <a:prstGeom prst="ellipse">
            <a:avLst/>
          </a:prstGeom>
          <a:solidFill>
            <a:srgbClr val="0B0E14"/>
          </a:solidFill>
          <a:ln w="19050">
            <a:solidFill>
              <a:srgbClr val="E8B04B"/>
            </a:solidFill>
            <a:prstDash val="solid"/>
          </a:ln>
        </p:spPr>
      </p:sp>
      <p:sp>
        <p:nvSpPr>
          <p:cNvPr id="16" name="Text 14"/>
          <p:cNvSpPr/>
          <p:nvPr/>
        </p:nvSpPr>
        <p:spPr>
          <a:xfrm>
            <a:off x="640080" y="3328416"/>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1188720" y="3246120"/>
            <a:ext cx="3383280" cy="292608"/>
          </a:xfrm>
          <a:prstGeom prst="rect">
            <a:avLst/>
          </a:prstGeom>
          <a:noFill/>
          <a:ln/>
        </p:spPr>
        <p:txBody>
          <a:bodyPr wrap="square" lIns="0" tIns="0" rIns="0" bIns="0" rtlCol="0" anchor="ctr"/>
          <a:lstStyle/>
          <a:p>
            <a:pPr indent="0" marL="0">
              <a:buNone/>
            </a:pPr>
            <a:r>
              <a:rPr lang="en-US" sz="1500" b="1" dirty="0">
                <a:solidFill>
                  <a:srgbClr val="E6EAF2"/>
                </a:solidFill>
                <a:latin typeface="Calibri" pitchFamily="34" charset="0"/>
                <a:ea typeface="Calibri" pitchFamily="34" charset="-122"/>
                <a:cs typeface="Calibri" pitchFamily="34" charset="-120"/>
              </a:rPr>
              <a:t>Kararlar sonradan "düzeltiliyor"</a:t>
            </a:r>
            <a:endParaRPr lang="en-US" sz="1500" dirty="0"/>
          </a:p>
        </p:txBody>
      </p:sp>
      <p:sp>
        <p:nvSpPr>
          <p:cNvPr id="18" name="Text 16"/>
          <p:cNvSpPr/>
          <p:nvPr/>
        </p:nvSpPr>
        <p:spPr>
          <a:xfrm>
            <a:off x="1188720" y="3538728"/>
            <a:ext cx="338328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Piyasa hareket edince kayıtlar yeniden yazılabilir.</a:t>
            </a:r>
            <a:endParaRPr lang="en-US" sz="1200" dirty="0"/>
          </a:p>
        </p:txBody>
      </p:sp>
      <p:sp>
        <p:nvSpPr>
          <p:cNvPr id="19" name="Shape 17"/>
          <p:cNvSpPr/>
          <p:nvPr/>
        </p:nvSpPr>
        <p:spPr>
          <a:xfrm>
            <a:off x="4937760" y="1417320"/>
            <a:ext cx="3749040" cy="2468880"/>
          </a:xfrm>
          <a:prstGeom prst="roundRect">
            <a:avLst>
              <a:gd name="adj" fmla="val 4444"/>
            </a:avLst>
          </a:prstGeom>
          <a:solidFill>
            <a:srgbClr val="1A2130"/>
          </a:solidFill>
          <a:ln w="9525">
            <a:solidFill>
              <a:srgbClr val="263043"/>
            </a:solidFill>
            <a:prstDash val="solid"/>
          </a:ln>
        </p:spPr>
      </p:sp>
      <p:sp>
        <p:nvSpPr>
          <p:cNvPr id="20" name="Text 18"/>
          <p:cNvSpPr/>
          <p:nvPr/>
        </p:nvSpPr>
        <p:spPr>
          <a:xfrm>
            <a:off x="5166360" y="1600200"/>
            <a:ext cx="3291840" cy="640080"/>
          </a:xfrm>
          <a:prstGeom prst="rect">
            <a:avLst/>
          </a:prstGeom>
          <a:noFill/>
          <a:ln/>
        </p:spPr>
        <p:txBody>
          <a:bodyPr wrap="square" lIns="0" tIns="0" rIns="0" bIns="0" rtlCol="0" anchor="t"/>
          <a:lstStyle/>
          <a:p>
            <a:pPr indent="0" marL="0">
              <a:buNone/>
            </a:pPr>
            <a:r>
              <a:rPr lang="en-US" sz="1800" b="1" dirty="0">
                <a:solidFill>
                  <a:srgbClr val="E8B04B"/>
                </a:solidFill>
                <a:latin typeface="Cambria" pitchFamily="34" charset="0"/>
                <a:ea typeface="Cambria" pitchFamily="34" charset="-122"/>
                <a:cs typeface="Cambria" pitchFamily="34" charset="-120"/>
              </a:rPr>
              <a:t>"Çeşitlendirilmiş" çoğu zaman tek bahistir</a:t>
            </a:r>
            <a:endParaRPr lang="en-US" sz="1800" dirty="0"/>
          </a:p>
        </p:txBody>
      </p:sp>
      <p:sp>
        <p:nvSpPr>
          <p:cNvPr id="21" name="Text 19"/>
          <p:cNvSpPr/>
          <p:nvPr/>
        </p:nvSpPr>
        <p:spPr>
          <a:xfrm>
            <a:off x="5166360" y="2286000"/>
            <a:ext cx="3291840" cy="914400"/>
          </a:xfrm>
          <a:prstGeom prst="rect">
            <a:avLst/>
          </a:prstGeom>
          <a:noFill/>
          <a:ln/>
        </p:spPr>
        <p:txBody>
          <a:bodyPr wrap="square" lIns="0" tIns="0" rIns="0" bIns="0" rtlCol="0" anchor="t"/>
          <a:lstStyle/>
          <a:p>
            <a:pPr indent="0" marL="0">
              <a:buNone/>
            </a:pPr>
            <a:r>
              <a:rPr lang="en-US" sz="1400" dirty="0">
                <a:solidFill>
                  <a:srgbClr val="E6EAF2"/>
                </a:solidFill>
                <a:latin typeface="Calibri" pitchFamily="34" charset="0"/>
                <a:ea typeface="Calibri" pitchFamily="34" charset="-122"/>
                <a:cs typeface="Calibri" pitchFamily="34" charset="-120"/>
              </a:rPr>
              <a:t>Kripto coinlerin çoğu birlikte yükselip düşer. Beş tane almak güvenli hissettirir ama neredeyse tek bir bahis gibi davranır.</a:t>
            </a:r>
            <a:endParaRPr lang="en-US" sz="1400" dirty="0"/>
          </a:p>
        </p:txBody>
      </p:sp>
      <p:sp>
        <p:nvSpPr>
          <p:cNvPr id="22" name="Shape 20"/>
          <p:cNvSpPr/>
          <p:nvPr/>
        </p:nvSpPr>
        <p:spPr>
          <a:xfrm>
            <a:off x="5257800" y="3246120"/>
            <a:ext cx="457200" cy="457200"/>
          </a:xfrm>
          <a:prstGeom prst="ellipse">
            <a:avLst/>
          </a:prstGeom>
          <a:solidFill>
            <a:srgbClr val="121722">
              <a:alpha val="80000"/>
            </a:srgbClr>
          </a:solidFill>
          <a:ln w="12700">
            <a:solidFill>
              <a:srgbClr val="8A94A8"/>
            </a:solidFill>
            <a:prstDash val="solid"/>
          </a:ln>
        </p:spPr>
      </p:sp>
      <p:sp>
        <p:nvSpPr>
          <p:cNvPr id="23" name="Shape 21"/>
          <p:cNvSpPr/>
          <p:nvPr/>
        </p:nvSpPr>
        <p:spPr>
          <a:xfrm>
            <a:off x="5550408" y="3246120"/>
            <a:ext cx="457200" cy="457200"/>
          </a:xfrm>
          <a:prstGeom prst="ellipse">
            <a:avLst/>
          </a:prstGeom>
          <a:solidFill>
            <a:srgbClr val="121722">
              <a:alpha val="80000"/>
            </a:srgbClr>
          </a:solidFill>
          <a:ln w="12700">
            <a:solidFill>
              <a:srgbClr val="8A94A8"/>
            </a:solidFill>
            <a:prstDash val="solid"/>
          </a:ln>
        </p:spPr>
      </p:sp>
      <p:sp>
        <p:nvSpPr>
          <p:cNvPr id="24" name="Shape 22"/>
          <p:cNvSpPr/>
          <p:nvPr/>
        </p:nvSpPr>
        <p:spPr>
          <a:xfrm>
            <a:off x="5843016" y="3246120"/>
            <a:ext cx="457200" cy="457200"/>
          </a:xfrm>
          <a:prstGeom prst="ellipse">
            <a:avLst/>
          </a:prstGeom>
          <a:solidFill>
            <a:srgbClr val="121722">
              <a:alpha val="80000"/>
            </a:srgbClr>
          </a:solidFill>
          <a:ln w="12700">
            <a:solidFill>
              <a:srgbClr val="8A94A8"/>
            </a:solidFill>
            <a:prstDash val="solid"/>
          </a:ln>
        </p:spPr>
      </p:sp>
      <p:sp>
        <p:nvSpPr>
          <p:cNvPr id="25" name="Shape 23"/>
          <p:cNvSpPr/>
          <p:nvPr/>
        </p:nvSpPr>
        <p:spPr>
          <a:xfrm>
            <a:off x="6135624" y="3246120"/>
            <a:ext cx="457200" cy="457200"/>
          </a:xfrm>
          <a:prstGeom prst="ellipse">
            <a:avLst/>
          </a:prstGeom>
          <a:solidFill>
            <a:srgbClr val="121722">
              <a:alpha val="80000"/>
            </a:srgbClr>
          </a:solidFill>
          <a:ln w="12700">
            <a:solidFill>
              <a:srgbClr val="8A94A8"/>
            </a:solidFill>
            <a:prstDash val="solid"/>
          </a:ln>
        </p:spPr>
      </p:sp>
      <p:sp>
        <p:nvSpPr>
          <p:cNvPr id="26" name="Shape 24"/>
          <p:cNvSpPr/>
          <p:nvPr/>
        </p:nvSpPr>
        <p:spPr>
          <a:xfrm>
            <a:off x="6428232" y="3246120"/>
            <a:ext cx="457200" cy="457200"/>
          </a:xfrm>
          <a:prstGeom prst="ellipse">
            <a:avLst/>
          </a:prstGeom>
          <a:solidFill>
            <a:srgbClr val="121722">
              <a:alpha val="80000"/>
            </a:srgbClr>
          </a:solidFill>
          <a:ln w="12700">
            <a:solidFill>
              <a:srgbClr val="8A94A8"/>
            </a:solidFill>
            <a:prstDash val="solid"/>
          </a:ln>
        </p:spPr>
      </p:sp>
      <p:sp>
        <p:nvSpPr>
          <p:cNvPr id="27" name="Text 25"/>
          <p:cNvSpPr/>
          <p:nvPr/>
        </p:nvSpPr>
        <p:spPr>
          <a:xfrm>
            <a:off x="7040880" y="3246120"/>
            <a:ext cx="1508760" cy="45720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 1,36 bahis</a:t>
            </a:r>
            <a:endParaRPr lang="en-US" sz="1400" dirty="0"/>
          </a:p>
        </p:txBody>
      </p:sp>
      <p:sp>
        <p:nvSpPr>
          <p:cNvPr id="28" name="Text 26"/>
          <p:cNvSpPr/>
          <p:nvPr/>
        </p:nvSpPr>
        <p:spPr>
          <a:xfrm>
            <a:off x="457200" y="4206240"/>
            <a:ext cx="8229600" cy="41148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Kimin için: </a:t>
            </a:r>
            <a:pPr indent="0" marL="0">
              <a:buNone/>
            </a:pPr>
            <a:r>
              <a:rPr lang="en-US" sz="1400" dirty="0">
                <a:solidFill>
                  <a:srgbClr val="E6EAF2"/>
                </a:solidFill>
                <a:latin typeface="Calibri" pitchFamily="34" charset="0"/>
                <a:ea typeface="Calibri" pitchFamily="34" charset="-122"/>
                <a:cs typeface="Calibri" pitchFamily="34" charset="-120"/>
              </a:rPr>
              <a:t>parasını bir yapay zekâ ajanına emanet etmek isteyen ve önce kanıt görmek isteyen herkes.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FİKİR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Coin'i değil, bahsi say</a:t>
            </a:r>
            <a:endParaRPr lang="en-US" sz="3000" dirty="0"/>
          </a:p>
        </p:txBody>
      </p:sp>
      <p:graphicFrame>
        <p:nvGraphicFramePr>
          <p:cNvPr id="4" name="Chart 0" descr=""/>
          <p:cNvGraphicFramePr/>
          <p:nvPr/>
        </p:nvGraphicFramePr>
        <p:xfrm>
          <a:off x="365760" y="1280160"/>
          <a:ext cx="5212080" cy="3429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852160" y="1280160"/>
            <a:ext cx="2834640" cy="1417320"/>
          </a:xfrm>
          <a:prstGeom prst="roundRect">
            <a:avLst>
              <a:gd name="adj" fmla="val 7742"/>
            </a:avLst>
          </a:prstGeom>
          <a:solidFill>
            <a:srgbClr val="1A2130"/>
          </a:solidFill>
          <a:ln w="9525">
            <a:solidFill>
              <a:srgbClr val="263043"/>
            </a:solidFill>
            <a:prstDash val="solid"/>
          </a:ln>
        </p:spPr>
      </p:sp>
      <p:sp>
        <p:nvSpPr>
          <p:cNvPr id="6" name="Text 3"/>
          <p:cNvSpPr/>
          <p:nvPr/>
        </p:nvSpPr>
        <p:spPr>
          <a:xfrm>
            <a:off x="6035040" y="1371600"/>
            <a:ext cx="246888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Son 30 gün</a:t>
            </a:r>
            <a:endParaRPr lang="en-US" sz="1100" dirty="0"/>
          </a:p>
        </p:txBody>
      </p:sp>
      <p:sp>
        <p:nvSpPr>
          <p:cNvPr id="7" name="Text 4"/>
          <p:cNvSpPr/>
          <p:nvPr/>
        </p:nvSpPr>
        <p:spPr>
          <a:xfrm>
            <a:off x="6035040" y="1645920"/>
            <a:ext cx="2468880" cy="548640"/>
          </a:xfrm>
          <a:prstGeom prst="rect">
            <a:avLst/>
          </a:prstGeom>
          <a:noFill/>
          <a:ln/>
        </p:spPr>
        <p:txBody>
          <a:bodyPr wrap="square" lIns="0" tIns="0" rIns="0" bIns="0" rtlCol="0" anchor="ctr"/>
          <a:lstStyle/>
          <a:p>
            <a:pPr indent="0" marL="0">
              <a:buNone/>
            </a:pPr>
            <a:r>
              <a:rPr lang="en-US" sz="3000" b="1" dirty="0">
                <a:solidFill>
                  <a:srgbClr val="E8B04B"/>
                </a:solidFill>
                <a:latin typeface="Cambria" pitchFamily="34" charset="0"/>
                <a:ea typeface="Cambria" pitchFamily="34" charset="-122"/>
                <a:cs typeface="Cambria" pitchFamily="34" charset="-120"/>
              </a:rPr>
              <a:t>1,36</a:t>
            </a:r>
            <a:endParaRPr lang="en-US" sz="3000" dirty="0"/>
          </a:p>
        </p:txBody>
      </p:sp>
      <p:sp>
        <p:nvSpPr>
          <p:cNvPr id="8" name="Text 5"/>
          <p:cNvSpPr/>
          <p:nvPr/>
        </p:nvSpPr>
        <p:spPr>
          <a:xfrm>
            <a:off x="6035040" y="2194560"/>
            <a:ext cx="2468880" cy="45720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5 coin'den ortalama bağımsız bahis (gerçek OKX fiyatlarıyla tekrar oynatma)</a:t>
            </a:r>
            <a:endParaRPr lang="en-US" sz="1100" dirty="0"/>
          </a:p>
        </p:txBody>
      </p:sp>
      <p:sp>
        <p:nvSpPr>
          <p:cNvPr id="9" name="Text 6"/>
          <p:cNvSpPr/>
          <p:nvPr/>
        </p:nvSpPr>
        <p:spPr>
          <a:xfrm>
            <a:off x="5852160" y="2880360"/>
            <a:ext cx="2834640" cy="1828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Birlikte hareket eden coinler tek bahis sayılır.</a:t>
            </a:r>
            <a:endParaRPr lang="en-US" sz="1300" dirty="0"/>
          </a:p>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Aynı türden coin eklemek neredeyse hiçbir şey katmaz.</a:t>
            </a:r>
            <a:endParaRPr lang="en-US" sz="1300" dirty="0"/>
          </a:p>
          <a:p>
            <a:pPr marL="342900" indent="-342900">
              <a:spcAft>
                <a:spcPts val="600"/>
              </a:spcAft>
              <a:buSzPct val="100000"/>
              <a:buChar char="•"/>
            </a:pPr>
            <a:r>
              <a:rPr lang="en-US" sz="1300" dirty="0">
                <a:solidFill>
                  <a:srgbClr val="E6EAF2"/>
                </a:solidFill>
                <a:latin typeface="Calibri" pitchFamily="34" charset="0"/>
                <a:ea typeface="Calibri" pitchFamily="34" charset="-122"/>
                <a:cs typeface="Calibri" pitchFamily="34" charset="-120"/>
              </a:rPr>
              <a:t>GRAIL parayı coin sayısına göre değil, birlikte hareketlerine göre dağıtır.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ÜRÜN</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GRAIL dört adımda ne yapar</a:t>
            </a:r>
            <a:endParaRPr lang="en-US" sz="3000" dirty="0"/>
          </a:p>
        </p:txBody>
      </p:sp>
      <p:sp>
        <p:nvSpPr>
          <p:cNvPr id="4" name="Shape 2"/>
          <p:cNvSpPr/>
          <p:nvPr/>
        </p:nvSpPr>
        <p:spPr>
          <a:xfrm>
            <a:off x="457200" y="1371600"/>
            <a:ext cx="1874520" cy="2423160"/>
          </a:xfrm>
          <a:prstGeom prst="roundRect">
            <a:avLst>
              <a:gd name="adj" fmla="val 5854"/>
            </a:avLst>
          </a:prstGeom>
          <a:solidFill>
            <a:srgbClr val="121722"/>
          </a:solidFill>
          <a:ln w="9525">
            <a:solidFill>
              <a:srgbClr val="263043"/>
            </a:solidFill>
            <a:prstDash val="solid"/>
          </a:ln>
        </p:spPr>
      </p:sp>
      <p:sp>
        <p:nvSpPr>
          <p:cNvPr id="5" name="Shape 3"/>
          <p:cNvSpPr/>
          <p:nvPr/>
        </p:nvSpPr>
        <p:spPr>
          <a:xfrm>
            <a:off x="640080" y="1554480"/>
            <a:ext cx="457200" cy="457200"/>
          </a:xfrm>
          <a:prstGeom prst="ellipse">
            <a:avLst/>
          </a:prstGeom>
          <a:solidFill>
            <a:srgbClr val="0B0E14"/>
          </a:solidFill>
          <a:ln w="19050">
            <a:solidFill>
              <a:srgbClr val="E8B04B"/>
            </a:solidFill>
            <a:prstDash val="solid"/>
          </a:ln>
        </p:spPr>
      </p:sp>
      <p:sp>
        <p:nvSpPr>
          <p:cNvPr id="6" name="Text 4"/>
          <p:cNvSpPr/>
          <p:nvPr/>
        </p:nvSpPr>
        <p:spPr>
          <a:xfrm>
            <a:off x="64008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64008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Bak</a:t>
            </a:r>
            <a:endParaRPr lang="en-US" sz="2000" dirty="0"/>
          </a:p>
        </p:txBody>
      </p:sp>
      <p:sp>
        <p:nvSpPr>
          <p:cNvPr id="8" name="Text 6"/>
          <p:cNvSpPr/>
          <p:nvPr/>
        </p:nvSpPr>
        <p:spPr>
          <a:xfrm>
            <a:off x="64008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OKX Agent Trade Kit ile OKX TR'den fiyatları, fiyat geçmişini ve hesap bakiyesini okur.</a:t>
            </a:r>
            <a:endParaRPr lang="en-US" sz="1200" dirty="0"/>
          </a:p>
        </p:txBody>
      </p:sp>
      <p:sp>
        <p:nvSpPr>
          <p:cNvPr id="9" name="Shape 7"/>
          <p:cNvSpPr/>
          <p:nvPr/>
        </p:nvSpPr>
        <p:spPr>
          <a:xfrm>
            <a:off x="2560320" y="1371600"/>
            <a:ext cx="1874520" cy="2423160"/>
          </a:xfrm>
          <a:prstGeom prst="roundRect">
            <a:avLst>
              <a:gd name="adj" fmla="val 5854"/>
            </a:avLst>
          </a:prstGeom>
          <a:solidFill>
            <a:srgbClr val="121722"/>
          </a:solidFill>
          <a:ln w="9525">
            <a:solidFill>
              <a:srgbClr val="263043"/>
            </a:solidFill>
            <a:prstDash val="solid"/>
          </a:ln>
        </p:spPr>
      </p:sp>
      <p:sp>
        <p:nvSpPr>
          <p:cNvPr id="10" name="Shape 8"/>
          <p:cNvSpPr/>
          <p:nvPr/>
        </p:nvSpPr>
        <p:spPr>
          <a:xfrm>
            <a:off x="2743200" y="1554480"/>
            <a:ext cx="457200" cy="457200"/>
          </a:xfrm>
          <a:prstGeom prst="ellipse">
            <a:avLst/>
          </a:prstGeom>
          <a:solidFill>
            <a:srgbClr val="0B0E14"/>
          </a:solidFill>
          <a:ln w="19050">
            <a:solidFill>
              <a:srgbClr val="E8B04B"/>
            </a:solidFill>
            <a:prstDash val="solid"/>
          </a:ln>
        </p:spPr>
      </p:sp>
      <p:sp>
        <p:nvSpPr>
          <p:cNvPr id="11" name="Text 9"/>
          <p:cNvSpPr/>
          <p:nvPr/>
        </p:nvSpPr>
        <p:spPr>
          <a:xfrm>
            <a:off x="274320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274320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Karar ver</a:t>
            </a:r>
            <a:endParaRPr lang="en-US" sz="2000" dirty="0"/>
          </a:p>
        </p:txBody>
      </p:sp>
      <p:sp>
        <p:nvSpPr>
          <p:cNvPr id="13" name="Text 11"/>
          <p:cNvSpPr/>
          <p:nvPr/>
        </p:nvSpPr>
        <p:spPr>
          <a:xfrm>
            <a:off x="274320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Sabit matematik her coin için al, sat ya da bekle der. Aynı veri, aynı karar.</a:t>
            </a:r>
            <a:endParaRPr lang="en-US" sz="1200" dirty="0"/>
          </a:p>
        </p:txBody>
      </p:sp>
      <p:sp>
        <p:nvSpPr>
          <p:cNvPr id="14" name="Shape 12"/>
          <p:cNvSpPr/>
          <p:nvPr/>
        </p:nvSpPr>
        <p:spPr>
          <a:xfrm>
            <a:off x="4663440" y="1371600"/>
            <a:ext cx="1874520" cy="2423160"/>
          </a:xfrm>
          <a:prstGeom prst="roundRect">
            <a:avLst>
              <a:gd name="adj" fmla="val 5854"/>
            </a:avLst>
          </a:prstGeom>
          <a:solidFill>
            <a:srgbClr val="121722"/>
          </a:solidFill>
          <a:ln w="9525">
            <a:solidFill>
              <a:srgbClr val="263043"/>
            </a:solidFill>
            <a:prstDash val="solid"/>
          </a:ln>
        </p:spPr>
      </p:sp>
      <p:sp>
        <p:nvSpPr>
          <p:cNvPr id="15" name="Shape 13"/>
          <p:cNvSpPr/>
          <p:nvPr/>
        </p:nvSpPr>
        <p:spPr>
          <a:xfrm>
            <a:off x="4846320" y="1554480"/>
            <a:ext cx="457200" cy="457200"/>
          </a:xfrm>
          <a:prstGeom prst="ellipse">
            <a:avLst/>
          </a:prstGeom>
          <a:solidFill>
            <a:srgbClr val="0B0E14"/>
          </a:solidFill>
          <a:ln w="19050">
            <a:solidFill>
              <a:srgbClr val="8B9CFF"/>
            </a:solidFill>
            <a:prstDash val="solid"/>
          </a:ln>
        </p:spPr>
      </p:sp>
      <p:sp>
        <p:nvSpPr>
          <p:cNvPr id="16" name="Text 14"/>
          <p:cNvSpPr/>
          <p:nvPr/>
        </p:nvSpPr>
        <p:spPr>
          <a:xfrm>
            <a:off x="4846320" y="1554480"/>
            <a:ext cx="457200" cy="45720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484632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Mühürle</a:t>
            </a:r>
            <a:endParaRPr lang="en-US" sz="2000" dirty="0"/>
          </a:p>
        </p:txBody>
      </p:sp>
      <p:sp>
        <p:nvSpPr>
          <p:cNvPr id="18" name="Text 16"/>
          <p:cNvSpPr/>
          <p:nvPr/>
        </p:nvSpPr>
        <p:spPr>
          <a:xfrm>
            <a:off x="484632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Kararı, emir verilmeden önce Avalanche'a kilitler.</a:t>
            </a:r>
            <a:endParaRPr lang="en-US" sz="1200" dirty="0"/>
          </a:p>
        </p:txBody>
      </p:sp>
      <p:sp>
        <p:nvSpPr>
          <p:cNvPr id="19" name="Shape 17"/>
          <p:cNvSpPr/>
          <p:nvPr/>
        </p:nvSpPr>
        <p:spPr>
          <a:xfrm>
            <a:off x="6766560" y="1371600"/>
            <a:ext cx="1874520" cy="2423160"/>
          </a:xfrm>
          <a:prstGeom prst="roundRect">
            <a:avLst>
              <a:gd name="adj" fmla="val 5854"/>
            </a:avLst>
          </a:prstGeom>
          <a:solidFill>
            <a:srgbClr val="121722"/>
          </a:solidFill>
          <a:ln w="9525">
            <a:solidFill>
              <a:srgbClr val="263043"/>
            </a:solidFill>
            <a:prstDash val="solid"/>
          </a:ln>
        </p:spPr>
      </p:sp>
      <p:sp>
        <p:nvSpPr>
          <p:cNvPr id="20" name="Shape 18"/>
          <p:cNvSpPr/>
          <p:nvPr/>
        </p:nvSpPr>
        <p:spPr>
          <a:xfrm>
            <a:off x="6949440" y="1554480"/>
            <a:ext cx="457200" cy="457200"/>
          </a:xfrm>
          <a:prstGeom prst="ellipse">
            <a:avLst/>
          </a:prstGeom>
          <a:solidFill>
            <a:srgbClr val="0B0E14"/>
          </a:solidFill>
          <a:ln w="19050">
            <a:solidFill>
              <a:srgbClr val="E8B04B"/>
            </a:solidFill>
            <a:prstDash val="solid"/>
          </a:ln>
        </p:spPr>
      </p:sp>
      <p:sp>
        <p:nvSpPr>
          <p:cNvPr id="21" name="Text 19"/>
          <p:cNvSpPr/>
          <p:nvPr/>
        </p:nvSpPr>
        <p:spPr>
          <a:xfrm>
            <a:off x="6949440" y="1554480"/>
            <a:ext cx="457200" cy="45720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949440" y="2148840"/>
            <a:ext cx="1554480" cy="36576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Göster</a:t>
            </a:r>
            <a:endParaRPr lang="en-US" sz="2000" dirty="0"/>
          </a:p>
        </p:txBody>
      </p:sp>
      <p:sp>
        <p:nvSpPr>
          <p:cNvPr id="23" name="Text 21"/>
          <p:cNvSpPr/>
          <p:nvPr/>
        </p:nvSpPr>
        <p:spPr>
          <a:xfrm>
            <a:off x="6949440" y="2560320"/>
            <a:ext cx="1554480" cy="118872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Herkesin her kararı yeniden kontrol edebildiği bir panel.</a:t>
            </a:r>
            <a:endParaRPr lang="en-US" sz="1200" dirty="0"/>
          </a:p>
        </p:txBody>
      </p:sp>
      <p:sp>
        <p:nvSpPr>
          <p:cNvPr id="24" name="Shape 22"/>
          <p:cNvSpPr/>
          <p:nvPr/>
        </p:nvSpPr>
        <p:spPr>
          <a:xfrm>
            <a:off x="457200" y="4023360"/>
            <a:ext cx="8183880" cy="640080"/>
          </a:xfrm>
          <a:prstGeom prst="roundRect">
            <a:avLst>
              <a:gd name="adj" fmla="val 17143"/>
            </a:avLst>
          </a:prstGeom>
          <a:solidFill>
            <a:srgbClr val="1A2130"/>
          </a:solidFill>
          <a:ln w="9525">
            <a:solidFill>
              <a:srgbClr val="263043"/>
            </a:solidFill>
            <a:prstDash val="solid"/>
          </a:ln>
        </p:spPr>
      </p:sp>
      <p:sp>
        <p:nvSpPr>
          <p:cNvPr id="25" name="Text 23"/>
          <p:cNvSpPr/>
          <p:nvPr/>
        </p:nvSpPr>
        <p:spPr>
          <a:xfrm>
            <a:off x="685800" y="4023360"/>
            <a:ext cx="7772400" cy="64008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Yapay zekâ sadece hayır diyebilir. </a:t>
            </a:r>
            <a:pPr indent="0" marL="0">
              <a:buNone/>
            </a:pPr>
            <a:r>
              <a:rPr lang="en-US" sz="1400" dirty="0">
                <a:solidFill>
                  <a:srgbClr val="E6EAF2"/>
                </a:solidFill>
                <a:latin typeface="Calibri" pitchFamily="34" charset="0"/>
                <a:ea typeface="Calibri" pitchFamily="34" charset="-122"/>
                <a:cs typeface="Calibri" pitchFamily="34" charset="-120"/>
              </a:rPr>
              <a:t>Her alımı bir yapay zekâ ikinci kez kontrol eder: küçültebilir ya da iptal edebilir, asla büyütemez.</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AKILLI GİRİŞ</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Rejime göre strateji seçimi</a:t>
            </a:r>
            <a:endParaRPr lang="en-US" sz="3000" dirty="0"/>
          </a:p>
        </p:txBody>
      </p:sp>
      <p:sp>
        <p:nvSpPr>
          <p:cNvPr id="4" name="Shape 2"/>
          <p:cNvSpPr/>
          <p:nvPr/>
        </p:nvSpPr>
        <p:spPr>
          <a:xfrm>
            <a:off x="457200" y="1325880"/>
            <a:ext cx="3977640" cy="1600200"/>
          </a:xfrm>
          <a:prstGeom prst="roundRect">
            <a:avLst>
              <a:gd name="adj" fmla="val 6857"/>
            </a:avLst>
          </a:prstGeom>
          <a:solidFill>
            <a:srgbClr val="121722"/>
          </a:solidFill>
          <a:ln w="9525">
            <a:solidFill>
              <a:srgbClr val="263043"/>
            </a:solidFill>
            <a:prstDash val="solid"/>
          </a:ln>
        </p:spPr>
      </p:sp>
      <p:sp>
        <p:nvSpPr>
          <p:cNvPr id="5" name="Shape 3"/>
          <p:cNvSpPr/>
          <p:nvPr/>
        </p:nvSpPr>
        <p:spPr>
          <a:xfrm>
            <a:off x="640080" y="1463040"/>
            <a:ext cx="384048" cy="384048"/>
          </a:xfrm>
          <a:prstGeom prst="ellipse">
            <a:avLst/>
          </a:prstGeom>
          <a:solidFill>
            <a:srgbClr val="0B0E14"/>
          </a:solidFill>
          <a:ln w="19050">
            <a:solidFill>
              <a:srgbClr val="E8B04B"/>
            </a:solidFill>
            <a:prstDash val="solid"/>
          </a:ln>
        </p:spPr>
      </p:sp>
      <p:sp>
        <p:nvSpPr>
          <p:cNvPr id="6" name="Text 4"/>
          <p:cNvSpPr/>
          <p:nvPr/>
        </p:nvSpPr>
        <p:spPr>
          <a:xfrm>
            <a:off x="640080" y="1463040"/>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463040"/>
            <a:ext cx="3154680" cy="384048"/>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Piyasa trend mi, yatay mı? (Hurst)</a:t>
            </a:r>
            <a:endParaRPr lang="en-US" sz="1400" dirty="0"/>
          </a:p>
        </p:txBody>
      </p:sp>
      <p:sp>
        <p:nvSpPr>
          <p:cNvPr id="8" name="Text 6"/>
          <p:cNvSpPr/>
          <p:nvPr/>
        </p:nvSpPr>
        <p:spPr>
          <a:xfrm>
            <a:off x="640080" y="1920240"/>
            <a:ext cx="3657600" cy="548640"/>
          </a:xfrm>
          <a:prstGeom prst="rect">
            <a:avLst/>
          </a:prstGeom>
          <a:noFill/>
          <a:ln/>
        </p:spPr>
        <p:txBody>
          <a:bodyPr wrap="square" lIns="0" tIns="0" rIns="0" bIns="0" rtlCol="0" anchor="t"/>
          <a:lstStyle/>
          <a:p>
            <a:pPr indent="0" marL="0">
              <a:buNone/>
            </a:pPr>
            <a:r>
              <a:rPr lang="en-US" sz="1300" b="1" dirty="0">
                <a:solidFill>
                  <a:srgbClr val="E8B04B"/>
                </a:solidFill>
                <a:latin typeface="Calibri" pitchFamily="34" charset="0"/>
                <a:ea typeface="Calibri" pitchFamily="34" charset="-122"/>
                <a:cs typeface="Calibri" pitchFamily="34" charset="-120"/>
              </a:rPr>
              <a:t>Trend → </a:t>
            </a:r>
            <a:pPr indent="0" marL="0">
              <a:buNone/>
            </a:pPr>
            <a:r>
              <a:rPr lang="en-US" sz="1300" dirty="0">
                <a:solidFill>
                  <a:srgbClr val="E6EAF2"/>
                </a:solidFill>
                <a:latin typeface="Calibri" pitchFamily="34" charset="0"/>
                <a:ea typeface="Calibri" pitchFamily="34" charset="-122"/>
                <a:cs typeface="Calibri" pitchFamily="34" charset="-120"/>
              </a:rPr>
              <a:t>momentum alımı</a:t>
            </a:r>
            <a:endParaRPr lang="en-US" sz="1300" dirty="0"/>
          </a:p>
          <a:p>
            <a:pPr indent="0" marL="0">
              <a:buNone/>
            </a:pPr>
            <a:r>
              <a:rPr lang="en-US" sz="1300" b="1" dirty="0">
                <a:solidFill>
                  <a:srgbClr val="E8B04B"/>
                </a:solidFill>
                <a:latin typeface="Calibri" pitchFamily="34" charset="0"/>
                <a:ea typeface="Calibri" pitchFamily="34" charset="-122"/>
                <a:cs typeface="Calibri" pitchFamily="34" charset="-120"/>
              </a:rPr>
              <a:t>Yatay → </a:t>
            </a:r>
            <a:pPr indent="0" marL="0">
              <a:buNone/>
            </a:pPr>
            <a:r>
              <a:rPr lang="en-US" sz="1300" dirty="0">
                <a:solidFill>
                  <a:srgbClr val="E6EAF2"/>
                </a:solidFill>
                <a:latin typeface="Calibri" pitchFamily="34" charset="0"/>
                <a:ea typeface="Calibri" pitchFamily="34" charset="-122"/>
                <a:cs typeface="Calibri" pitchFamily="34" charset="-120"/>
              </a:rPr>
              <a:t>bekler, alım yapmaz</a:t>
            </a:r>
            <a:endParaRPr lang="en-US" sz="1300" dirty="0"/>
          </a:p>
        </p:txBody>
      </p:sp>
      <p:sp>
        <p:nvSpPr>
          <p:cNvPr id="9" name="Text 7"/>
          <p:cNvSpPr/>
          <p:nvPr/>
        </p:nvSpPr>
        <p:spPr>
          <a:xfrm>
            <a:off x="640080" y="2514600"/>
            <a:ext cx="3657600" cy="365760"/>
          </a:xfrm>
          <a:prstGeom prst="rect">
            <a:avLst/>
          </a:prstGeom>
          <a:noFill/>
          <a:ln/>
        </p:spPr>
        <p:txBody>
          <a:bodyPr wrap="square" lIns="0" tIns="0" rIns="0" bIns="0" rtlCol="0" anchor="t"/>
          <a:lstStyle/>
          <a:p>
            <a:pPr indent="0" marL="0">
              <a:buNone/>
            </a:pPr>
            <a:r>
              <a:rPr lang="en-US" sz="1000" i="1" dirty="0">
                <a:solidFill>
                  <a:srgbClr val="8A94A8"/>
                </a:solidFill>
                <a:latin typeface="Calibri" pitchFamily="34" charset="0"/>
                <a:ea typeface="Calibri" pitchFamily="34" charset="-122"/>
                <a:cs typeface="Calibri" pitchFamily="34" charset="-120"/>
              </a:rPr>
              <a:t>48 barlık Hurst bir tahmindir; rastgele veride de ~%41 "yatay" çıkar.</a:t>
            </a:r>
            <a:endParaRPr lang="en-US" sz="1000" dirty="0"/>
          </a:p>
        </p:txBody>
      </p:sp>
      <p:sp>
        <p:nvSpPr>
          <p:cNvPr id="10" name="Shape 8"/>
          <p:cNvSpPr/>
          <p:nvPr/>
        </p:nvSpPr>
        <p:spPr>
          <a:xfrm>
            <a:off x="457200" y="3063240"/>
            <a:ext cx="3977640" cy="914400"/>
          </a:xfrm>
          <a:prstGeom prst="roundRect">
            <a:avLst>
              <a:gd name="adj" fmla="val 12000"/>
            </a:avLst>
          </a:prstGeom>
          <a:solidFill>
            <a:srgbClr val="121722"/>
          </a:solidFill>
          <a:ln w="9525">
            <a:solidFill>
              <a:srgbClr val="263043"/>
            </a:solidFill>
            <a:prstDash val="solid"/>
          </a:ln>
        </p:spPr>
      </p:sp>
      <p:sp>
        <p:nvSpPr>
          <p:cNvPr id="11" name="Shape 9"/>
          <p:cNvSpPr/>
          <p:nvPr/>
        </p:nvSpPr>
        <p:spPr>
          <a:xfrm>
            <a:off x="640080" y="3200400"/>
            <a:ext cx="384048" cy="384048"/>
          </a:xfrm>
          <a:prstGeom prst="ellipse">
            <a:avLst/>
          </a:prstGeom>
          <a:solidFill>
            <a:srgbClr val="0B0E14"/>
          </a:solidFill>
          <a:ln w="19050">
            <a:solidFill>
              <a:srgbClr val="E8B04B"/>
            </a:solidFill>
            <a:prstDash val="solid"/>
          </a:ln>
        </p:spPr>
      </p:sp>
      <p:sp>
        <p:nvSpPr>
          <p:cNvPr id="12" name="Text 10"/>
          <p:cNvSpPr/>
          <p:nvPr/>
        </p:nvSpPr>
        <p:spPr>
          <a:xfrm>
            <a:off x="640080" y="3200400"/>
            <a:ext cx="384048" cy="384048"/>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1188720" y="3200400"/>
            <a:ext cx="3154680" cy="384048"/>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Kırılım geri test edildi mi?</a:t>
            </a:r>
            <a:endParaRPr lang="en-US" sz="1400" dirty="0"/>
          </a:p>
        </p:txBody>
      </p:sp>
      <p:sp>
        <p:nvSpPr>
          <p:cNvPr id="14" name="Text 12"/>
          <p:cNvSpPr/>
          <p:nvPr/>
        </p:nvSpPr>
        <p:spPr>
          <a:xfrm>
            <a:off x="640080" y="3630168"/>
            <a:ext cx="3657600" cy="3200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Eski tepe aşıldıysa, alımdan önce geri dönüp tutunmasını bekler.</a:t>
            </a:r>
            <a:endParaRPr lang="en-US" sz="1100" dirty="0"/>
          </a:p>
        </p:txBody>
      </p:sp>
      <p:sp>
        <p:nvSpPr>
          <p:cNvPr id="15" name="Shape 13"/>
          <p:cNvSpPr/>
          <p:nvPr/>
        </p:nvSpPr>
        <p:spPr>
          <a:xfrm>
            <a:off x="4663440" y="1325880"/>
            <a:ext cx="3977640" cy="1600200"/>
          </a:xfrm>
          <a:prstGeom prst="roundRect">
            <a:avLst>
              <a:gd name="adj" fmla="val 6857"/>
            </a:avLst>
          </a:prstGeom>
          <a:solidFill>
            <a:srgbClr val="1A2130"/>
          </a:solidFill>
          <a:ln w="9525">
            <a:solidFill>
              <a:srgbClr val="263043"/>
            </a:solidFill>
            <a:prstDash val="solid"/>
          </a:ln>
        </p:spPr>
      </p:sp>
      <p:sp>
        <p:nvSpPr>
          <p:cNvPr id="16" name="Text 14"/>
          <p:cNvSpPr/>
          <p:nvPr/>
        </p:nvSpPr>
        <p:spPr>
          <a:xfrm>
            <a:off x="4846320" y="1389888"/>
            <a:ext cx="3566160" cy="274320"/>
          </a:xfrm>
          <a:prstGeom prst="rect">
            <a:avLst/>
          </a:prstGeom>
          <a:noFill/>
          <a:ln/>
        </p:spPr>
        <p:txBody>
          <a:bodyPr wrap="square" lIns="0" tIns="0" rIns="0" bIns="0" rtlCol="0" anchor="ctr"/>
          <a:lstStyle/>
          <a:p>
            <a:pPr indent="0" marL="0">
              <a:buNone/>
            </a:pPr>
            <a:r>
              <a:rPr lang="en-US" sz="1200" b="1" dirty="0">
                <a:solidFill>
                  <a:srgbClr val="E8B04B"/>
                </a:solidFill>
                <a:latin typeface="Calibri" pitchFamily="34" charset="0"/>
                <a:ea typeface="Calibri" pitchFamily="34" charset="-122"/>
                <a:cs typeface="Calibri" pitchFamily="34" charset="-120"/>
              </a:rPr>
              <a:t>Durum → alım büyüklüğü</a:t>
            </a:r>
            <a:endParaRPr lang="en-US" sz="1200" dirty="0"/>
          </a:p>
        </p:txBody>
      </p:sp>
      <p:sp>
        <p:nvSpPr>
          <p:cNvPr id="17" name="Shape 15"/>
          <p:cNvSpPr/>
          <p:nvPr/>
        </p:nvSpPr>
        <p:spPr>
          <a:xfrm>
            <a:off x="4846320" y="1682496"/>
            <a:ext cx="3611880" cy="0"/>
          </a:xfrm>
          <a:prstGeom prst="line">
            <a:avLst/>
          </a:prstGeom>
          <a:noFill/>
          <a:ln w="9525">
            <a:solidFill>
              <a:srgbClr val="263043"/>
            </a:solidFill>
            <a:prstDash val="solid"/>
          </a:ln>
        </p:spPr>
      </p:sp>
      <p:sp>
        <p:nvSpPr>
          <p:cNvPr id="18" name="Text 16"/>
          <p:cNvSpPr/>
          <p:nvPr/>
        </p:nvSpPr>
        <p:spPr>
          <a:xfrm>
            <a:off x="4846320" y="1700784"/>
            <a:ext cx="2377440" cy="274320"/>
          </a:xfrm>
          <a:prstGeom prst="rect">
            <a:avLst/>
          </a:prstGeom>
          <a:noFill/>
          <a:ln/>
        </p:spPr>
        <p:txBody>
          <a:bodyPr wrap="square" lIns="0" tIns="0" rIns="0" bIns="0" rtlCol="0" anchor="ctr"/>
          <a:lstStyle/>
          <a:p>
            <a:pPr indent="0" marL="0">
              <a:buNone/>
            </a:pPr>
            <a:r>
              <a:rPr lang="en-US" sz="1100" dirty="0">
                <a:solidFill>
                  <a:srgbClr val="E6EAF2"/>
                </a:solidFill>
                <a:latin typeface="Calibri" pitchFamily="34" charset="0"/>
                <a:ea typeface="Calibri" pitchFamily="34" charset="-122"/>
                <a:cs typeface="Calibri" pitchFamily="34" charset="-120"/>
              </a:rPr>
              <a:t>Yatay görünüyor (Hurst &lt; 0,45)</a:t>
            </a:r>
            <a:endParaRPr lang="en-US" sz="1100" dirty="0"/>
          </a:p>
        </p:txBody>
      </p:sp>
      <p:sp>
        <p:nvSpPr>
          <p:cNvPr id="19" name="Text 17"/>
          <p:cNvSpPr/>
          <p:nvPr/>
        </p:nvSpPr>
        <p:spPr>
          <a:xfrm>
            <a:off x="7178040" y="1700784"/>
            <a:ext cx="1280160" cy="274320"/>
          </a:xfrm>
          <a:prstGeom prst="rect">
            <a:avLst/>
          </a:prstGeom>
          <a:noFill/>
          <a:ln/>
        </p:spPr>
        <p:txBody>
          <a:bodyPr wrap="square" lIns="0" tIns="0" rIns="0" bIns="0" rtlCol="0" anchor="ctr"/>
          <a:lstStyle/>
          <a:p>
            <a:pPr algn="r" indent="0" marL="0">
              <a:buNone/>
            </a:pPr>
            <a:r>
              <a:rPr lang="en-US" sz="1100" b="1" dirty="0">
                <a:solidFill>
                  <a:srgbClr val="8A94A8"/>
                </a:solidFill>
                <a:latin typeface="Calibri" pitchFamily="34" charset="0"/>
                <a:ea typeface="Calibri" pitchFamily="34" charset="-122"/>
                <a:cs typeface="Calibri" pitchFamily="34" charset="-120"/>
              </a:rPr>
              <a:t>0 · bekle</a:t>
            </a:r>
            <a:endParaRPr lang="en-US" sz="1100" dirty="0"/>
          </a:p>
        </p:txBody>
      </p:sp>
      <p:sp>
        <p:nvSpPr>
          <p:cNvPr id="20" name="Shape 18"/>
          <p:cNvSpPr/>
          <p:nvPr/>
        </p:nvSpPr>
        <p:spPr>
          <a:xfrm>
            <a:off x="4846320" y="1975104"/>
            <a:ext cx="3611880" cy="0"/>
          </a:xfrm>
          <a:prstGeom prst="line">
            <a:avLst/>
          </a:prstGeom>
          <a:noFill/>
          <a:ln w="9525">
            <a:solidFill>
              <a:srgbClr val="263043"/>
            </a:solidFill>
            <a:prstDash val="solid"/>
          </a:ln>
        </p:spPr>
      </p:sp>
      <p:sp>
        <p:nvSpPr>
          <p:cNvPr id="21" name="Text 19"/>
          <p:cNvSpPr/>
          <p:nvPr/>
        </p:nvSpPr>
        <p:spPr>
          <a:xfrm>
            <a:off x="4846320" y="1993392"/>
            <a:ext cx="2377440" cy="274320"/>
          </a:xfrm>
          <a:prstGeom prst="rect">
            <a:avLst/>
          </a:prstGeom>
          <a:noFill/>
          <a:ln/>
        </p:spPr>
        <p:txBody>
          <a:bodyPr wrap="square" lIns="0" tIns="0" rIns="0" bIns="0" rtlCol="0" anchor="ctr"/>
          <a:lstStyle/>
          <a:p>
            <a:pPr indent="0" marL="0">
              <a:buNone/>
            </a:pPr>
            <a:r>
              <a:rPr lang="en-US" sz="1100" dirty="0">
                <a:solidFill>
                  <a:srgbClr val="E6EAF2"/>
                </a:solidFill>
                <a:latin typeface="Calibri" pitchFamily="34" charset="0"/>
                <a:ea typeface="Calibri" pitchFamily="34" charset="-122"/>
                <a:cs typeface="Calibri" pitchFamily="34" charset="-120"/>
              </a:rPr>
              <a:t>Kırılım var, geri test yok</a:t>
            </a:r>
            <a:endParaRPr lang="en-US" sz="1100" dirty="0"/>
          </a:p>
        </p:txBody>
      </p:sp>
      <p:sp>
        <p:nvSpPr>
          <p:cNvPr id="22" name="Text 20"/>
          <p:cNvSpPr/>
          <p:nvPr/>
        </p:nvSpPr>
        <p:spPr>
          <a:xfrm>
            <a:off x="7178040" y="1993392"/>
            <a:ext cx="1280160" cy="274320"/>
          </a:xfrm>
          <a:prstGeom prst="rect">
            <a:avLst/>
          </a:prstGeom>
          <a:noFill/>
          <a:ln/>
        </p:spPr>
        <p:txBody>
          <a:bodyPr wrap="square" lIns="0" tIns="0" rIns="0" bIns="0" rtlCol="0" anchor="ctr"/>
          <a:lstStyle/>
          <a:p>
            <a:pPr algn="r" indent="0" marL="0">
              <a:buNone/>
            </a:pPr>
            <a:r>
              <a:rPr lang="en-US" sz="1100" b="1" dirty="0">
                <a:solidFill>
                  <a:srgbClr val="8A94A8"/>
                </a:solidFill>
                <a:latin typeface="Calibri" pitchFamily="34" charset="0"/>
                <a:ea typeface="Calibri" pitchFamily="34" charset="-122"/>
                <a:cs typeface="Calibri" pitchFamily="34" charset="-120"/>
              </a:rPr>
              <a:t>0 · bekle</a:t>
            </a:r>
            <a:endParaRPr lang="en-US" sz="1100" dirty="0"/>
          </a:p>
        </p:txBody>
      </p:sp>
      <p:sp>
        <p:nvSpPr>
          <p:cNvPr id="23" name="Shape 21"/>
          <p:cNvSpPr/>
          <p:nvPr/>
        </p:nvSpPr>
        <p:spPr>
          <a:xfrm>
            <a:off x="4846320" y="2267712"/>
            <a:ext cx="3611880" cy="0"/>
          </a:xfrm>
          <a:prstGeom prst="line">
            <a:avLst/>
          </a:prstGeom>
          <a:noFill/>
          <a:ln w="9525">
            <a:solidFill>
              <a:srgbClr val="263043"/>
            </a:solidFill>
            <a:prstDash val="solid"/>
          </a:ln>
        </p:spPr>
      </p:sp>
      <p:sp>
        <p:nvSpPr>
          <p:cNvPr id="24" name="Text 22"/>
          <p:cNvSpPr/>
          <p:nvPr/>
        </p:nvSpPr>
        <p:spPr>
          <a:xfrm>
            <a:off x="4846320" y="2286000"/>
            <a:ext cx="2377440" cy="274320"/>
          </a:xfrm>
          <a:prstGeom prst="rect">
            <a:avLst/>
          </a:prstGeom>
          <a:noFill/>
          <a:ln/>
        </p:spPr>
        <p:txBody>
          <a:bodyPr wrap="square" lIns="0" tIns="0" rIns="0" bIns="0" rtlCol="0" anchor="ctr"/>
          <a:lstStyle/>
          <a:p>
            <a:pPr indent="0" marL="0">
              <a:buNone/>
            </a:pPr>
            <a:r>
              <a:rPr lang="en-US" sz="1100" dirty="0">
                <a:solidFill>
                  <a:srgbClr val="E6EAF2"/>
                </a:solidFill>
                <a:latin typeface="Calibri" pitchFamily="34" charset="0"/>
                <a:ea typeface="Calibri" pitchFamily="34" charset="-122"/>
                <a:cs typeface="Calibri" pitchFamily="34" charset="-120"/>
              </a:rPr>
              <a:t>Henüz kırılım yok</a:t>
            </a:r>
            <a:endParaRPr lang="en-US" sz="1100" dirty="0"/>
          </a:p>
        </p:txBody>
      </p:sp>
      <p:sp>
        <p:nvSpPr>
          <p:cNvPr id="25" name="Text 23"/>
          <p:cNvSpPr/>
          <p:nvPr/>
        </p:nvSpPr>
        <p:spPr>
          <a:xfrm>
            <a:off x="7178040" y="2286000"/>
            <a:ext cx="1280160" cy="274320"/>
          </a:xfrm>
          <a:prstGeom prst="rect">
            <a:avLst/>
          </a:prstGeom>
          <a:noFill/>
          <a:ln/>
        </p:spPr>
        <p:txBody>
          <a:bodyPr wrap="square" lIns="0" tIns="0" rIns="0" bIns="0" rtlCol="0" anchor="ctr"/>
          <a:lstStyle/>
          <a:p>
            <a:pPr algn="r" indent="0" marL="0">
              <a:buNone/>
            </a:pPr>
            <a:r>
              <a:rPr lang="en-US" sz="1100" b="1" dirty="0">
                <a:solidFill>
                  <a:srgbClr val="E6EAF2"/>
                </a:solidFill>
                <a:latin typeface="Calibri" pitchFamily="34" charset="0"/>
                <a:ea typeface="Calibri" pitchFamily="34" charset="-122"/>
                <a:cs typeface="Calibri" pitchFamily="34" charset="-120"/>
              </a:rPr>
              <a:t>yarım</a:t>
            </a:r>
            <a:endParaRPr lang="en-US" sz="1100" dirty="0"/>
          </a:p>
        </p:txBody>
      </p:sp>
      <p:sp>
        <p:nvSpPr>
          <p:cNvPr id="26" name="Shape 24"/>
          <p:cNvSpPr/>
          <p:nvPr/>
        </p:nvSpPr>
        <p:spPr>
          <a:xfrm>
            <a:off x="4846320" y="2560320"/>
            <a:ext cx="3611880" cy="0"/>
          </a:xfrm>
          <a:prstGeom prst="line">
            <a:avLst/>
          </a:prstGeom>
          <a:noFill/>
          <a:ln w="9525">
            <a:solidFill>
              <a:srgbClr val="263043"/>
            </a:solidFill>
            <a:prstDash val="solid"/>
          </a:ln>
        </p:spPr>
      </p:sp>
      <p:sp>
        <p:nvSpPr>
          <p:cNvPr id="27" name="Text 25"/>
          <p:cNvSpPr/>
          <p:nvPr/>
        </p:nvSpPr>
        <p:spPr>
          <a:xfrm>
            <a:off x="4846320" y="2578608"/>
            <a:ext cx="2377440" cy="274320"/>
          </a:xfrm>
          <a:prstGeom prst="rect">
            <a:avLst/>
          </a:prstGeom>
          <a:noFill/>
          <a:ln/>
        </p:spPr>
        <p:txBody>
          <a:bodyPr wrap="square" lIns="0" tIns="0" rIns="0" bIns="0" rtlCol="0" anchor="ctr"/>
          <a:lstStyle/>
          <a:p>
            <a:pPr indent="0" marL="0">
              <a:buNone/>
            </a:pPr>
            <a:r>
              <a:rPr lang="en-US" sz="1100" dirty="0">
                <a:solidFill>
                  <a:srgbClr val="E6EAF2"/>
                </a:solidFill>
                <a:latin typeface="Calibri" pitchFamily="34" charset="0"/>
                <a:ea typeface="Calibri" pitchFamily="34" charset="-122"/>
                <a:cs typeface="Calibri" pitchFamily="34" charset="-120"/>
              </a:rPr>
              <a:t>Kırılım + geri test</a:t>
            </a:r>
            <a:endParaRPr lang="en-US" sz="1100" dirty="0"/>
          </a:p>
        </p:txBody>
      </p:sp>
      <p:sp>
        <p:nvSpPr>
          <p:cNvPr id="28" name="Text 26"/>
          <p:cNvSpPr/>
          <p:nvPr/>
        </p:nvSpPr>
        <p:spPr>
          <a:xfrm>
            <a:off x="7178040" y="2578608"/>
            <a:ext cx="1280160" cy="274320"/>
          </a:xfrm>
          <a:prstGeom prst="rect">
            <a:avLst/>
          </a:prstGeom>
          <a:noFill/>
          <a:ln/>
        </p:spPr>
        <p:txBody>
          <a:bodyPr wrap="square" lIns="0" tIns="0" rIns="0" bIns="0" rtlCol="0" anchor="ctr"/>
          <a:lstStyle/>
          <a:p>
            <a:pPr algn="r" indent="0" marL="0">
              <a:buNone/>
            </a:pPr>
            <a:r>
              <a:rPr lang="en-US" sz="1100" b="1" dirty="0">
                <a:solidFill>
                  <a:srgbClr val="22C55E"/>
                </a:solidFill>
                <a:latin typeface="Calibri" pitchFamily="34" charset="0"/>
                <a:ea typeface="Calibri" pitchFamily="34" charset="-122"/>
                <a:cs typeface="Calibri" pitchFamily="34" charset="-120"/>
              </a:rPr>
              <a:t>tam</a:t>
            </a:r>
            <a:endParaRPr lang="en-US" sz="1100" dirty="0"/>
          </a:p>
        </p:txBody>
      </p:sp>
      <p:sp>
        <p:nvSpPr>
          <p:cNvPr id="29" name="Shape 27"/>
          <p:cNvSpPr/>
          <p:nvPr/>
        </p:nvSpPr>
        <p:spPr>
          <a:xfrm>
            <a:off x="4663440" y="3063240"/>
            <a:ext cx="3977640" cy="914400"/>
          </a:xfrm>
          <a:prstGeom prst="roundRect">
            <a:avLst>
              <a:gd name="adj" fmla="val 12000"/>
            </a:avLst>
          </a:prstGeom>
          <a:solidFill>
            <a:srgbClr val="1A2130"/>
          </a:solidFill>
          <a:ln w="9525">
            <a:solidFill>
              <a:srgbClr val="263043"/>
            </a:solidFill>
            <a:prstDash val="solid"/>
          </a:ln>
        </p:spPr>
      </p:sp>
      <p:sp>
        <p:nvSpPr>
          <p:cNvPr id="30" name="Text 28"/>
          <p:cNvSpPr/>
          <p:nvPr/>
        </p:nvSpPr>
        <p:spPr>
          <a:xfrm>
            <a:off x="4846320" y="3127248"/>
            <a:ext cx="3657600" cy="228600"/>
          </a:xfrm>
          <a:prstGeom prst="rect">
            <a:avLst/>
          </a:prstGeom>
          <a:noFill/>
          <a:ln/>
        </p:spPr>
        <p:txBody>
          <a:bodyPr wrap="square" lIns="0" tIns="0" rIns="0" bIns="0" rtlCol="0" anchor="ctr"/>
          <a:lstStyle/>
          <a:p>
            <a:pPr indent="0" marL="0">
              <a:buNone/>
            </a:pPr>
            <a:r>
              <a:rPr lang="en-US" sz="1100" b="1" dirty="0">
                <a:solidFill>
                  <a:srgbClr val="E8B04B"/>
                </a:solidFill>
                <a:latin typeface="Calibri" pitchFamily="34" charset="0"/>
                <a:ea typeface="Calibri" pitchFamily="34" charset="-122"/>
                <a:cs typeface="Calibri" pitchFamily="34" charset="-120"/>
              </a:rPr>
              <a:t>Bugün canlıda (deneme modu, aynı piyasa verisi)</a:t>
            </a:r>
            <a:endParaRPr lang="en-US" sz="1100" dirty="0"/>
          </a:p>
        </p:txBody>
      </p:sp>
      <p:sp>
        <p:nvSpPr>
          <p:cNvPr id="31" name="Text 29"/>
          <p:cNvSpPr/>
          <p:nvPr/>
        </p:nvSpPr>
        <p:spPr>
          <a:xfrm>
            <a:off x="4846320" y="3355848"/>
            <a:ext cx="3657600" cy="384048"/>
          </a:xfrm>
          <a:prstGeom prst="rect">
            <a:avLst/>
          </a:prstGeom>
          <a:noFill/>
          <a:ln/>
        </p:spPr>
        <p:txBody>
          <a:bodyPr wrap="square" lIns="0" tIns="0" rIns="0" bIns="0" rtlCol="0" anchor="t"/>
          <a:lstStyle/>
          <a:p>
            <a:pPr indent="0" marL="0">
              <a:buNone/>
            </a:pPr>
            <a:r>
              <a:rPr lang="en-US" sz="1050" dirty="0">
                <a:solidFill>
                  <a:srgbClr val="E6EAF2"/>
                </a:solidFill>
                <a:latin typeface="Calibri" pitchFamily="34" charset="0"/>
                <a:ea typeface="Calibri" pitchFamily="34" charset="-122"/>
                <a:cs typeface="Calibri" pitchFamily="34" charset="-120"/>
              </a:rPr>
              <a:t>Döngü başına alım 5 → 1, tutar −%86. 4 coin yatay bekledi, ETH yarım boyut. Hata 0; 48/48 döngü zincirde.</a:t>
            </a:r>
            <a:endParaRPr lang="en-US" sz="1050" dirty="0"/>
          </a:p>
        </p:txBody>
      </p:sp>
      <p:sp>
        <p:nvSpPr>
          <p:cNvPr id="32" name="Text 30"/>
          <p:cNvSpPr/>
          <p:nvPr/>
        </p:nvSpPr>
        <p:spPr>
          <a:xfrm>
            <a:off x="4846320" y="3730752"/>
            <a:ext cx="3657600" cy="228600"/>
          </a:xfrm>
          <a:prstGeom prst="rect">
            <a:avLst/>
          </a:prstGeom>
          <a:noFill/>
          <a:ln/>
        </p:spPr>
        <p:txBody>
          <a:bodyPr wrap="square" lIns="0" tIns="0" rIns="0" bIns="0" rtlCol="0" anchor="ctr"/>
          <a:lstStyle/>
          <a:p>
            <a:pPr indent="0" marL="0">
              <a:buNone/>
            </a:pPr>
            <a:r>
              <a:rPr lang="en-US" sz="900" i="1" dirty="0">
                <a:solidFill>
                  <a:srgbClr val="8A94A8"/>
                </a:solidFill>
                <a:latin typeface="Calibri" pitchFamily="34" charset="0"/>
                <a:ea typeface="Calibri" pitchFamily="34" charset="-122"/>
                <a:cs typeface="Calibri" pitchFamily="34" charset="-120"/>
              </a:rPr>
              <a:t>Not: 34–44. döngülerde yapay zekâ kota yüzünden görüş vermedi.</a:t>
            </a:r>
            <a:endParaRPr lang="en-US" sz="900" dirty="0"/>
          </a:p>
        </p:txBody>
      </p:sp>
      <p:sp>
        <p:nvSpPr>
          <p:cNvPr id="33" name="Shape 31"/>
          <p:cNvSpPr/>
          <p:nvPr/>
        </p:nvSpPr>
        <p:spPr>
          <a:xfrm>
            <a:off x="457200" y="4114800"/>
            <a:ext cx="8183880" cy="640080"/>
          </a:xfrm>
          <a:prstGeom prst="roundRect">
            <a:avLst>
              <a:gd name="adj" fmla="val 17143"/>
            </a:avLst>
          </a:prstGeom>
          <a:solidFill>
            <a:srgbClr val="1A2130"/>
          </a:solidFill>
          <a:ln w="9525">
            <a:solidFill>
              <a:srgbClr val="263043"/>
            </a:solidFill>
            <a:prstDash val="solid"/>
          </a:ln>
        </p:spPr>
      </p:sp>
      <p:sp>
        <p:nvSpPr>
          <p:cNvPr id="34" name="Text 32"/>
          <p:cNvSpPr/>
          <p:nvPr/>
        </p:nvSpPr>
        <p:spPr>
          <a:xfrm>
            <a:off x="685800" y="4114800"/>
            <a:ext cx="7772400" cy="640080"/>
          </a:xfrm>
          <a:prstGeom prst="rect">
            <a:avLst/>
          </a:prstGeom>
          <a:noFill/>
          <a:ln/>
        </p:spPr>
        <p:txBody>
          <a:bodyPr wrap="square" lIns="0" tIns="0" rIns="0" bIns="0" rtlCol="0" anchor="ctr"/>
          <a:lstStyle/>
          <a:p>
            <a:pPr indent="0" marL="0">
              <a:buNone/>
            </a:pPr>
            <a:r>
              <a:rPr lang="en-US" sz="1300" b="1" dirty="0">
                <a:solidFill>
                  <a:srgbClr val="E8B04B"/>
                </a:solidFill>
                <a:latin typeface="Calibri" pitchFamily="34" charset="0"/>
                <a:ea typeface="Calibri" pitchFamily="34" charset="-122"/>
                <a:cs typeface="Calibri" pitchFamily="34" charset="-120"/>
              </a:rPr>
              <a:t>Kapılar sadece azaltır, asla alım üretmez. </a:t>
            </a:r>
            <a:pPr indent="0" marL="0">
              <a:buNone/>
            </a:pPr>
            <a:r>
              <a:rPr lang="en-US" sz="1300" dirty="0">
                <a:solidFill>
                  <a:srgbClr val="E6EAF2"/>
                </a:solidFill>
                <a:latin typeface="Calibri" pitchFamily="34" charset="0"/>
                <a:ea typeface="Calibri" pitchFamily="34" charset="-122"/>
                <a:cs typeface="Calibri" pitchFamily="34" charset="-120"/>
              </a:rPr>
              <a:t>Satışlara dokunmaz. 30 günlük tekrar oynatmada işlem 382 → 220, en kötü düşüş %7,5 → %4,3.</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Kendi kendine çalışır, her 90 saniyede</a:t>
            </a:r>
            <a:endParaRPr lang="en-US" sz="3000" dirty="0"/>
          </a:p>
        </p:txBody>
      </p:sp>
      <p:sp>
        <p:nvSpPr>
          <p:cNvPr id="4" name="Shape 2"/>
          <p:cNvSpPr/>
          <p:nvPr/>
        </p:nvSpPr>
        <p:spPr>
          <a:xfrm>
            <a:off x="457200" y="1371600"/>
            <a:ext cx="3017520" cy="3246120"/>
          </a:xfrm>
          <a:prstGeom prst="roundRect">
            <a:avLst>
              <a:gd name="adj" fmla="val 3636"/>
            </a:avLst>
          </a:prstGeom>
          <a:solidFill>
            <a:srgbClr val="1A2130"/>
          </a:solidFill>
          <a:ln w="9525">
            <a:solidFill>
              <a:srgbClr val="263043"/>
            </a:solidFill>
            <a:prstDash val="solid"/>
          </a:ln>
        </p:spPr>
      </p:sp>
      <p:sp>
        <p:nvSpPr>
          <p:cNvPr id="5" name="Text 3"/>
          <p:cNvSpPr/>
          <p:nvPr/>
        </p:nvSpPr>
        <p:spPr>
          <a:xfrm>
            <a:off x="685800" y="1508760"/>
            <a:ext cx="2651760" cy="868680"/>
          </a:xfrm>
          <a:prstGeom prst="rect">
            <a:avLst/>
          </a:prstGeom>
          <a:noFill/>
          <a:ln/>
        </p:spPr>
        <p:txBody>
          <a:bodyPr wrap="square" lIns="0" tIns="0" rIns="0" bIns="0" rtlCol="0" anchor="ctr"/>
          <a:lstStyle/>
          <a:p>
            <a:pPr indent="0" marL="0">
              <a:buNone/>
            </a:pPr>
            <a:r>
              <a:rPr lang="en-US" sz="4800" b="1" dirty="0">
                <a:solidFill>
                  <a:srgbClr val="E8B04B"/>
                </a:solidFill>
                <a:latin typeface="Cambria" pitchFamily="34" charset="0"/>
                <a:ea typeface="Cambria" pitchFamily="34" charset="-122"/>
                <a:cs typeface="Cambria" pitchFamily="34" charset="-120"/>
              </a:rPr>
              <a:t>90 sn</a:t>
            </a:r>
            <a:endParaRPr lang="en-US" sz="4800" dirty="0"/>
          </a:p>
        </p:txBody>
      </p:sp>
      <p:sp>
        <p:nvSpPr>
          <p:cNvPr id="6" name="Text 4"/>
          <p:cNvSpPr/>
          <p:nvPr/>
        </p:nvSpPr>
        <p:spPr>
          <a:xfrm>
            <a:off x="685800" y="2377440"/>
            <a:ext cx="2651760" cy="320040"/>
          </a:xfrm>
          <a:prstGeom prst="rect">
            <a:avLst/>
          </a:prstGeom>
          <a:noFill/>
          <a:ln/>
        </p:spPr>
        <p:txBody>
          <a:bodyPr wrap="square" lIns="0" tIns="0" rIns="0" bIns="0" rtlCol="0" anchor="ctr"/>
          <a:lstStyle/>
          <a:p>
            <a:pPr indent="0" marL="0">
              <a:buNone/>
            </a:pPr>
            <a:r>
              <a:rPr lang="en-US" sz="1300" dirty="0">
                <a:solidFill>
                  <a:srgbClr val="8A94A8"/>
                </a:solidFill>
                <a:latin typeface="Calibri" pitchFamily="34" charset="0"/>
                <a:ea typeface="Calibri" pitchFamily="34" charset="-122"/>
                <a:cs typeface="Calibri" pitchFamily="34" charset="-120"/>
              </a:rPr>
              <a:t>insan tıklaması olmadan bir tam döngü</a:t>
            </a:r>
            <a:endParaRPr lang="en-US" sz="1300" dirty="0"/>
          </a:p>
        </p:txBody>
      </p:sp>
      <p:sp>
        <p:nvSpPr>
          <p:cNvPr id="7" name="Text 5"/>
          <p:cNvSpPr/>
          <p:nvPr/>
        </p:nvSpPr>
        <p:spPr>
          <a:xfrm>
            <a:off x="685800" y="2880360"/>
            <a:ext cx="2651760" cy="548640"/>
          </a:xfrm>
          <a:prstGeom prst="rect">
            <a:avLst/>
          </a:prstGeom>
          <a:noFill/>
          <a:ln/>
        </p:spPr>
        <p:txBody>
          <a:bodyPr wrap="square" lIns="0" tIns="0" rIns="0" bIns="0" rtlCol="0" anchor="ctr"/>
          <a:lstStyle/>
          <a:p>
            <a:pPr indent="0" marL="0">
              <a:buNone/>
            </a:pPr>
            <a:r>
              <a:rPr lang="en-US" sz="2800" b="1" dirty="0">
                <a:solidFill>
                  <a:srgbClr val="E6EAF2"/>
                </a:solidFill>
                <a:latin typeface="Cambria" pitchFamily="34" charset="0"/>
                <a:ea typeface="Cambria" pitchFamily="34" charset="-122"/>
                <a:cs typeface="Cambria" pitchFamily="34" charset="-120"/>
              </a:rPr>
              <a:t>48</a:t>
            </a:r>
            <a:endParaRPr lang="en-US" sz="2800" dirty="0"/>
          </a:p>
        </p:txBody>
      </p:sp>
      <p:sp>
        <p:nvSpPr>
          <p:cNvPr id="8" name="Text 6"/>
          <p:cNvSpPr/>
          <p:nvPr/>
        </p:nvSpPr>
        <p:spPr>
          <a:xfrm>
            <a:off x="685800" y="3429000"/>
            <a:ext cx="2651760" cy="320040"/>
          </a:xfrm>
          <a:prstGeom prst="rect">
            <a:avLst/>
          </a:prstGeom>
          <a:noFill/>
          <a:ln/>
        </p:spPr>
        <p:txBody>
          <a:bodyPr wrap="square" lIns="0" tIns="0" rIns="0" bIns="0" rtlCol="0" anchor="ctr"/>
          <a:lstStyle/>
          <a:p>
            <a:pPr indent="0" marL="0">
              <a:buNone/>
            </a:pPr>
            <a:r>
              <a:rPr lang="en-US" sz="1300" dirty="0">
                <a:solidFill>
                  <a:srgbClr val="8A94A8"/>
                </a:solidFill>
                <a:latin typeface="Calibri" pitchFamily="34" charset="0"/>
                <a:ea typeface="Calibri" pitchFamily="34" charset="-122"/>
                <a:cs typeface="Calibri" pitchFamily="34" charset="-120"/>
              </a:rPr>
              <a:t>döngü mühürlendi ve eşleşti</a:t>
            </a:r>
            <a:endParaRPr lang="en-US" sz="1300" dirty="0"/>
          </a:p>
        </p:txBody>
      </p:sp>
      <p:sp>
        <p:nvSpPr>
          <p:cNvPr id="9" name="Text 7"/>
          <p:cNvSpPr/>
          <p:nvPr/>
        </p:nvSpPr>
        <p:spPr>
          <a:xfrm>
            <a:off x="685800" y="3840480"/>
            <a:ext cx="2651760" cy="640080"/>
          </a:xfrm>
          <a:prstGeom prst="rect">
            <a:avLst/>
          </a:prstGeom>
          <a:noFill/>
          <a:ln/>
        </p:spPr>
        <p:txBody>
          <a:bodyPr wrap="square" lIns="0" tIns="0" rIns="0" bIns="0" rtlCol="0" anchor="t"/>
          <a:lstStyle/>
          <a:p>
            <a:pPr indent="0" marL="0">
              <a:buNone/>
            </a:pPr>
            <a:r>
              <a:rPr lang="en-US" sz="1200" i="1" dirty="0">
                <a:solidFill>
                  <a:srgbClr val="E6EAF2"/>
                </a:solidFill>
                <a:latin typeface="Calibri" pitchFamily="34" charset="0"/>
                <a:ea typeface="Calibri" pitchFamily="34" charset="-122"/>
                <a:cs typeface="Calibri" pitchFamily="34" charset="-120"/>
              </a:rPr>
              <a:t>Kuralları bir kez sen koyarsın. Her işlem için "onayla" düğmesi yok.</a:t>
            </a:r>
            <a:endParaRPr lang="en-US" sz="1200" dirty="0"/>
          </a:p>
        </p:txBody>
      </p:sp>
      <p:sp>
        <p:nvSpPr>
          <p:cNvPr id="10" name="Shape 8"/>
          <p:cNvSpPr/>
          <p:nvPr/>
        </p:nvSpPr>
        <p:spPr>
          <a:xfrm>
            <a:off x="3840480" y="1371600"/>
            <a:ext cx="365760" cy="365760"/>
          </a:xfrm>
          <a:prstGeom prst="ellipse">
            <a:avLst/>
          </a:prstGeom>
          <a:solidFill>
            <a:srgbClr val="0B0E14"/>
          </a:solidFill>
          <a:ln w="19050">
            <a:solidFill>
              <a:srgbClr val="E8B04B"/>
            </a:solidFill>
            <a:prstDash val="solid"/>
          </a:ln>
        </p:spPr>
      </p:sp>
      <p:sp>
        <p:nvSpPr>
          <p:cNvPr id="11" name="Text 9"/>
          <p:cNvSpPr/>
          <p:nvPr/>
        </p:nvSpPr>
        <p:spPr>
          <a:xfrm>
            <a:off x="3840480" y="137160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12" name="Text 10"/>
          <p:cNvSpPr/>
          <p:nvPr/>
        </p:nvSpPr>
        <p:spPr>
          <a:xfrm>
            <a:off x="4389120" y="1371600"/>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Piyasayı oku</a:t>
            </a:r>
            <a:endParaRPr lang="en-US" sz="1400" dirty="0"/>
          </a:p>
        </p:txBody>
      </p:sp>
      <p:sp>
        <p:nvSpPr>
          <p:cNvPr id="13" name="Text 11"/>
          <p:cNvSpPr/>
          <p:nvPr/>
        </p:nvSpPr>
        <p:spPr>
          <a:xfrm>
            <a:off x="7498080" y="1371600"/>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OKX</a:t>
            </a:r>
            <a:endParaRPr lang="en-US" sz="1100" dirty="0"/>
          </a:p>
        </p:txBody>
      </p:sp>
      <p:sp>
        <p:nvSpPr>
          <p:cNvPr id="14" name="Shape 12"/>
          <p:cNvSpPr/>
          <p:nvPr/>
        </p:nvSpPr>
        <p:spPr>
          <a:xfrm>
            <a:off x="3840480" y="1837944"/>
            <a:ext cx="365760" cy="365760"/>
          </a:xfrm>
          <a:prstGeom prst="ellipse">
            <a:avLst/>
          </a:prstGeom>
          <a:solidFill>
            <a:srgbClr val="0B0E14"/>
          </a:solidFill>
          <a:ln w="19050">
            <a:solidFill>
              <a:srgbClr val="E8B04B"/>
            </a:solidFill>
            <a:prstDash val="solid"/>
          </a:ln>
        </p:spPr>
      </p:sp>
      <p:sp>
        <p:nvSpPr>
          <p:cNvPr id="15" name="Text 13"/>
          <p:cNvSpPr/>
          <p:nvPr/>
        </p:nvSpPr>
        <p:spPr>
          <a:xfrm>
            <a:off x="3840480" y="1837944"/>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6" name="Text 14"/>
          <p:cNvSpPr/>
          <p:nvPr/>
        </p:nvSpPr>
        <p:spPr>
          <a:xfrm>
            <a:off x="4389120" y="1837944"/>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Her coin için karar ver</a:t>
            </a:r>
            <a:endParaRPr lang="en-US" sz="1400" dirty="0"/>
          </a:p>
        </p:txBody>
      </p:sp>
      <p:sp>
        <p:nvSpPr>
          <p:cNvPr id="17" name="Text 15"/>
          <p:cNvSpPr/>
          <p:nvPr/>
        </p:nvSpPr>
        <p:spPr>
          <a:xfrm>
            <a:off x="7498080" y="1837944"/>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matematik</a:t>
            </a:r>
            <a:endParaRPr lang="en-US" sz="1100" dirty="0"/>
          </a:p>
        </p:txBody>
      </p:sp>
      <p:sp>
        <p:nvSpPr>
          <p:cNvPr id="18" name="Shape 16"/>
          <p:cNvSpPr/>
          <p:nvPr/>
        </p:nvSpPr>
        <p:spPr>
          <a:xfrm>
            <a:off x="3840480" y="2304288"/>
            <a:ext cx="365760" cy="365760"/>
          </a:xfrm>
          <a:prstGeom prst="ellipse">
            <a:avLst/>
          </a:prstGeom>
          <a:solidFill>
            <a:srgbClr val="0B0E14"/>
          </a:solidFill>
          <a:ln w="19050">
            <a:solidFill>
              <a:srgbClr val="E8B04B"/>
            </a:solidFill>
            <a:prstDash val="solid"/>
          </a:ln>
        </p:spPr>
      </p:sp>
      <p:sp>
        <p:nvSpPr>
          <p:cNvPr id="19" name="Text 17"/>
          <p:cNvSpPr/>
          <p:nvPr/>
        </p:nvSpPr>
        <p:spPr>
          <a:xfrm>
            <a:off x="3840480" y="2304288"/>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20" name="Text 18"/>
          <p:cNvSpPr/>
          <p:nvPr/>
        </p:nvSpPr>
        <p:spPr>
          <a:xfrm>
            <a:off x="4389120" y="2304288"/>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Yapay zekâ kontrolü (sadece azaltır)</a:t>
            </a:r>
            <a:endParaRPr lang="en-US" sz="1400" dirty="0"/>
          </a:p>
        </p:txBody>
      </p:sp>
      <p:sp>
        <p:nvSpPr>
          <p:cNvPr id="21" name="Text 19"/>
          <p:cNvSpPr/>
          <p:nvPr/>
        </p:nvSpPr>
        <p:spPr>
          <a:xfrm>
            <a:off x="7498080" y="2304288"/>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AI</a:t>
            </a:r>
            <a:endParaRPr lang="en-US" sz="1100" dirty="0"/>
          </a:p>
        </p:txBody>
      </p:sp>
      <p:sp>
        <p:nvSpPr>
          <p:cNvPr id="22" name="Shape 20"/>
          <p:cNvSpPr/>
          <p:nvPr/>
        </p:nvSpPr>
        <p:spPr>
          <a:xfrm>
            <a:off x="3840480" y="2770632"/>
            <a:ext cx="365760" cy="365760"/>
          </a:xfrm>
          <a:prstGeom prst="ellipse">
            <a:avLst/>
          </a:prstGeom>
          <a:solidFill>
            <a:srgbClr val="0B0E14"/>
          </a:solidFill>
          <a:ln w="19050">
            <a:solidFill>
              <a:srgbClr val="8B9CFF"/>
            </a:solidFill>
            <a:prstDash val="solid"/>
          </a:ln>
        </p:spPr>
      </p:sp>
      <p:sp>
        <p:nvSpPr>
          <p:cNvPr id="23" name="Text 21"/>
          <p:cNvSpPr/>
          <p:nvPr/>
        </p:nvSpPr>
        <p:spPr>
          <a:xfrm>
            <a:off x="3840480" y="2770632"/>
            <a:ext cx="365760" cy="36576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4</a:t>
            </a:r>
            <a:endParaRPr lang="en-US" sz="1300" dirty="0"/>
          </a:p>
        </p:txBody>
      </p:sp>
      <p:sp>
        <p:nvSpPr>
          <p:cNvPr id="24" name="Text 22"/>
          <p:cNvSpPr/>
          <p:nvPr/>
        </p:nvSpPr>
        <p:spPr>
          <a:xfrm>
            <a:off x="4389120" y="2770632"/>
            <a:ext cx="3108960" cy="36576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Kararı mühürle</a:t>
            </a:r>
            <a:endParaRPr lang="en-US" sz="1400" dirty="0"/>
          </a:p>
        </p:txBody>
      </p:sp>
      <p:sp>
        <p:nvSpPr>
          <p:cNvPr id="25" name="Text 23"/>
          <p:cNvSpPr/>
          <p:nvPr/>
        </p:nvSpPr>
        <p:spPr>
          <a:xfrm>
            <a:off x="7498080" y="2770632"/>
            <a:ext cx="1188720" cy="365760"/>
          </a:xfrm>
          <a:prstGeom prst="rect">
            <a:avLst/>
          </a:prstGeom>
          <a:noFill/>
          <a:ln/>
        </p:spPr>
        <p:txBody>
          <a:bodyPr wrap="square" lIns="0" tIns="0" rIns="0" bIns="0" rtlCol="0" anchor="ctr"/>
          <a:lstStyle/>
          <a:p>
            <a:pPr algn="r" indent="0" marL="0">
              <a:buNone/>
            </a:pPr>
            <a:r>
              <a:rPr lang="en-US" sz="1100" dirty="0">
                <a:solidFill>
                  <a:srgbClr val="8B9CFF"/>
                </a:solidFill>
                <a:latin typeface="Calibri" pitchFamily="34" charset="0"/>
                <a:ea typeface="Calibri" pitchFamily="34" charset="-122"/>
                <a:cs typeface="Calibri" pitchFamily="34" charset="-120"/>
              </a:rPr>
              <a:t>Avalanche</a:t>
            </a:r>
            <a:endParaRPr lang="en-US" sz="1100" dirty="0"/>
          </a:p>
        </p:txBody>
      </p:sp>
      <p:sp>
        <p:nvSpPr>
          <p:cNvPr id="26" name="Shape 24"/>
          <p:cNvSpPr/>
          <p:nvPr/>
        </p:nvSpPr>
        <p:spPr>
          <a:xfrm>
            <a:off x="3840480" y="3236976"/>
            <a:ext cx="365760" cy="365760"/>
          </a:xfrm>
          <a:prstGeom prst="ellipse">
            <a:avLst/>
          </a:prstGeom>
          <a:solidFill>
            <a:srgbClr val="0B0E14"/>
          </a:solidFill>
          <a:ln w="19050">
            <a:solidFill>
              <a:srgbClr val="E8B04B"/>
            </a:solidFill>
            <a:prstDash val="solid"/>
          </a:ln>
        </p:spPr>
      </p:sp>
      <p:sp>
        <p:nvSpPr>
          <p:cNvPr id="27" name="Text 25"/>
          <p:cNvSpPr/>
          <p:nvPr/>
        </p:nvSpPr>
        <p:spPr>
          <a:xfrm>
            <a:off x="3840480" y="3236976"/>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5</a:t>
            </a:r>
            <a:endParaRPr lang="en-US" sz="1300" dirty="0"/>
          </a:p>
        </p:txBody>
      </p:sp>
      <p:sp>
        <p:nvSpPr>
          <p:cNvPr id="28" name="Text 26"/>
          <p:cNvSpPr/>
          <p:nvPr/>
        </p:nvSpPr>
        <p:spPr>
          <a:xfrm>
            <a:off x="4389120" y="3236976"/>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Emri ver</a:t>
            </a:r>
            <a:endParaRPr lang="en-US" sz="1400" dirty="0"/>
          </a:p>
        </p:txBody>
      </p:sp>
      <p:sp>
        <p:nvSpPr>
          <p:cNvPr id="29" name="Text 27"/>
          <p:cNvSpPr/>
          <p:nvPr/>
        </p:nvSpPr>
        <p:spPr>
          <a:xfrm>
            <a:off x="7498080" y="3236976"/>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OKX</a:t>
            </a:r>
            <a:endParaRPr lang="en-US" sz="1100" dirty="0"/>
          </a:p>
        </p:txBody>
      </p:sp>
      <p:sp>
        <p:nvSpPr>
          <p:cNvPr id="30" name="Shape 28"/>
          <p:cNvSpPr/>
          <p:nvPr/>
        </p:nvSpPr>
        <p:spPr>
          <a:xfrm>
            <a:off x="3840480" y="3703320"/>
            <a:ext cx="365760" cy="365760"/>
          </a:xfrm>
          <a:prstGeom prst="ellipse">
            <a:avLst/>
          </a:prstGeom>
          <a:solidFill>
            <a:srgbClr val="0B0E14"/>
          </a:solidFill>
          <a:ln w="19050">
            <a:solidFill>
              <a:srgbClr val="8B9CFF"/>
            </a:solidFill>
            <a:prstDash val="solid"/>
          </a:ln>
        </p:spPr>
      </p:sp>
      <p:sp>
        <p:nvSpPr>
          <p:cNvPr id="31" name="Text 29"/>
          <p:cNvSpPr/>
          <p:nvPr/>
        </p:nvSpPr>
        <p:spPr>
          <a:xfrm>
            <a:off x="3840480" y="3703320"/>
            <a:ext cx="365760" cy="36576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6</a:t>
            </a:r>
            <a:endParaRPr lang="en-US" sz="1300" dirty="0"/>
          </a:p>
        </p:txBody>
      </p:sp>
      <p:sp>
        <p:nvSpPr>
          <p:cNvPr id="32" name="Text 30"/>
          <p:cNvSpPr/>
          <p:nvPr/>
        </p:nvSpPr>
        <p:spPr>
          <a:xfrm>
            <a:off x="4389120" y="3703320"/>
            <a:ext cx="3108960" cy="36576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Zarfı aç</a:t>
            </a:r>
            <a:endParaRPr lang="en-US" sz="1400" dirty="0"/>
          </a:p>
        </p:txBody>
      </p:sp>
      <p:sp>
        <p:nvSpPr>
          <p:cNvPr id="33" name="Text 31"/>
          <p:cNvSpPr/>
          <p:nvPr/>
        </p:nvSpPr>
        <p:spPr>
          <a:xfrm>
            <a:off x="7498080" y="3703320"/>
            <a:ext cx="1188720" cy="365760"/>
          </a:xfrm>
          <a:prstGeom prst="rect">
            <a:avLst/>
          </a:prstGeom>
          <a:noFill/>
          <a:ln/>
        </p:spPr>
        <p:txBody>
          <a:bodyPr wrap="square" lIns="0" tIns="0" rIns="0" bIns="0" rtlCol="0" anchor="ctr"/>
          <a:lstStyle/>
          <a:p>
            <a:pPr algn="r" indent="0" marL="0">
              <a:buNone/>
            </a:pPr>
            <a:r>
              <a:rPr lang="en-US" sz="1100" dirty="0">
                <a:solidFill>
                  <a:srgbClr val="8B9CFF"/>
                </a:solidFill>
                <a:latin typeface="Calibri" pitchFamily="34" charset="0"/>
                <a:ea typeface="Calibri" pitchFamily="34" charset="-122"/>
                <a:cs typeface="Calibri" pitchFamily="34" charset="-120"/>
              </a:rPr>
              <a:t>Avalanche</a:t>
            </a:r>
            <a:endParaRPr lang="en-US" sz="1100" dirty="0"/>
          </a:p>
        </p:txBody>
      </p:sp>
      <p:sp>
        <p:nvSpPr>
          <p:cNvPr id="34" name="Shape 32"/>
          <p:cNvSpPr/>
          <p:nvPr/>
        </p:nvSpPr>
        <p:spPr>
          <a:xfrm>
            <a:off x="3840480" y="4169664"/>
            <a:ext cx="365760" cy="365760"/>
          </a:xfrm>
          <a:prstGeom prst="ellipse">
            <a:avLst/>
          </a:prstGeom>
          <a:solidFill>
            <a:srgbClr val="0B0E14"/>
          </a:solidFill>
          <a:ln w="19050">
            <a:solidFill>
              <a:srgbClr val="E8B04B"/>
            </a:solidFill>
            <a:prstDash val="solid"/>
          </a:ln>
        </p:spPr>
      </p:sp>
      <p:sp>
        <p:nvSpPr>
          <p:cNvPr id="35" name="Text 33"/>
          <p:cNvSpPr/>
          <p:nvPr/>
        </p:nvSpPr>
        <p:spPr>
          <a:xfrm>
            <a:off x="3840480" y="4169664"/>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7</a:t>
            </a:r>
            <a:endParaRPr lang="en-US" sz="1300" dirty="0"/>
          </a:p>
        </p:txBody>
      </p:sp>
      <p:sp>
        <p:nvSpPr>
          <p:cNvPr id="36" name="Text 34"/>
          <p:cNvSpPr/>
          <p:nvPr/>
        </p:nvSpPr>
        <p:spPr>
          <a:xfrm>
            <a:off x="4389120" y="4169664"/>
            <a:ext cx="3108960" cy="36576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Paneli güncelle, tekrarla</a:t>
            </a:r>
            <a:endParaRPr lang="en-US" sz="1400" dirty="0"/>
          </a:p>
        </p:txBody>
      </p:sp>
      <p:sp>
        <p:nvSpPr>
          <p:cNvPr id="37" name="Text 35"/>
          <p:cNvSpPr/>
          <p:nvPr/>
        </p:nvSpPr>
        <p:spPr>
          <a:xfrm>
            <a:off x="7498080" y="4169664"/>
            <a:ext cx="1188720" cy="365760"/>
          </a:xfrm>
          <a:prstGeom prst="rect">
            <a:avLst/>
          </a:prstGeom>
          <a:noFill/>
          <a:ln/>
        </p:spPr>
        <p:txBody>
          <a:bodyPr wrap="square" lIns="0" tIns="0" rIns="0" bIns="0" rtlCol="0" anchor="ctr"/>
          <a:lstStyle/>
          <a:p>
            <a:pPr algn="r" indent="0" marL="0">
              <a:buNone/>
            </a:pPr>
            <a:r>
              <a:rPr lang="en-US" sz="1100" dirty="0">
                <a:solidFill>
                  <a:srgbClr val="8A94A8"/>
                </a:solidFill>
                <a:latin typeface="Calibri" pitchFamily="34" charset="0"/>
                <a:ea typeface="Calibri" pitchFamily="34" charset="-122"/>
                <a:cs typeface="Calibri" pitchFamily="34" charset="-120"/>
              </a:rPr>
              <a:t>web</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 · SINIRLAR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Dar yetki, kesin sınırlar</a:t>
            </a:r>
            <a:endParaRPr lang="en-US" sz="3000" dirty="0"/>
          </a:p>
        </p:txBody>
      </p:sp>
      <p:sp>
        <p:nvSpPr>
          <p:cNvPr id="4" name="Shape 2"/>
          <p:cNvSpPr/>
          <p:nvPr/>
        </p:nvSpPr>
        <p:spPr>
          <a:xfrm>
            <a:off x="457200" y="1325880"/>
            <a:ext cx="2606040" cy="1188720"/>
          </a:xfrm>
          <a:prstGeom prst="roundRect">
            <a:avLst>
              <a:gd name="adj" fmla="val 9231"/>
            </a:avLst>
          </a:prstGeom>
          <a:solidFill>
            <a:srgbClr val="1A2130"/>
          </a:solidFill>
          <a:ln w="9525">
            <a:solidFill>
              <a:srgbClr val="263043"/>
            </a:solidFill>
            <a:prstDash val="solid"/>
          </a:ln>
        </p:spPr>
      </p:sp>
      <p:sp>
        <p:nvSpPr>
          <p:cNvPr id="5" name="Text 3"/>
          <p:cNvSpPr/>
          <p:nvPr/>
        </p:nvSpPr>
        <p:spPr>
          <a:xfrm>
            <a:off x="64008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$10</a:t>
            </a:r>
            <a:endParaRPr lang="en-US" sz="3600" dirty="0"/>
          </a:p>
        </p:txBody>
      </p:sp>
      <p:sp>
        <p:nvSpPr>
          <p:cNvPr id="6" name="Text 4"/>
          <p:cNvSpPr/>
          <p:nvPr/>
        </p:nvSpPr>
        <p:spPr>
          <a:xfrm>
            <a:off x="64008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tek emirde harcayabileceği en fazla</a:t>
            </a:r>
            <a:endParaRPr lang="en-US" sz="1200" dirty="0"/>
          </a:p>
        </p:txBody>
      </p:sp>
      <p:sp>
        <p:nvSpPr>
          <p:cNvPr id="7" name="Shape 5"/>
          <p:cNvSpPr/>
          <p:nvPr/>
        </p:nvSpPr>
        <p:spPr>
          <a:xfrm>
            <a:off x="3246120" y="1325880"/>
            <a:ext cx="2606040" cy="1188720"/>
          </a:xfrm>
          <a:prstGeom prst="roundRect">
            <a:avLst>
              <a:gd name="adj" fmla="val 9231"/>
            </a:avLst>
          </a:prstGeom>
          <a:solidFill>
            <a:srgbClr val="1A2130"/>
          </a:solidFill>
          <a:ln w="9525">
            <a:solidFill>
              <a:srgbClr val="263043"/>
            </a:solidFill>
            <a:prstDash val="solid"/>
          </a:ln>
        </p:spPr>
      </p:sp>
      <p:sp>
        <p:nvSpPr>
          <p:cNvPr id="8" name="Text 6"/>
          <p:cNvSpPr/>
          <p:nvPr/>
        </p:nvSpPr>
        <p:spPr>
          <a:xfrm>
            <a:off x="342900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$50</a:t>
            </a:r>
            <a:endParaRPr lang="en-US" sz="3600" dirty="0"/>
          </a:p>
        </p:txBody>
      </p:sp>
      <p:sp>
        <p:nvSpPr>
          <p:cNvPr id="9" name="Text 7"/>
          <p:cNvSpPr/>
          <p:nvPr/>
        </p:nvSpPr>
        <p:spPr>
          <a:xfrm>
            <a:off x="342900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piyasada aynı anda tutabileceği en fazla</a:t>
            </a:r>
            <a:endParaRPr lang="en-US" sz="1200" dirty="0"/>
          </a:p>
        </p:txBody>
      </p:sp>
      <p:sp>
        <p:nvSpPr>
          <p:cNvPr id="10" name="Shape 8"/>
          <p:cNvSpPr/>
          <p:nvPr/>
        </p:nvSpPr>
        <p:spPr>
          <a:xfrm>
            <a:off x="6035040" y="1325880"/>
            <a:ext cx="2606040" cy="1188720"/>
          </a:xfrm>
          <a:prstGeom prst="roundRect">
            <a:avLst>
              <a:gd name="adj" fmla="val 9231"/>
            </a:avLst>
          </a:prstGeom>
          <a:solidFill>
            <a:srgbClr val="1A2130"/>
          </a:solidFill>
          <a:ln w="9525">
            <a:solidFill>
              <a:srgbClr val="263043"/>
            </a:solidFill>
            <a:prstDash val="solid"/>
          </a:ln>
        </p:spPr>
      </p:sp>
      <p:sp>
        <p:nvSpPr>
          <p:cNvPr id="11" name="Text 9"/>
          <p:cNvSpPr/>
          <p:nvPr/>
        </p:nvSpPr>
        <p:spPr>
          <a:xfrm>
            <a:off x="6217920" y="1371600"/>
            <a:ext cx="2240280" cy="685800"/>
          </a:xfrm>
          <a:prstGeom prst="rect">
            <a:avLst/>
          </a:prstGeom>
          <a:noFill/>
          <a:ln/>
        </p:spPr>
        <p:txBody>
          <a:bodyPr wrap="square" lIns="0" tIns="0" rIns="0" bIns="0" rtlCol="0" anchor="ctr"/>
          <a:lstStyle/>
          <a:p>
            <a:pPr indent="0" marL="0">
              <a:buNone/>
            </a:pPr>
            <a:r>
              <a:rPr lang="en-US" sz="3600" b="1" dirty="0">
                <a:solidFill>
                  <a:srgbClr val="E8B04B"/>
                </a:solidFill>
                <a:latin typeface="Cambria" pitchFamily="34" charset="0"/>
                <a:ea typeface="Cambria" pitchFamily="34" charset="-122"/>
                <a:cs typeface="Cambria" pitchFamily="34" charset="-120"/>
              </a:rPr>
              <a:t>%5</a:t>
            </a:r>
            <a:endParaRPr lang="en-US" sz="3600" dirty="0"/>
          </a:p>
        </p:txBody>
      </p:sp>
      <p:sp>
        <p:nvSpPr>
          <p:cNvPr id="12" name="Text 10"/>
          <p:cNvSpPr/>
          <p:nvPr/>
        </p:nvSpPr>
        <p:spPr>
          <a:xfrm>
            <a:off x="6217920" y="2057400"/>
            <a:ext cx="2240280" cy="4114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düşüşte yeni emirleri durdurur (acil durdurma)</a:t>
            </a:r>
            <a:endParaRPr lang="en-US" sz="1200" dirty="0"/>
          </a:p>
        </p:txBody>
      </p:sp>
      <p:sp>
        <p:nvSpPr>
          <p:cNvPr id="13" name="Text 11"/>
          <p:cNvSpPr/>
          <p:nvPr/>
        </p:nvSpPr>
        <p:spPr>
          <a:xfrm>
            <a:off x="457200" y="2578608"/>
            <a:ext cx="8229600" cy="274320"/>
          </a:xfrm>
          <a:prstGeom prst="rect">
            <a:avLst/>
          </a:prstGeom>
          <a:noFill/>
          <a:ln/>
        </p:spPr>
        <p:txBody>
          <a:bodyPr wrap="square" lIns="0" tIns="0" rIns="0" bIns="0" rtlCol="0" anchor="ctr"/>
          <a:lstStyle/>
          <a:p>
            <a:pPr indent="0" marL="0">
              <a:buNone/>
            </a:pPr>
            <a:r>
              <a:rPr lang="en-US" sz="1100" i="1" dirty="0">
                <a:solidFill>
                  <a:srgbClr val="5B6578"/>
                </a:solidFill>
                <a:latin typeface="Calibri" pitchFamily="34" charset="0"/>
                <a:ea typeface="Calibri" pitchFamily="34" charset="-122"/>
                <a:cs typeface="Calibri" pitchFamily="34" charset="-120"/>
              </a:rPr>
              <a:t>Güncel ayarlar. Kod bunları her emirden önce kontrol eder.</a:t>
            </a:r>
            <a:endParaRPr lang="en-US" sz="1100" dirty="0"/>
          </a:p>
        </p:txBody>
      </p:sp>
      <p:sp>
        <p:nvSpPr>
          <p:cNvPr id="14" name="Shape 12"/>
          <p:cNvSpPr/>
          <p:nvPr/>
        </p:nvSpPr>
        <p:spPr>
          <a:xfrm>
            <a:off x="457200" y="2971800"/>
            <a:ext cx="3977640" cy="1280160"/>
          </a:xfrm>
          <a:prstGeom prst="roundRect">
            <a:avLst>
              <a:gd name="adj" fmla="val 8571"/>
            </a:avLst>
          </a:prstGeom>
          <a:solidFill>
            <a:srgbClr val="121722"/>
          </a:solidFill>
          <a:ln w="9525">
            <a:solidFill>
              <a:srgbClr val="263043"/>
            </a:solidFill>
            <a:prstDash val="solid"/>
          </a:ln>
        </p:spPr>
      </p:sp>
      <p:sp>
        <p:nvSpPr>
          <p:cNvPr id="15" name="Text 13"/>
          <p:cNvSpPr/>
          <p:nvPr/>
        </p:nvSpPr>
        <p:spPr>
          <a:xfrm>
            <a:off x="640080" y="3063240"/>
            <a:ext cx="3657600" cy="320040"/>
          </a:xfrm>
          <a:prstGeom prst="rect">
            <a:avLst/>
          </a:prstGeom>
          <a:noFill/>
          <a:ln/>
        </p:spPr>
        <p:txBody>
          <a:bodyPr wrap="square" lIns="0" tIns="0" rIns="0" bIns="0" rtlCol="0" anchor="ctr"/>
          <a:lstStyle/>
          <a:p>
            <a:pPr indent="0" marL="0">
              <a:buNone/>
            </a:pPr>
            <a:r>
              <a:rPr lang="en-US" sz="1400" b="1" dirty="0">
                <a:solidFill>
                  <a:srgbClr val="22C55E"/>
                </a:solidFill>
                <a:latin typeface="Calibri" pitchFamily="34" charset="0"/>
                <a:ea typeface="Calibri" pitchFamily="34" charset="-122"/>
                <a:cs typeface="Calibri" pitchFamily="34" charset="-120"/>
              </a:rPr>
              <a:t>Yapabilir</a:t>
            </a:r>
            <a:endParaRPr lang="en-US" sz="1400" dirty="0"/>
          </a:p>
        </p:txBody>
      </p:sp>
      <p:sp>
        <p:nvSpPr>
          <p:cNvPr id="16" name="Text 14"/>
          <p:cNvSpPr/>
          <p:nvPr/>
        </p:nvSpPr>
        <p:spPr>
          <a:xfrm>
            <a:off x="640080" y="3429000"/>
            <a:ext cx="3657600" cy="731520"/>
          </a:xfrm>
          <a:prstGeom prst="rect">
            <a:avLst/>
          </a:prstGeom>
          <a:noFill/>
          <a:ln/>
        </p:spPr>
        <p:txBody>
          <a:bodyPr wrap="square" lIns="0" tIns="0" rIns="0" bIns="0" rtlCol="0" anchor="t"/>
          <a:lstStyle/>
          <a:p>
            <a:pPr indent="0" marL="0">
              <a:spcAft>
                <a:spcPts val="400"/>
              </a:spcAft>
              <a:buNone/>
            </a:pPr>
            <a:r>
              <a:rPr lang="en-US" sz="1300" dirty="0">
                <a:solidFill>
                  <a:srgbClr val="E6EAF2"/>
                </a:solidFill>
                <a:latin typeface="Calibri" pitchFamily="34" charset="0"/>
                <a:ea typeface="Calibri" pitchFamily="34" charset="-122"/>
                <a:cs typeface="Calibri" pitchFamily="34" charset="-120"/>
              </a:rPr>
              <a:t>✓  OKX TR'de coin alıp satmak (sadece spot)</a:t>
            </a:r>
            <a:endParaRPr lang="en-US" sz="1300" dirty="0"/>
          </a:p>
          <a:p>
            <a:pPr indent="0" marL="0">
              <a:spcAft>
                <a:spcPts val="400"/>
              </a:spcAft>
              <a:buNone/>
            </a:pPr>
            <a:r>
              <a:rPr lang="en-US" sz="1300" dirty="0">
                <a:solidFill>
                  <a:srgbClr val="E6EAF2"/>
                </a:solidFill>
                <a:latin typeface="Calibri" pitchFamily="34" charset="0"/>
                <a:ea typeface="Calibri" pitchFamily="34" charset="-122"/>
                <a:cs typeface="Calibri" pitchFamily="34" charset="-120"/>
              </a:rPr>
              <a:t>✓  Sadece ayarlarındaki 5 coin ile işlem</a:t>
            </a:r>
            <a:endParaRPr lang="en-US" sz="1300" dirty="0"/>
          </a:p>
        </p:txBody>
      </p:sp>
      <p:sp>
        <p:nvSpPr>
          <p:cNvPr id="17" name="Shape 15"/>
          <p:cNvSpPr/>
          <p:nvPr/>
        </p:nvSpPr>
        <p:spPr>
          <a:xfrm>
            <a:off x="4663440" y="2971800"/>
            <a:ext cx="3977640" cy="1280160"/>
          </a:xfrm>
          <a:prstGeom prst="roundRect">
            <a:avLst>
              <a:gd name="adj" fmla="val 8571"/>
            </a:avLst>
          </a:prstGeom>
          <a:solidFill>
            <a:srgbClr val="121722"/>
          </a:solidFill>
          <a:ln w="9525">
            <a:solidFill>
              <a:srgbClr val="263043"/>
            </a:solidFill>
            <a:prstDash val="solid"/>
          </a:ln>
        </p:spPr>
      </p:sp>
      <p:sp>
        <p:nvSpPr>
          <p:cNvPr id="18" name="Text 16"/>
          <p:cNvSpPr/>
          <p:nvPr/>
        </p:nvSpPr>
        <p:spPr>
          <a:xfrm>
            <a:off x="4846320" y="3063240"/>
            <a:ext cx="3657600" cy="320040"/>
          </a:xfrm>
          <a:prstGeom prst="rect">
            <a:avLst/>
          </a:prstGeom>
          <a:noFill/>
          <a:ln/>
        </p:spPr>
        <p:txBody>
          <a:bodyPr wrap="square" lIns="0" tIns="0" rIns="0" bIns="0" rtlCol="0" anchor="ctr"/>
          <a:lstStyle/>
          <a:p>
            <a:pPr indent="0" marL="0">
              <a:buNone/>
            </a:pPr>
            <a:r>
              <a:rPr lang="en-US" sz="1400" b="1" dirty="0">
                <a:solidFill>
                  <a:srgbClr val="F97066"/>
                </a:solidFill>
                <a:latin typeface="Calibri" pitchFamily="34" charset="0"/>
                <a:ea typeface="Calibri" pitchFamily="34" charset="-122"/>
                <a:cs typeface="Calibri" pitchFamily="34" charset="-120"/>
              </a:rPr>
              <a:t>Yapamaz</a:t>
            </a:r>
            <a:endParaRPr lang="en-US" sz="1400" dirty="0"/>
          </a:p>
        </p:txBody>
      </p:sp>
      <p:sp>
        <p:nvSpPr>
          <p:cNvPr id="19" name="Text 17"/>
          <p:cNvSpPr/>
          <p:nvPr/>
        </p:nvSpPr>
        <p:spPr>
          <a:xfrm>
            <a:off x="4846320" y="3429000"/>
            <a:ext cx="3657600" cy="777240"/>
          </a:xfrm>
          <a:prstGeom prst="rect">
            <a:avLst/>
          </a:prstGeom>
          <a:noFill/>
          <a:ln/>
        </p:spPr>
        <p:txBody>
          <a:bodyPr wrap="square" lIns="0" tIns="0" rIns="0" bIns="0" rtlCol="0" anchor="t"/>
          <a:lstStyle/>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Para çekmek ya da transfer etmek</a:t>
            </a:r>
            <a:endParaRPr lang="en-US" sz="1300" dirty="0"/>
          </a:p>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Borç almak ya da kaldıraç kullanmak</a:t>
            </a:r>
            <a:endParaRPr lang="en-US" sz="1300" dirty="0"/>
          </a:p>
          <a:p>
            <a:pPr indent="0" marL="0">
              <a:spcAft>
                <a:spcPts val="200"/>
              </a:spcAft>
              <a:buNone/>
            </a:pPr>
            <a:r>
              <a:rPr lang="en-US" sz="1300" dirty="0">
                <a:solidFill>
                  <a:srgbClr val="E6EAF2"/>
                </a:solidFill>
                <a:latin typeface="Calibri" pitchFamily="34" charset="0"/>
                <a:ea typeface="Calibri" pitchFamily="34" charset="-122"/>
                <a:cs typeface="Calibri" pitchFamily="34" charset="-120"/>
              </a:rPr>
              <a:t>✕  Hesap ayarlarını değiştirmek</a:t>
            </a:r>
            <a:endParaRPr lang="en-US" sz="1300" dirty="0"/>
          </a:p>
        </p:txBody>
      </p:sp>
      <p:sp>
        <p:nvSpPr>
          <p:cNvPr id="20" name="Text 18"/>
          <p:cNvSpPr/>
          <p:nvPr/>
        </p:nvSpPr>
        <p:spPr>
          <a:xfrm>
            <a:off x="457200" y="4389120"/>
            <a:ext cx="8229600" cy="457200"/>
          </a:xfrm>
          <a:prstGeom prst="rect">
            <a:avLst/>
          </a:prstGeom>
          <a:noFill/>
          <a:ln/>
        </p:spPr>
        <p:txBody>
          <a:bodyPr wrap="square" lIns="0" tIns="0" rIns="0" bIns="0" rtlCol="0" anchor="t"/>
          <a:lstStyle/>
          <a:p>
            <a:pPr indent="0" marL="0">
              <a:buNone/>
            </a:pPr>
            <a:r>
              <a:rPr lang="en-US" sz="1300" b="1" dirty="0">
                <a:solidFill>
                  <a:srgbClr val="F5A524"/>
                </a:solidFill>
                <a:latin typeface="Calibri" pitchFamily="34" charset="0"/>
                <a:ea typeface="Calibri" pitchFamily="34" charset="-122"/>
                <a:cs typeface="Calibri" pitchFamily="34" charset="-120"/>
              </a:rPr>
              <a:t>Deneme modu (dry run) varsayılan olarak açık. </a:t>
            </a:r>
            <a:pPr indent="0" marL="0">
              <a:buNone/>
            </a:pPr>
            <a:r>
              <a:rPr lang="en-US" sz="1300" dirty="0">
                <a:solidFill>
                  <a:srgbClr val="E6EAF2"/>
                </a:solidFill>
                <a:latin typeface="Calibri" pitchFamily="34" charset="0"/>
                <a:ea typeface="Calibri" pitchFamily="34" charset="-122"/>
                <a:cs typeface="Calibri" pitchFamily="34" charset="-120"/>
              </a:rPr>
              <a:t>Canlıya geçmek insan kararıdır: ilk canlı emir (BTC 2 USDT alım, 17 Ekim 15:37) açık bir onayla verildi.</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OTONOMİ · HATALAR</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Bir şey bozulursa güvenle durur</a:t>
            </a:r>
            <a:endParaRPr lang="en-US" sz="3000" dirty="0"/>
          </a:p>
        </p:txBody>
      </p:sp>
      <p:sp>
        <p:nvSpPr>
          <p:cNvPr id="4" name="Text 2"/>
          <p:cNvSpPr/>
          <p:nvPr/>
        </p:nvSpPr>
        <p:spPr>
          <a:xfrm>
            <a:off x="685800" y="1234440"/>
            <a:ext cx="320040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Eğer…</a:t>
            </a:r>
            <a:endParaRPr lang="en-US" sz="1100" dirty="0"/>
          </a:p>
        </p:txBody>
      </p:sp>
      <p:sp>
        <p:nvSpPr>
          <p:cNvPr id="5" name="Text 3"/>
          <p:cNvSpPr/>
          <p:nvPr/>
        </p:nvSpPr>
        <p:spPr>
          <a:xfrm>
            <a:off x="4800600" y="1234440"/>
            <a:ext cx="3200400" cy="274320"/>
          </a:xfrm>
          <a:prstGeom prst="rect">
            <a:avLst/>
          </a:prstGeom>
          <a:noFill/>
          <a:ln/>
        </p:spPr>
        <p:txBody>
          <a:bodyPr wrap="square" lIns="0" tIns="0" rIns="0" bIns="0" rtlCol="0" anchor="ctr"/>
          <a:lstStyle/>
          <a:p>
            <a:pPr indent="0" marL="0">
              <a:buNone/>
            </a:pPr>
            <a:r>
              <a:rPr lang="en-US" sz="1100" b="1" spc="200" kern="0" dirty="0">
                <a:solidFill>
                  <a:srgbClr val="E8B04B"/>
                </a:solidFill>
                <a:latin typeface="Calibri" pitchFamily="34" charset="0"/>
                <a:ea typeface="Calibri" pitchFamily="34" charset="-122"/>
                <a:cs typeface="Calibri" pitchFamily="34" charset="-120"/>
              </a:rPr>
              <a:t>GRAIL…</a:t>
            </a:r>
            <a:endParaRPr lang="en-US" sz="1100" dirty="0"/>
          </a:p>
        </p:txBody>
      </p:sp>
      <p:sp>
        <p:nvSpPr>
          <p:cNvPr id="6" name="Shape 4"/>
          <p:cNvSpPr/>
          <p:nvPr/>
        </p:nvSpPr>
        <p:spPr>
          <a:xfrm>
            <a:off x="457200" y="1554480"/>
            <a:ext cx="3931920" cy="548640"/>
          </a:xfrm>
          <a:prstGeom prst="roundRect">
            <a:avLst>
              <a:gd name="adj" fmla="val 20000"/>
            </a:avLst>
          </a:prstGeom>
          <a:solidFill>
            <a:srgbClr val="121722"/>
          </a:solidFill>
          <a:ln w="9525">
            <a:solidFill>
              <a:srgbClr val="263043"/>
            </a:solidFill>
            <a:prstDash val="solid"/>
          </a:ln>
        </p:spPr>
      </p:sp>
      <p:sp>
        <p:nvSpPr>
          <p:cNvPr id="7" name="Text 5"/>
          <p:cNvSpPr/>
          <p:nvPr/>
        </p:nvSpPr>
        <p:spPr>
          <a:xfrm>
            <a:off x="685800" y="1554480"/>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Kararı mühürleyemezse</a:t>
            </a:r>
            <a:endParaRPr lang="en-US" sz="1400" dirty="0"/>
          </a:p>
        </p:txBody>
      </p:sp>
      <p:sp>
        <p:nvSpPr>
          <p:cNvPr id="8" name="Text 6"/>
          <p:cNvSpPr/>
          <p:nvPr/>
        </p:nvSpPr>
        <p:spPr>
          <a:xfrm>
            <a:off x="4389120" y="1554480"/>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4800600" y="1554480"/>
            <a:ext cx="3840480" cy="548640"/>
          </a:xfrm>
          <a:prstGeom prst="roundRect">
            <a:avLst>
              <a:gd name="adj" fmla="val 20000"/>
            </a:avLst>
          </a:prstGeom>
          <a:solidFill>
            <a:srgbClr val="1A2130"/>
          </a:solidFill>
          <a:ln w="9525">
            <a:solidFill>
              <a:srgbClr val="263043"/>
            </a:solidFill>
            <a:prstDash val="solid"/>
          </a:ln>
        </p:spPr>
      </p:sp>
      <p:sp>
        <p:nvSpPr>
          <p:cNvPr id="10" name="Text 8"/>
          <p:cNvSpPr/>
          <p:nvPr/>
        </p:nvSpPr>
        <p:spPr>
          <a:xfrm>
            <a:off x="4983480" y="1554480"/>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Bu döngüde işlem yapmaz.</a:t>
            </a:r>
            <a:endParaRPr lang="en-US" sz="1400" dirty="0"/>
          </a:p>
        </p:txBody>
      </p:sp>
      <p:sp>
        <p:nvSpPr>
          <p:cNvPr id="11" name="Shape 9"/>
          <p:cNvSpPr/>
          <p:nvPr/>
        </p:nvSpPr>
        <p:spPr>
          <a:xfrm>
            <a:off x="457200" y="2212848"/>
            <a:ext cx="3931920" cy="548640"/>
          </a:xfrm>
          <a:prstGeom prst="roundRect">
            <a:avLst>
              <a:gd name="adj" fmla="val 20000"/>
            </a:avLst>
          </a:prstGeom>
          <a:solidFill>
            <a:srgbClr val="121722"/>
          </a:solidFill>
          <a:ln w="9525">
            <a:solidFill>
              <a:srgbClr val="263043"/>
            </a:solidFill>
            <a:prstDash val="solid"/>
          </a:ln>
        </p:spPr>
      </p:sp>
      <p:sp>
        <p:nvSpPr>
          <p:cNvPr id="12" name="Text 10"/>
          <p:cNvSpPr/>
          <p:nvPr/>
        </p:nvSpPr>
        <p:spPr>
          <a:xfrm>
            <a:off x="685800" y="2212848"/>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Fiyat verisi eksik ya da bozuksa</a:t>
            </a:r>
            <a:endParaRPr lang="en-US" sz="1400" dirty="0"/>
          </a:p>
        </p:txBody>
      </p:sp>
      <p:sp>
        <p:nvSpPr>
          <p:cNvPr id="13" name="Text 11"/>
          <p:cNvSpPr/>
          <p:nvPr/>
        </p:nvSpPr>
        <p:spPr>
          <a:xfrm>
            <a:off x="4389120" y="2212848"/>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4800600" y="2212848"/>
            <a:ext cx="3840480" cy="548640"/>
          </a:xfrm>
          <a:prstGeom prst="roundRect">
            <a:avLst>
              <a:gd name="adj" fmla="val 20000"/>
            </a:avLst>
          </a:prstGeom>
          <a:solidFill>
            <a:srgbClr val="1A2130"/>
          </a:solidFill>
          <a:ln w="9525">
            <a:solidFill>
              <a:srgbClr val="263043"/>
            </a:solidFill>
            <a:prstDash val="solid"/>
          </a:ln>
        </p:spPr>
      </p:sp>
      <p:sp>
        <p:nvSpPr>
          <p:cNvPr id="15" name="Text 13"/>
          <p:cNvSpPr/>
          <p:nvPr/>
        </p:nvSpPr>
        <p:spPr>
          <a:xfrm>
            <a:off x="4983480" y="2212848"/>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O coinde bekler ve nedenini yazar.</a:t>
            </a:r>
            <a:endParaRPr lang="en-US" sz="1400" dirty="0"/>
          </a:p>
        </p:txBody>
      </p:sp>
      <p:sp>
        <p:nvSpPr>
          <p:cNvPr id="16" name="Shape 14"/>
          <p:cNvSpPr/>
          <p:nvPr/>
        </p:nvSpPr>
        <p:spPr>
          <a:xfrm>
            <a:off x="457200" y="2871216"/>
            <a:ext cx="3931920" cy="548640"/>
          </a:xfrm>
          <a:prstGeom prst="roundRect">
            <a:avLst>
              <a:gd name="adj" fmla="val 20000"/>
            </a:avLst>
          </a:prstGeom>
          <a:solidFill>
            <a:srgbClr val="121722"/>
          </a:solidFill>
          <a:ln w="9525">
            <a:solidFill>
              <a:srgbClr val="263043"/>
            </a:solidFill>
            <a:prstDash val="solid"/>
          </a:ln>
        </p:spPr>
      </p:sp>
      <p:sp>
        <p:nvSpPr>
          <p:cNvPr id="17" name="Text 15"/>
          <p:cNvSpPr/>
          <p:nvPr/>
        </p:nvSpPr>
        <p:spPr>
          <a:xfrm>
            <a:off x="685800" y="2871216"/>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Yarıda çökerse</a:t>
            </a:r>
            <a:endParaRPr lang="en-US" sz="1400" dirty="0"/>
          </a:p>
        </p:txBody>
      </p:sp>
      <p:sp>
        <p:nvSpPr>
          <p:cNvPr id="18" name="Text 16"/>
          <p:cNvSpPr/>
          <p:nvPr/>
        </p:nvSpPr>
        <p:spPr>
          <a:xfrm>
            <a:off x="4389120" y="2871216"/>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4800600" y="2871216"/>
            <a:ext cx="3840480" cy="548640"/>
          </a:xfrm>
          <a:prstGeom prst="roundRect">
            <a:avLst>
              <a:gd name="adj" fmla="val 20000"/>
            </a:avLst>
          </a:prstGeom>
          <a:solidFill>
            <a:srgbClr val="1A2130"/>
          </a:solidFill>
          <a:ln w="9525">
            <a:solidFill>
              <a:srgbClr val="263043"/>
            </a:solidFill>
            <a:prstDash val="solid"/>
          </a:ln>
        </p:spPr>
      </p:sp>
      <p:sp>
        <p:nvSpPr>
          <p:cNvPr id="20" name="Text 18"/>
          <p:cNvSpPr/>
          <p:nvPr/>
        </p:nvSpPr>
        <p:spPr>
          <a:xfrm>
            <a:off x="4983480" y="2871216"/>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Yeniden açılınca önce bekleyen zarfı açar.</a:t>
            </a:r>
            <a:endParaRPr lang="en-US" sz="1400" dirty="0"/>
          </a:p>
        </p:txBody>
      </p:sp>
      <p:sp>
        <p:nvSpPr>
          <p:cNvPr id="21" name="Shape 19"/>
          <p:cNvSpPr/>
          <p:nvPr/>
        </p:nvSpPr>
        <p:spPr>
          <a:xfrm>
            <a:off x="457200" y="3529584"/>
            <a:ext cx="3931920" cy="548640"/>
          </a:xfrm>
          <a:prstGeom prst="roundRect">
            <a:avLst>
              <a:gd name="adj" fmla="val 20000"/>
            </a:avLst>
          </a:prstGeom>
          <a:solidFill>
            <a:srgbClr val="121722"/>
          </a:solidFill>
          <a:ln w="9525">
            <a:solidFill>
              <a:srgbClr val="263043"/>
            </a:solidFill>
            <a:prstDash val="solid"/>
          </a:ln>
        </p:spPr>
      </p:sp>
      <p:sp>
        <p:nvSpPr>
          <p:cNvPr id="22" name="Text 20"/>
          <p:cNvSpPr/>
          <p:nvPr/>
        </p:nvSpPr>
        <p:spPr>
          <a:xfrm>
            <a:off x="685800" y="3529584"/>
            <a:ext cx="3566160" cy="548640"/>
          </a:xfrm>
          <a:prstGeom prst="rect">
            <a:avLst/>
          </a:prstGeom>
          <a:noFill/>
          <a:ln/>
        </p:spPr>
        <p:txBody>
          <a:bodyPr wrap="square" lIns="0" tIns="0" rIns="0" bIns="0" rtlCol="0" anchor="ctr"/>
          <a:lstStyle/>
          <a:p>
            <a:pPr indent="0" marL="0">
              <a:buNone/>
            </a:pPr>
            <a:r>
              <a:rPr lang="en-US" sz="1400" b="1" dirty="0">
                <a:solidFill>
                  <a:srgbClr val="E6EAF2"/>
                </a:solidFill>
                <a:latin typeface="Calibri" pitchFamily="34" charset="0"/>
                <a:ea typeface="Calibri" pitchFamily="34" charset="-122"/>
                <a:cs typeface="Calibri" pitchFamily="34" charset="-120"/>
              </a:rPr>
              <a:t>Emir sonucu belirsizse</a:t>
            </a:r>
            <a:endParaRPr lang="en-US" sz="1400" dirty="0"/>
          </a:p>
        </p:txBody>
      </p:sp>
      <p:sp>
        <p:nvSpPr>
          <p:cNvPr id="23" name="Text 21"/>
          <p:cNvSpPr/>
          <p:nvPr/>
        </p:nvSpPr>
        <p:spPr>
          <a:xfrm>
            <a:off x="4389120" y="3529584"/>
            <a:ext cx="411480" cy="548640"/>
          </a:xfrm>
          <a:prstGeom prst="rect">
            <a:avLst/>
          </a:prstGeom>
          <a:noFill/>
          <a:ln/>
        </p:spPr>
        <p:txBody>
          <a:bodyPr wrap="square" lIns="0" tIns="0" rIns="0" bIns="0" rtlCol="0" anchor="ctr"/>
          <a:lstStyle/>
          <a:p>
            <a:pPr algn="ctr" indent="0" marL="0">
              <a:buNone/>
            </a:pPr>
            <a:r>
              <a:rPr lang="en-US" sz="1800" dirty="0">
                <a:solidFill>
                  <a:srgbClr val="E8B04B"/>
                </a:solidFill>
                <a:latin typeface="Calibri" pitchFamily="34" charset="0"/>
                <a:ea typeface="Calibri" pitchFamily="34" charset="-122"/>
                <a:cs typeface="Calibri" pitchFamily="34" charset="-120"/>
              </a:rPr>
              <a:t>→</a:t>
            </a:r>
            <a:endParaRPr lang="en-US" sz="1800" dirty="0"/>
          </a:p>
        </p:txBody>
      </p:sp>
      <p:sp>
        <p:nvSpPr>
          <p:cNvPr id="24" name="Shape 22"/>
          <p:cNvSpPr/>
          <p:nvPr/>
        </p:nvSpPr>
        <p:spPr>
          <a:xfrm>
            <a:off x="4800600" y="3529584"/>
            <a:ext cx="3840480" cy="548640"/>
          </a:xfrm>
          <a:prstGeom prst="roundRect">
            <a:avLst>
              <a:gd name="adj" fmla="val 20000"/>
            </a:avLst>
          </a:prstGeom>
          <a:solidFill>
            <a:srgbClr val="1A2130"/>
          </a:solidFill>
          <a:ln w="9525">
            <a:solidFill>
              <a:srgbClr val="263043"/>
            </a:solidFill>
            <a:prstDash val="solid"/>
          </a:ln>
        </p:spPr>
      </p:sp>
      <p:sp>
        <p:nvSpPr>
          <p:cNvPr id="25" name="Text 23"/>
          <p:cNvSpPr/>
          <p:nvPr/>
        </p:nvSpPr>
        <p:spPr>
          <a:xfrm>
            <a:off x="4983480" y="3529584"/>
            <a:ext cx="3566160" cy="548640"/>
          </a:xfrm>
          <a:prstGeom prst="rect">
            <a:avLst/>
          </a:prstGeom>
          <a:noFill/>
          <a:ln/>
        </p:spPr>
        <p:txBody>
          <a:bodyPr wrap="square" lIns="0" tIns="0" rIns="0" bIns="0" rtlCol="0" anchor="ctr"/>
          <a:lstStyle/>
          <a:p>
            <a:pPr indent="0" marL="0">
              <a:buNone/>
            </a:pPr>
            <a:r>
              <a:rPr lang="en-US" sz="1400" dirty="0">
                <a:solidFill>
                  <a:srgbClr val="E6EAF2"/>
                </a:solidFill>
                <a:latin typeface="Calibri" pitchFamily="34" charset="0"/>
                <a:ea typeface="Calibri" pitchFamily="34" charset="-122"/>
                <a:cs typeface="Calibri" pitchFamily="34" charset="-120"/>
              </a:rPr>
              <a:t>Kimliğiyle sorgular, asla iki kez göndermez.</a:t>
            </a:r>
            <a:endParaRPr lang="en-US" sz="1400" dirty="0"/>
          </a:p>
        </p:txBody>
      </p:sp>
      <p:sp>
        <p:nvSpPr>
          <p:cNvPr id="26" name="Text 24"/>
          <p:cNvSpPr/>
          <p:nvPr/>
        </p:nvSpPr>
        <p:spPr>
          <a:xfrm>
            <a:off x="457200" y="4297680"/>
            <a:ext cx="8229600" cy="411480"/>
          </a:xfrm>
          <a:prstGeom prst="rect">
            <a:avLst/>
          </a:prstGeom>
          <a:noFill/>
          <a:ln/>
        </p:spPr>
        <p:txBody>
          <a:bodyPr wrap="square" lIns="0" tIns="0" rIns="0" bIns="0" rtlCol="0" anchor="ctr"/>
          <a:lstStyle/>
          <a:p>
            <a:pPr indent="0" marL="0">
              <a:buNone/>
            </a:pPr>
            <a:r>
              <a:rPr lang="en-US" sz="1300" i="1" dirty="0">
                <a:solidFill>
                  <a:srgbClr val="8A94A8"/>
                </a:solidFill>
                <a:latin typeface="Calibri" pitchFamily="34" charset="0"/>
                <a:ea typeface="Calibri" pitchFamily="34" charset="-122"/>
                <a:cs typeface="Calibri" pitchFamily="34" charset="-120"/>
              </a:rPr>
              <a:t>Tek bir hata ajanı durdurmaz: döngü atlanır, hata kaydedilir, sonraki döngüde yeniden dener.</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NEDEN AVALANCHE</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Mühürlü zarf (commit-reveal)</a:t>
            </a:r>
            <a:endParaRPr lang="en-US" sz="3000" dirty="0"/>
          </a:p>
        </p:txBody>
      </p:sp>
      <p:sp>
        <p:nvSpPr>
          <p:cNvPr id="4" name="Shape 2"/>
          <p:cNvSpPr/>
          <p:nvPr/>
        </p:nvSpPr>
        <p:spPr>
          <a:xfrm>
            <a:off x="457200" y="1325880"/>
            <a:ext cx="2514600" cy="1600200"/>
          </a:xfrm>
          <a:prstGeom prst="roundRect">
            <a:avLst>
              <a:gd name="adj" fmla="val 6857"/>
            </a:avLst>
          </a:prstGeom>
          <a:solidFill>
            <a:srgbClr val="121722"/>
          </a:solidFill>
          <a:ln w="9525">
            <a:solidFill>
              <a:srgbClr val="263043"/>
            </a:solidFill>
            <a:prstDash val="solid"/>
          </a:ln>
        </p:spPr>
      </p:sp>
      <p:sp>
        <p:nvSpPr>
          <p:cNvPr id="5" name="Shape 3"/>
          <p:cNvSpPr/>
          <p:nvPr/>
        </p:nvSpPr>
        <p:spPr>
          <a:xfrm>
            <a:off x="640080" y="1481328"/>
            <a:ext cx="411480" cy="411480"/>
          </a:xfrm>
          <a:prstGeom prst="ellipse">
            <a:avLst/>
          </a:prstGeom>
          <a:solidFill>
            <a:srgbClr val="0B0E14"/>
          </a:solidFill>
          <a:ln w="19050">
            <a:solidFill>
              <a:srgbClr val="8B9CFF"/>
            </a:solidFill>
            <a:prstDash val="solid"/>
          </a:ln>
        </p:spPr>
      </p:sp>
      <p:sp>
        <p:nvSpPr>
          <p:cNvPr id="6" name="Text 4"/>
          <p:cNvSpPr/>
          <p:nvPr/>
        </p:nvSpPr>
        <p:spPr>
          <a:xfrm>
            <a:off x="640080" y="1481328"/>
            <a:ext cx="411480" cy="41148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8872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Mühürle</a:t>
            </a:r>
            <a:endParaRPr lang="en-US" sz="2000" dirty="0"/>
          </a:p>
        </p:txBody>
      </p:sp>
      <p:sp>
        <p:nvSpPr>
          <p:cNvPr id="8" name="Text 6"/>
          <p:cNvSpPr/>
          <p:nvPr/>
        </p:nvSpPr>
        <p:spPr>
          <a:xfrm>
            <a:off x="64008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Emirden önce kararın parmak izi (hash) Avalanche'a yazılır.</a:t>
            </a:r>
            <a:endParaRPr lang="en-US" sz="1200" dirty="0"/>
          </a:p>
        </p:txBody>
      </p:sp>
      <p:sp>
        <p:nvSpPr>
          <p:cNvPr id="9" name="Text 7"/>
          <p:cNvSpPr/>
          <p:nvPr/>
        </p:nvSpPr>
        <p:spPr>
          <a:xfrm>
            <a:off x="2971800" y="1874520"/>
            <a:ext cx="320040" cy="457200"/>
          </a:xfrm>
          <a:prstGeom prst="rect">
            <a:avLst/>
          </a:prstGeom>
          <a:noFill/>
          <a:ln/>
        </p:spPr>
        <p:txBody>
          <a:bodyPr wrap="square" lIns="0" tIns="0" rIns="0" bIns="0" rtlCol="0" anchor="ctr"/>
          <a:lstStyle/>
          <a:p>
            <a:pPr algn="ctr" indent="0" marL="0">
              <a:buNone/>
            </a:pPr>
            <a:r>
              <a:rPr lang="en-US" sz="2000" dirty="0">
                <a:solidFill>
                  <a:srgbClr val="E8B04B"/>
                </a:solidFill>
                <a:latin typeface="Calibri" pitchFamily="34" charset="0"/>
                <a:ea typeface="Calibri" pitchFamily="34" charset="-122"/>
                <a:cs typeface="Calibri" pitchFamily="34" charset="-120"/>
              </a:rPr>
              <a:t>→</a:t>
            </a:r>
            <a:endParaRPr lang="en-US" sz="2000" dirty="0"/>
          </a:p>
        </p:txBody>
      </p:sp>
      <p:sp>
        <p:nvSpPr>
          <p:cNvPr id="10" name="Shape 8"/>
          <p:cNvSpPr/>
          <p:nvPr/>
        </p:nvSpPr>
        <p:spPr>
          <a:xfrm>
            <a:off x="3291840" y="1325880"/>
            <a:ext cx="2514600" cy="1600200"/>
          </a:xfrm>
          <a:prstGeom prst="roundRect">
            <a:avLst>
              <a:gd name="adj" fmla="val 6857"/>
            </a:avLst>
          </a:prstGeom>
          <a:solidFill>
            <a:srgbClr val="121722"/>
          </a:solidFill>
          <a:ln w="9525">
            <a:solidFill>
              <a:srgbClr val="263043"/>
            </a:solidFill>
            <a:prstDash val="solid"/>
          </a:ln>
        </p:spPr>
      </p:sp>
      <p:sp>
        <p:nvSpPr>
          <p:cNvPr id="11" name="Shape 9"/>
          <p:cNvSpPr/>
          <p:nvPr/>
        </p:nvSpPr>
        <p:spPr>
          <a:xfrm>
            <a:off x="3474720" y="1481328"/>
            <a:ext cx="411480" cy="411480"/>
          </a:xfrm>
          <a:prstGeom prst="ellipse">
            <a:avLst/>
          </a:prstGeom>
          <a:solidFill>
            <a:srgbClr val="0B0E14"/>
          </a:solidFill>
          <a:ln w="19050">
            <a:solidFill>
              <a:srgbClr val="E8B04B"/>
            </a:solidFill>
            <a:prstDash val="solid"/>
          </a:ln>
        </p:spPr>
      </p:sp>
      <p:sp>
        <p:nvSpPr>
          <p:cNvPr id="12" name="Text 10"/>
          <p:cNvSpPr/>
          <p:nvPr/>
        </p:nvSpPr>
        <p:spPr>
          <a:xfrm>
            <a:off x="3474720" y="1481328"/>
            <a:ext cx="411480" cy="41148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402336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İşlem</a:t>
            </a:r>
            <a:endParaRPr lang="en-US" sz="2000" dirty="0"/>
          </a:p>
        </p:txBody>
      </p:sp>
      <p:sp>
        <p:nvSpPr>
          <p:cNvPr id="14" name="Text 12"/>
          <p:cNvSpPr/>
          <p:nvPr/>
        </p:nvSpPr>
        <p:spPr>
          <a:xfrm>
            <a:off x="347472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Emir OKX TR'ye gider (deneme modunda simüle edilir).</a:t>
            </a:r>
            <a:endParaRPr lang="en-US" sz="1200" dirty="0"/>
          </a:p>
        </p:txBody>
      </p:sp>
      <p:sp>
        <p:nvSpPr>
          <p:cNvPr id="15" name="Text 13"/>
          <p:cNvSpPr/>
          <p:nvPr/>
        </p:nvSpPr>
        <p:spPr>
          <a:xfrm>
            <a:off x="5806440" y="1874520"/>
            <a:ext cx="320040" cy="457200"/>
          </a:xfrm>
          <a:prstGeom prst="rect">
            <a:avLst/>
          </a:prstGeom>
          <a:noFill/>
          <a:ln/>
        </p:spPr>
        <p:txBody>
          <a:bodyPr wrap="square" lIns="0" tIns="0" rIns="0" bIns="0" rtlCol="0" anchor="ctr"/>
          <a:lstStyle/>
          <a:p>
            <a:pPr algn="ctr" indent="0" marL="0">
              <a:buNone/>
            </a:pPr>
            <a:r>
              <a:rPr lang="en-US" sz="2000" dirty="0">
                <a:solidFill>
                  <a:srgbClr val="E8B04B"/>
                </a:solidFill>
                <a:latin typeface="Calibri" pitchFamily="34" charset="0"/>
                <a:ea typeface="Calibri" pitchFamily="34" charset="-122"/>
                <a:cs typeface="Calibri" pitchFamily="34" charset="-120"/>
              </a:rPr>
              <a:t>→</a:t>
            </a:r>
            <a:endParaRPr lang="en-US" sz="2000" dirty="0"/>
          </a:p>
        </p:txBody>
      </p:sp>
      <p:sp>
        <p:nvSpPr>
          <p:cNvPr id="16" name="Shape 14"/>
          <p:cNvSpPr/>
          <p:nvPr/>
        </p:nvSpPr>
        <p:spPr>
          <a:xfrm>
            <a:off x="6126480" y="1325880"/>
            <a:ext cx="2514600" cy="1600200"/>
          </a:xfrm>
          <a:prstGeom prst="roundRect">
            <a:avLst>
              <a:gd name="adj" fmla="val 6857"/>
            </a:avLst>
          </a:prstGeom>
          <a:solidFill>
            <a:srgbClr val="121722"/>
          </a:solidFill>
          <a:ln w="9525">
            <a:solidFill>
              <a:srgbClr val="263043"/>
            </a:solidFill>
            <a:prstDash val="solid"/>
          </a:ln>
        </p:spPr>
      </p:sp>
      <p:sp>
        <p:nvSpPr>
          <p:cNvPr id="17" name="Shape 15"/>
          <p:cNvSpPr/>
          <p:nvPr/>
        </p:nvSpPr>
        <p:spPr>
          <a:xfrm>
            <a:off x="6309360" y="1481328"/>
            <a:ext cx="411480" cy="411480"/>
          </a:xfrm>
          <a:prstGeom prst="ellipse">
            <a:avLst/>
          </a:prstGeom>
          <a:solidFill>
            <a:srgbClr val="0B0E14"/>
          </a:solidFill>
          <a:ln w="19050">
            <a:solidFill>
              <a:srgbClr val="8B9CFF"/>
            </a:solidFill>
            <a:prstDash val="solid"/>
          </a:ln>
        </p:spPr>
      </p:sp>
      <p:sp>
        <p:nvSpPr>
          <p:cNvPr id="18" name="Text 16"/>
          <p:cNvSpPr/>
          <p:nvPr/>
        </p:nvSpPr>
        <p:spPr>
          <a:xfrm>
            <a:off x="6309360" y="1481328"/>
            <a:ext cx="411480" cy="411480"/>
          </a:xfrm>
          <a:prstGeom prst="rect">
            <a:avLst/>
          </a:prstGeom>
          <a:noFill/>
          <a:ln/>
        </p:spPr>
        <p:txBody>
          <a:bodyPr wrap="square" lIns="0" tIns="0" rIns="0" bIns="0" rtlCol="0" anchor="ctr"/>
          <a:lstStyle/>
          <a:p>
            <a:pPr algn="ctr" indent="0" marL="0">
              <a:buNone/>
            </a:pPr>
            <a:r>
              <a:rPr lang="en-US" sz="1300" b="1" dirty="0">
                <a:solidFill>
                  <a:srgbClr val="8B9CFF"/>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6858000" y="1481328"/>
            <a:ext cx="1645920" cy="411480"/>
          </a:xfrm>
          <a:prstGeom prst="rect">
            <a:avLst/>
          </a:prstGeom>
          <a:noFill/>
          <a:ln/>
        </p:spPr>
        <p:txBody>
          <a:bodyPr wrap="square" lIns="0" tIns="0" rIns="0" bIns="0" rtlCol="0" anchor="ctr"/>
          <a:lstStyle/>
          <a:p>
            <a:pPr indent="0" marL="0">
              <a:buNone/>
            </a:pPr>
            <a:r>
              <a:rPr lang="en-US" sz="2000" b="1" dirty="0">
                <a:solidFill>
                  <a:srgbClr val="E6EAF2"/>
                </a:solidFill>
                <a:latin typeface="Cambria" pitchFamily="34" charset="0"/>
                <a:ea typeface="Cambria" pitchFamily="34" charset="-122"/>
                <a:cs typeface="Cambria" pitchFamily="34" charset="-120"/>
              </a:rPr>
              <a:t>Aç</a:t>
            </a:r>
            <a:endParaRPr lang="en-US" sz="2000" dirty="0"/>
          </a:p>
        </p:txBody>
      </p:sp>
      <p:sp>
        <p:nvSpPr>
          <p:cNvPr id="20" name="Text 18"/>
          <p:cNvSpPr/>
          <p:nvPr/>
        </p:nvSpPr>
        <p:spPr>
          <a:xfrm>
            <a:off x="6309360" y="2011680"/>
            <a:ext cx="2148840" cy="868680"/>
          </a:xfrm>
          <a:prstGeom prst="rect">
            <a:avLst/>
          </a:prstGeom>
          <a:noFill/>
          <a:ln/>
        </p:spPr>
        <p:txBody>
          <a:bodyPr wrap="square" lIns="0" tIns="0" rIns="0" bIns="0" rtlCol="0" anchor="t"/>
          <a:lstStyle/>
          <a:p>
            <a:pPr indent="0" marL="0">
              <a:buNone/>
            </a:pPr>
            <a:r>
              <a:rPr lang="en-US" sz="1200" dirty="0">
                <a:solidFill>
                  <a:srgbClr val="8A94A8"/>
                </a:solidFill>
                <a:latin typeface="Calibri" pitchFamily="34" charset="0"/>
                <a:ea typeface="Calibri" pitchFamily="34" charset="-122"/>
                <a:cs typeface="Calibri" pitchFamily="34" charset="-120"/>
              </a:rPr>
              <a:t>Kararın tamamı yayınlanır. Herkes mühürle eşleştiğini kontrol edebilir.</a:t>
            </a:r>
            <a:endParaRPr lang="en-US" sz="1200" dirty="0"/>
          </a:p>
        </p:txBody>
      </p:sp>
      <p:sp>
        <p:nvSpPr>
          <p:cNvPr id="21" name="Shape 19"/>
          <p:cNvSpPr/>
          <p:nvPr/>
        </p:nvSpPr>
        <p:spPr>
          <a:xfrm>
            <a:off x="457200" y="3108960"/>
            <a:ext cx="3977640" cy="1097280"/>
          </a:xfrm>
          <a:prstGeom prst="roundRect">
            <a:avLst>
              <a:gd name="adj" fmla="val 10000"/>
            </a:avLst>
          </a:prstGeom>
          <a:solidFill>
            <a:srgbClr val="1A2130"/>
          </a:solidFill>
          <a:ln w="9525">
            <a:solidFill>
              <a:srgbClr val="263043"/>
            </a:solidFill>
            <a:prstDash val="solid"/>
          </a:ln>
        </p:spPr>
      </p:sp>
      <p:sp>
        <p:nvSpPr>
          <p:cNvPr id="22" name="Text 20"/>
          <p:cNvSpPr/>
          <p:nvPr/>
        </p:nvSpPr>
        <p:spPr>
          <a:xfrm>
            <a:off x="640080" y="3200400"/>
            <a:ext cx="3657600" cy="32004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Kötü kararlar saklanamaz</a:t>
            </a:r>
            <a:endParaRPr lang="en-US" sz="1400" dirty="0"/>
          </a:p>
        </p:txBody>
      </p:sp>
      <p:sp>
        <p:nvSpPr>
          <p:cNvPr id="23" name="Text 21"/>
          <p:cNvSpPr/>
          <p:nvPr/>
        </p:nvSpPr>
        <p:spPr>
          <a:xfrm>
            <a:off x="640080" y="3520440"/>
            <a:ext cx="3657600" cy="640080"/>
          </a:xfrm>
          <a:prstGeom prst="rect">
            <a:avLst/>
          </a:prstGeom>
          <a:noFill/>
          <a:ln/>
        </p:spPr>
        <p:txBody>
          <a:bodyPr wrap="square" lIns="0" tIns="0" rIns="0" bIns="0" rtlCol="0" anchor="t"/>
          <a:lstStyle/>
          <a:p>
            <a:pPr indent="0" marL="0">
              <a:buNone/>
            </a:pPr>
            <a:r>
              <a:rPr lang="en-US" sz="1200" dirty="0">
                <a:solidFill>
                  <a:srgbClr val="E6EAF2"/>
                </a:solidFill>
                <a:latin typeface="Calibri" pitchFamily="34" charset="0"/>
                <a:ea typeface="Calibri" pitchFamily="34" charset="-122"/>
                <a:cs typeface="Calibri" pitchFamily="34" charset="-120"/>
              </a:rPr>
              <a:t>Açılmamış zarflar zincirde sayılır. Ajan birini atladıysa herkes görür.</a:t>
            </a:r>
            <a:endParaRPr lang="en-US" sz="1200" dirty="0"/>
          </a:p>
        </p:txBody>
      </p:sp>
      <p:sp>
        <p:nvSpPr>
          <p:cNvPr id="24" name="Shape 22"/>
          <p:cNvSpPr/>
          <p:nvPr/>
        </p:nvSpPr>
        <p:spPr>
          <a:xfrm>
            <a:off x="4663440" y="3108960"/>
            <a:ext cx="3977640" cy="1097280"/>
          </a:xfrm>
          <a:prstGeom prst="roundRect">
            <a:avLst>
              <a:gd name="adj" fmla="val 10000"/>
            </a:avLst>
          </a:prstGeom>
          <a:solidFill>
            <a:srgbClr val="1A2130"/>
          </a:solidFill>
          <a:ln w="9525">
            <a:solidFill>
              <a:srgbClr val="263043"/>
            </a:solidFill>
            <a:prstDash val="solid"/>
          </a:ln>
        </p:spPr>
      </p:sp>
      <p:sp>
        <p:nvSpPr>
          <p:cNvPr id="25" name="Text 23"/>
          <p:cNvSpPr/>
          <p:nvPr/>
        </p:nvSpPr>
        <p:spPr>
          <a:xfrm>
            <a:off x="4846320" y="3200400"/>
            <a:ext cx="3657600" cy="32004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Zincirdeki kimlik kartı (ERC‑8004)</a:t>
            </a:r>
            <a:endParaRPr lang="en-US" sz="1400" dirty="0"/>
          </a:p>
        </p:txBody>
      </p:sp>
      <p:sp>
        <p:nvSpPr>
          <p:cNvPr id="26" name="Text 24"/>
          <p:cNvSpPr/>
          <p:nvPr/>
        </p:nvSpPr>
        <p:spPr>
          <a:xfrm>
            <a:off x="4846320" y="3520440"/>
            <a:ext cx="3657600" cy="640080"/>
          </a:xfrm>
          <a:prstGeom prst="rect">
            <a:avLst/>
          </a:prstGeom>
          <a:noFill/>
          <a:ln/>
        </p:spPr>
        <p:txBody>
          <a:bodyPr wrap="square" lIns="0" tIns="0" rIns="0" bIns="0" rtlCol="0" anchor="t"/>
          <a:lstStyle/>
          <a:p>
            <a:pPr indent="0" marL="0">
              <a:buNone/>
            </a:pPr>
            <a:r>
              <a:rPr lang="en-US" sz="1200" dirty="0">
                <a:solidFill>
                  <a:srgbClr val="E6EAF2"/>
                </a:solidFill>
                <a:latin typeface="Calibri" pitchFamily="34" charset="0"/>
                <a:ea typeface="Calibri" pitchFamily="34" charset="-122"/>
                <a:cs typeface="Calibri" pitchFamily="34" charset="-120"/>
              </a:rPr>
              <a:t>GRAIL, Avalanche Fuji'de 1 numaralı ajan olarak kayıtlı. Siciline sadece kendisi yazabilir.</a:t>
            </a:r>
            <a:endParaRPr lang="en-US" sz="1200" dirty="0"/>
          </a:p>
        </p:txBody>
      </p:sp>
      <p:sp>
        <p:nvSpPr>
          <p:cNvPr id="27" name="Text 25"/>
          <p:cNvSpPr/>
          <p:nvPr/>
        </p:nvSpPr>
        <p:spPr>
          <a:xfrm>
            <a:off x="457200" y="4343400"/>
            <a:ext cx="8229600" cy="256032"/>
          </a:xfrm>
          <a:prstGeom prst="rect">
            <a:avLst/>
          </a:prstGeom>
          <a:noFill/>
          <a:ln/>
        </p:spPr>
        <p:txBody>
          <a:bodyPr wrap="square" lIns="0" tIns="0" rIns="0" bIns="0" rtlCol="0" anchor="ctr"/>
          <a:lstStyle/>
          <a:p>
            <a:pPr indent="0" marL="0">
              <a:buNone/>
            </a:pPr>
            <a:r>
              <a:rPr lang="en-US" sz="1000" dirty="0">
                <a:solidFill>
                  <a:srgbClr val="8B9CFF"/>
                </a:solidFill>
                <a:latin typeface="Courier New" pitchFamily="34" charset="0"/>
                <a:ea typeface="Courier New" pitchFamily="34" charset="-122"/>
                <a:cs typeface="Courier New" pitchFamily="34" charset="-120"/>
              </a:rPr>
              <a:t>Sicil kontratı (Fuji): 0x1B5fcf6DeFf2F9375338A2C35932224522118851</a:t>
            </a:r>
            <a:endParaRPr lang="en-US" sz="1000" dirty="0"/>
          </a:p>
        </p:txBody>
      </p:sp>
      <p:sp>
        <p:nvSpPr>
          <p:cNvPr id="28" name="Text 26"/>
          <p:cNvSpPr/>
          <p:nvPr/>
        </p:nvSpPr>
        <p:spPr>
          <a:xfrm>
            <a:off x="457200" y="4617720"/>
            <a:ext cx="8229600" cy="256032"/>
          </a:xfrm>
          <a:prstGeom prst="rect">
            <a:avLst/>
          </a:prstGeom>
          <a:noFill/>
          <a:ln/>
        </p:spPr>
        <p:txBody>
          <a:bodyPr wrap="square" lIns="0" tIns="0" rIns="0" bIns="0" rtlCol="0" anchor="ctr"/>
          <a:lstStyle/>
          <a:p>
            <a:pPr indent="0" marL="0">
              <a:buNone/>
            </a:pPr>
            <a:r>
              <a:rPr lang="en-US" sz="1000" dirty="0">
                <a:solidFill>
                  <a:srgbClr val="8A94A8"/>
                </a:solidFill>
                <a:latin typeface="Courier New" pitchFamily="34" charset="0"/>
                <a:ea typeface="Courier New" pitchFamily="34" charset="-122"/>
                <a:cs typeface="Courier New" pitchFamily="34" charset="-120"/>
              </a:rPr>
              <a:t>İlk canlı emir: BTC 2 USDT alım · OKX 4017748393474314240 · mühür 0x16f2…9569 → açılış 0xae65…41f7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lIns="0" tIns="0" rIns="0" bIns="0" rtlCol="0" anchor="ctr"/>
          <a:lstStyle/>
          <a:p>
            <a:pPr indent="0" marL="0">
              <a:buNone/>
            </a:pPr>
            <a:r>
              <a:rPr lang="en-US" sz="1100" b="1" spc="300" kern="0" dirty="0">
                <a:solidFill>
                  <a:srgbClr val="E8B04B"/>
                </a:solidFill>
                <a:latin typeface="Calibri" pitchFamily="34" charset="0"/>
                <a:ea typeface="Calibri" pitchFamily="34" charset="-122"/>
                <a:cs typeface="Calibri" pitchFamily="34" charset="-120"/>
              </a:rPr>
              <a:t>CANLI DEMO</a:t>
            </a:r>
            <a:endParaRPr lang="en-US" sz="1100" dirty="0"/>
          </a:p>
        </p:txBody>
      </p:sp>
      <p:sp>
        <p:nvSpPr>
          <p:cNvPr id="3" name="Text 1"/>
          <p:cNvSpPr/>
          <p:nvPr/>
        </p:nvSpPr>
        <p:spPr>
          <a:xfrm>
            <a:off x="457200" y="548640"/>
            <a:ext cx="8229600" cy="640080"/>
          </a:xfrm>
          <a:prstGeom prst="rect">
            <a:avLst/>
          </a:prstGeom>
          <a:noFill/>
          <a:ln/>
        </p:spPr>
        <p:txBody>
          <a:bodyPr wrap="square" lIns="0" tIns="0" rIns="0" bIns="0" rtlCol="0" anchor="t"/>
          <a:lstStyle/>
          <a:p>
            <a:pPr indent="0" marL="0">
              <a:buNone/>
            </a:pPr>
            <a:r>
              <a:rPr lang="en-US" sz="3000" b="1" dirty="0">
                <a:solidFill>
                  <a:srgbClr val="E6EAF2"/>
                </a:solidFill>
                <a:latin typeface="Cambria" pitchFamily="34" charset="0"/>
                <a:ea typeface="Cambria" pitchFamily="34" charset="-122"/>
                <a:cs typeface="Cambria" pitchFamily="34" charset="-120"/>
              </a:rPr>
              <a:t>Bize güvenme, kendin kontrol et</a:t>
            </a:r>
            <a:endParaRPr lang="en-US" sz="3000" dirty="0"/>
          </a:p>
        </p:txBody>
      </p:sp>
      <p:sp>
        <p:nvSpPr>
          <p:cNvPr id="4" name="Shape 2"/>
          <p:cNvSpPr/>
          <p:nvPr/>
        </p:nvSpPr>
        <p:spPr>
          <a:xfrm>
            <a:off x="457200" y="1325880"/>
            <a:ext cx="1508760" cy="1463040"/>
          </a:xfrm>
          <a:prstGeom prst="roundRect">
            <a:avLst>
              <a:gd name="adj" fmla="val 7500"/>
            </a:avLst>
          </a:prstGeom>
          <a:solidFill>
            <a:srgbClr val="121722"/>
          </a:solidFill>
          <a:ln w="9525">
            <a:solidFill>
              <a:srgbClr val="263043"/>
            </a:solidFill>
            <a:prstDash val="solid"/>
          </a:ln>
        </p:spPr>
      </p:sp>
      <p:sp>
        <p:nvSpPr>
          <p:cNvPr id="5" name="Shape 3"/>
          <p:cNvSpPr/>
          <p:nvPr/>
        </p:nvSpPr>
        <p:spPr>
          <a:xfrm>
            <a:off x="594360" y="1463040"/>
            <a:ext cx="365760" cy="365760"/>
          </a:xfrm>
          <a:prstGeom prst="ellipse">
            <a:avLst/>
          </a:prstGeom>
          <a:solidFill>
            <a:srgbClr val="0B0E14"/>
          </a:solidFill>
          <a:ln w="19050">
            <a:solidFill>
              <a:srgbClr val="E8B04B"/>
            </a:solidFill>
            <a:prstDash val="solid"/>
          </a:ln>
        </p:spPr>
      </p:sp>
      <p:sp>
        <p:nvSpPr>
          <p:cNvPr id="6" name="Text 4"/>
          <p:cNvSpPr/>
          <p:nvPr/>
        </p:nvSpPr>
        <p:spPr>
          <a:xfrm>
            <a:off x="594360"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594360"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Dashboard</a:t>
            </a:r>
            <a:endParaRPr lang="en-US" sz="1300" dirty="0"/>
          </a:p>
        </p:txBody>
      </p:sp>
      <p:sp>
        <p:nvSpPr>
          <p:cNvPr id="8" name="Text 6"/>
          <p:cNvSpPr/>
          <p:nvPr/>
        </p:nvSpPr>
        <p:spPr>
          <a:xfrm>
            <a:off x="594360"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Bağımsız bahisler ve canlı eğri</a:t>
            </a:r>
            <a:endParaRPr lang="en-US" sz="1100" dirty="0"/>
          </a:p>
        </p:txBody>
      </p:sp>
      <p:sp>
        <p:nvSpPr>
          <p:cNvPr id="9" name="Shape 7"/>
          <p:cNvSpPr/>
          <p:nvPr/>
        </p:nvSpPr>
        <p:spPr>
          <a:xfrm>
            <a:off x="2121408" y="1325880"/>
            <a:ext cx="1508760" cy="1463040"/>
          </a:xfrm>
          <a:prstGeom prst="roundRect">
            <a:avLst>
              <a:gd name="adj" fmla="val 7500"/>
            </a:avLst>
          </a:prstGeom>
          <a:solidFill>
            <a:srgbClr val="121722"/>
          </a:solidFill>
          <a:ln w="9525">
            <a:solidFill>
              <a:srgbClr val="263043"/>
            </a:solidFill>
            <a:prstDash val="solid"/>
          </a:ln>
        </p:spPr>
      </p:sp>
      <p:sp>
        <p:nvSpPr>
          <p:cNvPr id="10" name="Shape 8"/>
          <p:cNvSpPr/>
          <p:nvPr/>
        </p:nvSpPr>
        <p:spPr>
          <a:xfrm>
            <a:off x="2258568" y="1463040"/>
            <a:ext cx="365760" cy="365760"/>
          </a:xfrm>
          <a:prstGeom prst="ellipse">
            <a:avLst/>
          </a:prstGeom>
          <a:solidFill>
            <a:srgbClr val="0B0E14"/>
          </a:solidFill>
          <a:ln w="19050">
            <a:solidFill>
              <a:srgbClr val="E8B04B"/>
            </a:solidFill>
            <a:prstDash val="solid"/>
          </a:ln>
        </p:spPr>
      </p:sp>
      <p:sp>
        <p:nvSpPr>
          <p:cNvPr id="11" name="Text 9"/>
          <p:cNvSpPr/>
          <p:nvPr/>
        </p:nvSpPr>
        <p:spPr>
          <a:xfrm>
            <a:off x="2258568"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2258568"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On-chain Ledger</a:t>
            </a:r>
            <a:endParaRPr lang="en-US" sz="1300" dirty="0"/>
          </a:p>
        </p:txBody>
      </p:sp>
      <p:sp>
        <p:nvSpPr>
          <p:cNvPr id="13" name="Text 11"/>
          <p:cNvSpPr/>
          <p:nvPr/>
        </p:nvSpPr>
        <p:spPr>
          <a:xfrm>
            <a:off x="2258568"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Mühürlenen ve açılan zarflar</a:t>
            </a:r>
            <a:endParaRPr lang="en-US" sz="1100" dirty="0"/>
          </a:p>
        </p:txBody>
      </p:sp>
      <p:sp>
        <p:nvSpPr>
          <p:cNvPr id="14" name="Shape 12"/>
          <p:cNvSpPr/>
          <p:nvPr/>
        </p:nvSpPr>
        <p:spPr>
          <a:xfrm>
            <a:off x="3785616" y="1325880"/>
            <a:ext cx="1508760" cy="1463040"/>
          </a:xfrm>
          <a:prstGeom prst="roundRect">
            <a:avLst>
              <a:gd name="adj" fmla="val 7500"/>
            </a:avLst>
          </a:prstGeom>
          <a:solidFill>
            <a:srgbClr val="121722"/>
          </a:solidFill>
          <a:ln w="9525">
            <a:solidFill>
              <a:srgbClr val="263043"/>
            </a:solidFill>
            <a:prstDash val="solid"/>
          </a:ln>
        </p:spPr>
      </p:sp>
      <p:sp>
        <p:nvSpPr>
          <p:cNvPr id="15" name="Shape 13"/>
          <p:cNvSpPr/>
          <p:nvPr/>
        </p:nvSpPr>
        <p:spPr>
          <a:xfrm>
            <a:off x="3922776" y="1463040"/>
            <a:ext cx="365760" cy="365760"/>
          </a:xfrm>
          <a:prstGeom prst="ellipse">
            <a:avLst/>
          </a:prstGeom>
          <a:solidFill>
            <a:srgbClr val="0B0E14"/>
          </a:solidFill>
          <a:ln w="19050">
            <a:solidFill>
              <a:srgbClr val="E8B04B"/>
            </a:solidFill>
            <a:prstDash val="solid"/>
          </a:ln>
        </p:spPr>
      </p:sp>
      <p:sp>
        <p:nvSpPr>
          <p:cNvPr id="16" name="Text 14"/>
          <p:cNvSpPr/>
          <p:nvPr/>
        </p:nvSpPr>
        <p:spPr>
          <a:xfrm>
            <a:off x="3922776"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3922776"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Decisions</a:t>
            </a:r>
            <a:endParaRPr lang="en-US" sz="1300" dirty="0"/>
          </a:p>
        </p:txBody>
      </p:sp>
      <p:sp>
        <p:nvSpPr>
          <p:cNvPr id="18" name="Text 16"/>
          <p:cNvSpPr/>
          <p:nvPr/>
        </p:nvSpPr>
        <p:spPr>
          <a:xfrm>
            <a:off x="3922776"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Bir döngü, adım adım</a:t>
            </a:r>
            <a:endParaRPr lang="en-US" sz="1100" dirty="0"/>
          </a:p>
        </p:txBody>
      </p:sp>
      <p:sp>
        <p:nvSpPr>
          <p:cNvPr id="19" name="Shape 17"/>
          <p:cNvSpPr/>
          <p:nvPr/>
        </p:nvSpPr>
        <p:spPr>
          <a:xfrm>
            <a:off x="5449824" y="1325880"/>
            <a:ext cx="1508760" cy="1463040"/>
          </a:xfrm>
          <a:prstGeom prst="roundRect">
            <a:avLst>
              <a:gd name="adj" fmla="val 7500"/>
            </a:avLst>
          </a:prstGeom>
          <a:solidFill>
            <a:srgbClr val="1A2130"/>
          </a:solidFill>
          <a:ln w="9525">
            <a:solidFill>
              <a:srgbClr val="263043"/>
            </a:solidFill>
            <a:prstDash val="solid"/>
          </a:ln>
        </p:spPr>
      </p:sp>
      <p:sp>
        <p:nvSpPr>
          <p:cNvPr id="20" name="Shape 18"/>
          <p:cNvSpPr/>
          <p:nvPr/>
        </p:nvSpPr>
        <p:spPr>
          <a:xfrm>
            <a:off x="5586984" y="1463040"/>
            <a:ext cx="365760" cy="365760"/>
          </a:xfrm>
          <a:prstGeom prst="ellipse">
            <a:avLst/>
          </a:prstGeom>
          <a:solidFill>
            <a:srgbClr val="0B0E14"/>
          </a:solidFill>
          <a:ln w="19050">
            <a:solidFill>
              <a:srgbClr val="22C55E"/>
            </a:solidFill>
            <a:prstDash val="solid"/>
          </a:ln>
        </p:spPr>
      </p:sp>
      <p:sp>
        <p:nvSpPr>
          <p:cNvPr id="21" name="Text 19"/>
          <p:cNvSpPr/>
          <p:nvPr/>
        </p:nvSpPr>
        <p:spPr>
          <a:xfrm>
            <a:off x="5586984" y="1463040"/>
            <a:ext cx="365760" cy="365760"/>
          </a:xfrm>
          <a:prstGeom prst="rect">
            <a:avLst/>
          </a:prstGeom>
          <a:noFill/>
          <a:ln/>
        </p:spPr>
        <p:txBody>
          <a:bodyPr wrap="square" lIns="0" tIns="0" rIns="0" bIns="0" rtlCol="0" anchor="ctr"/>
          <a:lstStyle/>
          <a:p>
            <a:pPr algn="ctr" indent="0" marL="0">
              <a:buNone/>
            </a:pPr>
            <a:r>
              <a:rPr lang="en-US" sz="1300" b="1" dirty="0">
                <a:solidFill>
                  <a:srgbClr val="22C55E"/>
                </a:solidFill>
                <a:latin typeface="Calibri" pitchFamily="34" charset="0"/>
                <a:ea typeface="Calibri" pitchFamily="34" charset="-122"/>
                <a:cs typeface="Calibri" pitchFamily="34" charset="-120"/>
              </a:rPr>
              <a:t>✓</a:t>
            </a:r>
            <a:endParaRPr lang="en-US" sz="1300" dirty="0"/>
          </a:p>
        </p:txBody>
      </p:sp>
      <p:sp>
        <p:nvSpPr>
          <p:cNvPr id="22" name="Text 20"/>
          <p:cNvSpPr/>
          <p:nvPr/>
        </p:nvSpPr>
        <p:spPr>
          <a:xfrm>
            <a:off x="5586984" y="1901952"/>
            <a:ext cx="1325880" cy="320040"/>
          </a:xfrm>
          <a:prstGeom prst="rect">
            <a:avLst/>
          </a:prstGeom>
          <a:noFill/>
          <a:ln/>
        </p:spPr>
        <p:txBody>
          <a:bodyPr wrap="square" lIns="0" tIns="0" rIns="0" bIns="0" rtlCol="0" anchor="ctr"/>
          <a:lstStyle/>
          <a:p>
            <a:pPr indent="0" marL="0">
              <a:buNone/>
            </a:pPr>
            <a:r>
              <a:rPr lang="en-US" sz="1300" b="1" dirty="0">
                <a:solidFill>
                  <a:srgbClr val="22C55E"/>
                </a:solidFill>
                <a:latin typeface="Calibri" pitchFamily="34" charset="0"/>
                <a:ea typeface="Calibri" pitchFamily="34" charset="-122"/>
                <a:cs typeface="Calibri" pitchFamily="34" charset="-120"/>
              </a:rPr>
              <a:t>Verify yourself</a:t>
            </a:r>
            <a:endParaRPr lang="en-US" sz="1300" dirty="0"/>
          </a:p>
        </p:txBody>
      </p:sp>
      <p:sp>
        <p:nvSpPr>
          <p:cNvPr id="23" name="Text 21"/>
          <p:cNvSpPr/>
          <p:nvPr/>
        </p:nvSpPr>
        <p:spPr>
          <a:xfrm>
            <a:off x="5586984"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(kendin doğrula) mührü kontrol eder</a:t>
            </a:r>
            <a:endParaRPr lang="en-US" sz="1100" dirty="0"/>
          </a:p>
        </p:txBody>
      </p:sp>
      <p:sp>
        <p:nvSpPr>
          <p:cNvPr id="24" name="Shape 22"/>
          <p:cNvSpPr/>
          <p:nvPr/>
        </p:nvSpPr>
        <p:spPr>
          <a:xfrm>
            <a:off x="7114032" y="1325880"/>
            <a:ext cx="1508760" cy="1463040"/>
          </a:xfrm>
          <a:prstGeom prst="roundRect">
            <a:avLst>
              <a:gd name="adj" fmla="val 7500"/>
            </a:avLst>
          </a:prstGeom>
          <a:solidFill>
            <a:srgbClr val="121722"/>
          </a:solidFill>
          <a:ln w="9525">
            <a:solidFill>
              <a:srgbClr val="263043"/>
            </a:solidFill>
            <a:prstDash val="solid"/>
          </a:ln>
        </p:spPr>
      </p:sp>
      <p:sp>
        <p:nvSpPr>
          <p:cNvPr id="25" name="Shape 23"/>
          <p:cNvSpPr/>
          <p:nvPr/>
        </p:nvSpPr>
        <p:spPr>
          <a:xfrm>
            <a:off x="7251192" y="1463040"/>
            <a:ext cx="365760" cy="365760"/>
          </a:xfrm>
          <a:prstGeom prst="ellipse">
            <a:avLst/>
          </a:prstGeom>
          <a:solidFill>
            <a:srgbClr val="0B0E14"/>
          </a:solidFill>
          <a:ln w="19050">
            <a:solidFill>
              <a:srgbClr val="E8B04B"/>
            </a:solidFill>
            <a:prstDash val="solid"/>
          </a:ln>
        </p:spPr>
      </p:sp>
      <p:sp>
        <p:nvSpPr>
          <p:cNvPr id="26" name="Text 24"/>
          <p:cNvSpPr/>
          <p:nvPr/>
        </p:nvSpPr>
        <p:spPr>
          <a:xfrm>
            <a:off x="7251192" y="1463040"/>
            <a:ext cx="365760" cy="365760"/>
          </a:xfrm>
          <a:prstGeom prst="rect">
            <a:avLst/>
          </a:prstGeom>
          <a:noFill/>
          <a:ln/>
        </p:spPr>
        <p:txBody>
          <a:bodyPr wrap="square" lIns="0" tIns="0" rIns="0" bIns="0" rtlCol="0" anchor="ctr"/>
          <a:lstStyle/>
          <a:p>
            <a:pPr algn="ctr" indent="0" marL="0">
              <a:buNone/>
            </a:pPr>
            <a:r>
              <a:rPr lang="en-US" sz="1300" b="1" dirty="0">
                <a:solidFill>
                  <a:srgbClr val="E8B04B"/>
                </a:solidFill>
                <a:latin typeface="Calibri" pitchFamily="34" charset="0"/>
                <a:ea typeface="Calibri" pitchFamily="34" charset="-122"/>
                <a:cs typeface="Calibri" pitchFamily="34" charset="-120"/>
              </a:rPr>
              <a:t>5</a:t>
            </a:r>
            <a:endParaRPr lang="en-US" sz="1300" dirty="0"/>
          </a:p>
        </p:txBody>
      </p:sp>
      <p:sp>
        <p:nvSpPr>
          <p:cNvPr id="27" name="Text 25"/>
          <p:cNvSpPr/>
          <p:nvPr/>
        </p:nvSpPr>
        <p:spPr>
          <a:xfrm>
            <a:off x="7251192" y="1901952"/>
            <a:ext cx="1325880" cy="320040"/>
          </a:xfrm>
          <a:prstGeom prst="rect">
            <a:avLst/>
          </a:prstGeom>
          <a:noFill/>
          <a:ln/>
        </p:spPr>
        <p:txBody>
          <a:bodyPr wrap="square" lIns="0" tIns="0" rIns="0" bIns="0" rtlCol="0" anchor="ctr"/>
          <a:lstStyle/>
          <a:p>
            <a:pPr indent="0" marL="0">
              <a:buNone/>
            </a:pPr>
            <a:r>
              <a:rPr lang="en-US" sz="1300" b="1" dirty="0">
                <a:solidFill>
                  <a:srgbClr val="E6EAF2"/>
                </a:solidFill>
                <a:latin typeface="Calibri" pitchFamily="34" charset="0"/>
                <a:ea typeface="Calibri" pitchFamily="34" charset="-122"/>
                <a:cs typeface="Calibri" pitchFamily="34" charset="-120"/>
              </a:rPr>
              <a:t>Settings</a:t>
            </a:r>
            <a:endParaRPr lang="en-US" sz="1300" dirty="0"/>
          </a:p>
        </p:txBody>
      </p:sp>
      <p:sp>
        <p:nvSpPr>
          <p:cNvPr id="28" name="Text 26"/>
          <p:cNvSpPr/>
          <p:nvPr/>
        </p:nvSpPr>
        <p:spPr>
          <a:xfrm>
            <a:off x="7251192" y="2221992"/>
            <a:ext cx="1280160" cy="548640"/>
          </a:xfrm>
          <a:prstGeom prst="rect">
            <a:avLst/>
          </a:prstGeom>
          <a:noFill/>
          <a:ln/>
        </p:spPr>
        <p:txBody>
          <a:bodyPr wrap="square" lIns="0" tIns="0" rIns="0" bIns="0" rtlCol="0" anchor="t"/>
          <a:lstStyle/>
          <a:p>
            <a:pPr indent="0" marL="0">
              <a:buNone/>
            </a:pPr>
            <a:r>
              <a:rPr lang="en-US" sz="1100" dirty="0">
                <a:solidFill>
                  <a:srgbClr val="8A94A8"/>
                </a:solidFill>
                <a:latin typeface="Calibri" pitchFamily="34" charset="0"/>
                <a:ea typeface="Calibri" pitchFamily="34" charset="-122"/>
                <a:cs typeface="Calibri" pitchFamily="34" charset="-120"/>
              </a:rPr>
              <a:t>Yetkiler ve hata kaydı</a:t>
            </a:r>
            <a:endParaRPr lang="en-US" sz="1100" dirty="0"/>
          </a:p>
        </p:txBody>
      </p:sp>
      <p:sp>
        <p:nvSpPr>
          <p:cNvPr id="29" name="Shape 27"/>
          <p:cNvSpPr/>
          <p:nvPr/>
        </p:nvSpPr>
        <p:spPr>
          <a:xfrm>
            <a:off x="457200" y="3017520"/>
            <a:ext cx="8183880" cy="1051560"/>
          </a:xfrm>
          <a:prstGeom prst="roundRect">
            <a:avLst>
              <a:gd name="adj" fmla="val 10435"/>
            </a:avLst>
          </a:prstGeom>
          <a:solidFill>
            <a:srgbClr val="1A2130"/>
          </a:solidFill>
          <a:ln w="9525">
            <a:solidFill>
              <a:srgbClr val="263043"/>
            </a:solidFill>
            <a:prstDash val="solid"/>
          </a:ln>
        </p:spPr>
      </p:sp>
      <p:sp>
        <p:nvSpPr>
          <p:cNvPr id="30" name="Text 28"/>
          <p:cNvSpPr/>
          <p:nvPr/>
        </p:nvSpPr>
        <p:spPr>
          <a:xfrm>
            <a:off x="685800" y="3017520"/>
            <a:ext cx="7772400" cy="1051560"/>
          </a:xfrm>
          <a:prstGeom prst="rect">
            <a:avLst/>
          </a:prstGeom>
          <a:noFill/>
          <a:ln/>
        </p:spPr>
        <p:txBody>
          <a:bodyPr wrap="square" lIns="0" tIns="0" rIns="0" bIns="0" rtlCol="0" anchor="ctr"/>
          <a:lstStyle/>
          <a:p>
            <a:pPr indent="0" marL="0">
              <a:buNone/>
            </a:pPr>
            <a:r>
              <a:rPr lang="en-US" sz="1400" b="1" dirty="0">
                <a:solidFill>
                  <a:srgbClr val="E8B04B"/>
                </a:solidFill>
                <a:latin typeface="Calibri" pitchFamily="34" charset="0"/>
                <a:ea typeface="Calibri" pitchFamily="34" charset="-122"/>
                <a:cs typeface="Calibri" pitchFamily="34" charset="-120"/>
              </a:rPr>
              <a:t>"Verify yourself" (kendin doğrula) anı: </a:t>
            </a:r>
            <a:pPr indent="0" marL="0">
              <a:buNone/>
            </a:pPr>
            <a:r>
              <a:rPr lang="en-US" sz="1400" dirty="0">
                <a:solidFill>
                  <a:srgbClr val="E6EAF2"/>
                </a:solidFill>
                <a:latin typeface="Calibri" pitchFamily="34" charset="0"/>
                <a:ea typeface="Calibri" pitchFamily="34" charset="-122"/>
                <a:cs typeface="Calibri" pitchFamily="34" charset="-120"/>
              </a:rPr>
              <a:t>tarayıcın açılan zarftan parmak izini yeniden hesaplar ve Avalanche'taki mühürle karşılaştırır. Parmak izi aynıysa karar hiç değişmemiştir.</a:t>
            </a:r>
            <a:endParaRPr lang="en-US" sz="1400" dirty="0"/>
          </a:p>
        </p:txBody>
      </p:sp>
      <p:sp>
        <p:nvSpPr>
          <p:cNvPr id="31" name="Text 29"/>
          <p:cNvSpPr/>
          <p:nvPr/>
        </p:nvSpPr>
        <p:spPr>
          <a:xfrm>
            <a:off x="457200" y="4224528"/>
            <a:ext cx="8229600" cy="274320"/>
          </a:xfrm>
          <a:prstGeom prst="rect">
            <a:avLst/>
          </a:prstGeom>
          <a:noFill/>
          <a:ln/>
        </p:spPr>
        <p:txBody>
          <a:bodyPr wrap="square" lIns="0" tIns="0" rIns="0" bIns="0" rtlCol="0" anchor="ctr"/>
          <a:lstStyle/>
          <a:p>
            <a:pPr indent="0" marL="0">
              <a:buNone/>
            </a:pPr>
            <a:r>
              <a:rPr lang="en-US" sz="1200" dirty="0">
                <a:solidFill>
                  <a:srgbClr val="8A94A8"/>
                </a:solidFill>
                <a:latin typeface="Calibri" pitchFamily="34" charset="0"/>
                <a:ea typeface="Calibri" pitchFamily="34" charset="-122"/>
                <a:cs typeface="Calibri" pitchFamily="34" charset="-120"/>
              </a:rPr>
              <a:t>Terminalden: </a:t>
            </a:r>
            <a:pPr indent="0" marL="0">
              <a:buNone/>
            </a:pPr>
            <a:r>
              <a:rPr lang="en-US" sz="1200" dirty="0">
                <a:solidFill>
                  <a:srgbClr val="8B9CFF"/>
                </a:solidFill>
                <a:latin typeface="Courier New" pitchFamily="34" charset="0"/>
                <a:ea typeface="Courier New" pitchFamily="34" charset="-122"/>
                <a:cs typeface="Courier New" pitchFamily="34" charset="-120"/>
              </a:rPr>
              <a:t>cd chain &amp;&amp; npm run audit</a:t>
            </a:r>
            <a:pPr indent="0" marL="0">
              <a:buNone/>
            </a:pPr>
            <a:r>
              <a:rPr lang="en-US" sz="1200" b="1" dirty="0">
                <a:solidFill>
                  <a:srgbClr val="22C55E"/>
                </a:solidFill>
                <a:latin typeface="Calibri" pitchFamily="34" charset="0"/>
                <a:ea typeface="Calibri" pitchFamily="34" charset="-122"/>
                <a:cs typeface="Calibri" pitchFamily="34" charset="-120"/>
              </a:rPr>
              <a:t>  →  48/48 MATCH (~1–2 dk)</a:t>
            </a:r>
            <a:endParaRPr lang="en-US" sz="1200" dirty="0"/>
          </a:p>
        </p:txBody>
      </p:sp>
      <p:sp>
        <p:nvSpPr>
          <p:cNvPr id="32" name="Text 30"/>
          <p:cNvSpPr/>
          <p:nvPr/>
        </p:nvSpPr>
        <p:spPr>
          <a:xfrm>
            <a:off x="457200" y="4553712"/>
            <a:ext cx="822960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Yedek video: &lt;TBD&gt;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E14"/>
        </a:solidFill>
      </p:bgPr>
    </p:bg>
    <p:spTree>
      <p:nvGrpSpPr>
        <p:cNvPr id="1" name=""/>
        <p:cNvGrpSpPr/>
        <p:nvPr/>
      </p:nvGrpSpPr>
      <p:grpSpPr>
        <a:xfrm>
          <a:off x="0" y="0"/>
          <a:ext cx="0" cy="0"/>
          <a:chOff x="0" y="0"/>
          <a:chExt cx="0" cy="0"/>
        </a:xfrm>
      </p:grpSpPr>
      <p:sp>
        <p:nvSpPr>
          <p:cNvPr id="2" name="Text 0"/>
          <p:cNvSpPr/>
          <p:nvPr/>
        </p:nvSpPr>
        <p:spPr>
          <a:xfrm>
            <a:off x="457200" y="548640"/>
            <a:ext cx="8229600" cy="685800"/>
          </a:xfrm>
          <a:prstGeom prst="rect">
            <a:avLst/>
          </a:prstGeom>
          <a:noFill/>
          <a:ln/>
        </p:spPr>
        <p:txBody>
          <a:bodyPr wrap="square" lIns="0" tIns="0" rIns="0" bIns="0" rtlCol="0" anchor="ctr"/>
          <a:lstStyle/>
          <a:p>
            <a:pPr indent="0" marL="0">
              <a:buNone/>
            </a:pPr>
            <a:r>
              <a:rPr lang="en-US" sz="3800" b="1" dirty="0">
                <a:solidFill>
                  <a:srgbClr val="E6EAF2"/>
                </a:solidFill>
                <a:latin typeface="Cambria" pitchFamily="34" charset="0"/>
                <a:ea typeface="Cambria" pitchFamily="34" charset="-122"/>
                <a:cs typeface="Cambria" pitchFamily="34" charset="-120"/>
              </a:rPr>
              <a:t>Backtest yalan söyleyebilir.</a:t>
            </a:r>
            <a:endParaRPr lang="en-US" sz="3800" dirty="0"/>
          </a:p>
        </p:txBody>
      </p:sp>
      <p:sp>
        <p:nvSpPr>
          <p:cNvPr id="3" name="Text 1"/>
          <p:cNvSpPr/>
          <p:nvPr/>
        </p:nvSpPr>
        <p:spPr>
          <a:xfrm>
            <a:off x="457200" y="1188720"/>
            <a:ext cx="8229600" cy="685800"/>
          </a:xfrm>
          <a:prstGeom prst="rect">
            <a:avLst/>
          </a:prstGeom>
          <a:noFill/>
          <a:ln/>
        </p:spPr>
        <p:txBody>
          <a:bodyPr wrap="square" lIns="0" tIns="0" rIns="0" bIns="0" rtlCol="0" anchor="ctr"/>
          <a:lstStyle/>
          <a:p>
            <a:pPr indent="0" marL="0">
              <a:buNone/>
            </a:pPr>
            <a:r>
              <a:rPr lang="en-US" sz="3800" b="1" dirty="0">
                <a:solidFill>
                  <a:srgbClr val="E8B04B"/>
                </a:solidFill>
                <a:latin typeface="Cambria" pitchFamily="34" charset="0"/>
                <a:ea typeface="Cambria" pitchFamily="34" charset="-122"/>
                <a:cs typeface="Cambria" pitchFamily="34" charset="-120"/>
              </a:rPr>
              <a:t>Avalanche söyleyemez.</a:t>
            </a:r>
            <a:endParaRPr lang="en-US" sz="3800" dirty="0"/>
          </a:p>
        </p:txBody>
      </p:sp>
      <p:sp>
        <p:nvSpPr>
          <p:cNvPr id="4" name="Shape 2"/>
          <p:cNvSpPr/>
          <p:nvPr/>
        </p:nvSpPr>
        <p:spPr>
          <a:xfrm>
            <a:off x="457200" y="2148840"/>
            <a:ext cx="2606040" cy="1005840"/>
          </a:xfrm>
          <a:prstGeom prst="roundRect">
            <a:avLst>
              <a:gd name="adj" fmla="val 10909"/>
            </a:avLst>
          </a:prstGeom>
          <a:solidFill>
            <a:srgbClr val="121722"/>
          </a:solidFill>
          <a:ln w="9525">
            <a:solidFill>
              <a:srgbClr val="263043"/>
            </a:solidFill>
            <a:prstDash val="solid"/>
          </a:ln>
        </p:spPr>
      </p:sp>
      <p:sp>
        <p:nvSpPr>
          <p:cNvPr id="5" name="Text 3"/>
          <p:cNvSpPr/>
          <p:nvPr/>
        </p:nvSpPr>
        <p:spPr>
          <a:xfrm>
            <a:off x="64008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%4,3</a:t>
            </a:r>
            <a:endParaRPr lang="en-US" sz="2800" dirty="0"/>
          </a:p>
        </p:txBody>
      </p:sp>
      <p:sp>
        <p:nvSpPr>
          <p:cNvPr id="6" name="Text 4"/>
          <p:cNvSpPr/>
          <p:nvPr/>
        </p:nvSpPr>
        <p:spPr>
          <a:xfrm>
            <a:off x="64008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en kötü düşüş (al-tut: %14,5)</a:t>
            </a:r>
            <a:endParaRPr lang="en-US" sz="1100" dirty="0"/>
          </a:p>
        </p:txBody>
      </p:sp>
      <p:sp>
        <p:nvSpPr>
          <p:cNvPr id="7" name="Shape 5"/>
          <p:cNvSpPr/>
          <p:nvPr/>
        </p:nvSpPr>
        <p:spPr>
          <a:xfrm>
            <a:off x="3246120" y="2148840"/>
            <a:ext cx="2606040" cy="1005840"/>
          </a:xfrm>
          <a:prstGeom prst="roundRect">
            <a:avLst>
              <a:gd name="adj" fmla="val 10909"/>
            </a:avLst>
          </a:prstGeom>
          <a:solidFill>
            <a:srgbClr val="121722"/>
          </a:solidFill>
          <a:ln w="9525">
            <a:solidFill>
              <a:srgbClr val="263043"/>
            </a:solidFill>
            <a:prstDash val="solid"/>
          </a:ln>
        </p:spPr>
      </p:sp>
      <p:sp>
        <p:nvSpPr>
          <p:cNvPr id="8" name="Text 6"/>
          <p:cNvSpPr/>
          <p:nvPr/>
        </p:nvSpPr>
        <p:spPr>
          <a:xfrm>
            <a:off x="342900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382 → 220</a:t>
            </a:r>
            <a:endParaRPr lang="en-US" sz="2800" dirty="0"/>
          </a:p>
        </p:txBody>
      </p:sp>
      <p:sp>
        <p:nvSpPr>
          <p:cNvPr id="9" name="Text 7"/>
          <p:cNvSpPr/>
          <p:nvPr/>
        </p:nvSpPr>
        <p:spPr>
          <a:xfrm>
            <a:off x="342900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işlem sayısı, akıllı girişle</a:t>
            </a:r>
            <a:endParaRPr lang="en-US" sz="1100" dirty="0"/>
          </a:p>
        </p:txBody>
      </p:sp>
      <p:sp>
        <p:nvSpPr>
          <p:cNvPr id="10" name="Shape 8"/>
          <p:cNvSpPr/>
          <p:nvPr/>
        </p:nvSpPr>
        <p:spPr>
          <a:xfrm>
            <a:off x="6035040" y="2148840"/>
            <a:ext cx="2606040" cy="1005840"/>
          </a:xfrm>
          <a:prstGeom prst="roundRect">
            <a:avLst>
              <a:gd name="adj" fmla="val 10909"/>
            </a:avLst>
          </a:prstGeom>
          <a:solidFill>
            <a:srgbClr val="121722"/>
          </a:solidFill>
          <a:ln w="9525">
            <a:solidFill>
              <a:srgbClr val="263043"/>
            </a:solidFill>
            <a:prstDash val="solid"/>
          </a:ln>
        </p:spPr>
      </p:sp>
      <p:sp>
        <p:nvSpPr>
          <p:cNvPr id="11" name="Text 9"/>
          <p:cNvSpPr/>
          <p:nvPr/>
        </p:nvSpPr>
        <p:spPr>
          <a:xfrm>
            <a:off x="6217920" y="2194560"/>
            <a:ext cx="2286000" cy="548640"/>
          </a:xfrm>
          <a:prstGeom prst="rect">
            <a:avLst/>
          </a:prstGeom>
          <a:noFill/>
          <a:ln/>
        </p:spPr>
        <p:txBody>
          <a:bodyPr wrap="square" lIns="0" tIns="0" rIns="0" bIns="0" rtlCol="0" anchor="ctr"/>
          <a:lstStyle/>
          <a:p>
            <a:pPr indent="0" marL="0">
              <a:buNone/>
            </a:pPr>
            <a:r>
              <a:rPr lang="en-US" sz="2800" b="1" dirty="0">
                <a:solidFill>
                  <a:srgbClr val="E8B04B"/>
                </a:solidFill>
                <a:latin typeface="Cambria" pitchFamily="34" charset="0"/>
                <a:ea typeface="Cambria" pitchFamily="34" charset="-122"/>
                <a:cs typeface="Cambria" pitchFamily="34" charset="-120"/>
              </a:rPr>
              <a:t>0</a:t>
            </a:r>
            <a:endParaRPr lang="en-US" sz="2800" dirty="0"/>
          </a:p>
        </p:txBody>
      </p:sp>
      <p:sp>
        <p:nvSpPr>
          <p:cNvPr id="12" name="Text 10"/>
          <p:cNvSpPr/>
          <p:nvPr/>
        </p:nvSpPr>
        <p:spPr>
          <a:xfrm>
            <a:off x="6217920" y="2715768"/>
            <a:ext cx="2286000" cy="365760"/>
          </a:xfrm>
          <a:prstGeom prst="rect">
            <a:avLst/>
          </a:prstGeom>
          <a:noFill/>
          <a:ln/>
        </p:spPr>
        <p:txBody>
          <a:bodyPr wrap="square" lIns="0" tIns="0" rIns="0" bIns="0" rtlCol="0" anchor="ctr"/>
          <a:lstStyle/>
          <a:p>
            <a:pPr indent="0" marL="0">
              <a:buNone/>
            </a:pPr>
            <a:r>
              <a:rPr lang="en-US" sz="1100" dirty="0">
                <a:solidFill>
                  <a:srgbClr val="8A94A8"/>
                </a:solidFill>
                <a:latin typeface="Calibri" pitchFamily="34" charset="0"/>
                <a:ea typeface="Calibri" pitchFamily="34" charset="-122"/>
                <a:cs typeface="Calibri" pitchFamily="34" charset="-120"/>
              </a:rPr>
              <a:t>acil durdurma tetiklenmesi</a:t>
            </a:r>
            <a:endParaRPr lang="en-US" sz="1100" dirty="0"/>
          </a:p>
        </p:txBody>
      </p:sp>
      <p:sp>
        <p:nvSpPr>
          <p:cNvPr id="13" name="Text 11"/>
          <p:cNvSpPr/>
          <p:nvPr/>
        </p:nvSpPr>
        <p:spPr>
          <a:xfrm>
            <a:off x="457200" y="3291840"/>
            <a:ext cx="8229600" cy="411480"/>
          </a:xfrm>
          <a:prstGeom prst="rect">
            <a:avLst/>
          </a:prstGeom>
          <a:noFill/>
          <a:ln/>
        </p:spPr>
        <p:txBody>
          <a:bodyPr wrap="square" lIns="0" tIns="0" rIns="0" bIns="0" rtlCol="0" anchor="t"/>
          <a:lstStyle/>
          <a:p>
            <a:pPr indent="0" marL="0">
              <a:buNone/>
            </a:pPr>
            <a:r>
              <a:rPr lang="en-US" sz="1000" i="1" dirty="0">
                <a:solidFill>
                  <a:srgbClr val="8A94A8"/>
                </a:solidFill>
                <a:latin typeface="Calibri" pitchFamily="34" charset="0"/>
                <a:ea typeface="Calibri" pitchFamily="34" charset="-122"/>
                <a:cs typeface="Calibri" pitchFamily="34" charset="-120"/>
              </a:rPr>
              <a:t>30 günlük tekrar oynatma, gerçek OKX saatlik fiyatlarıyla, emir gönderilmeden. Getiri +%2,0, al-tut +%8,8: al-tuttan iyi olduğunu iddia etmiyoruz. Testler: engine 167 · agents 157 · kontrat 48.</a:t>
            </a:r>
            <a:endParaRPr lang="en-US" sz="1000" dirty="0"/>
          </a:p>
        </p:txBody>
      </p:sp>
      <p:sp>
        <p:nvSpPr>
          <p:cNvPr id="14" name="Text 12"/>
          <p:cNvSpPr/>
          <p:nvPr/>
        </p:nvSpPr>
        <p:spPr>
          <a:xfrm>
            <a:off x="457200" y="3886200"/>
            <a:ext cx="8229600" cy="548640"/>
          </a:xfrm>
          <a:prstGeom prst="rect">
            <a:avLst/>
          </a:prstGeom>
          <a:noFill/>
          <a:ln/>
        </p:spPr>
        <p:txBody>
          <a:bodyPr wrap="square" lIns="0" tIns="0" rIns="0" bIns="0" rtlCol="0" anchor="t"/>
          <a:lstStyle/>
          <a:p>
            <a:pPr indent="0" marL="0">
              <a:buNone/>
            </a:pPr>
            <a:r>
              <a:rPr lang="en-US" sz="1300" b="1" dirty="0">
                <a:solidFill>
                  <a:srgbClr val="E8B04B"/>
                </a:solidFill>
                <a:latin typeface="Calibri" pitchFamily="34" charset="0"/>
                <a:ea typeface="Calibri" pitchFamily="34" charset="-122"/>
                <a:cs typeface="Calibri" pitchFamily="34" charset="-120"/>
              </a:rPr>
              <a:t>Sırada: </a:t>
            </a:r>
            <a:pPr indent="0" marL="0">
              <a:buNone/>
            </a:pPr>
            <a:r>
              <a:rPr lang="en-US" sz="1300" dirty="0">
                <a:solidFill>
                  <a:srgbClr val="E6EAF2"/>
                </a:solidFill>
                <a:latin typeface="Calibri" pitchFamily="34" charset="0"/>
                <a:ea typeface="Calibri" pitchFamily="34" charset="-122"/>
                <a:cs typeface="Calibri" pitchFamily="34" charset="-120"/>
              </a:rPr>
              <a:t>her kararı zincirde inceleyen ikinci bir "risk bekçisi" ajanı · açılmış zarflardan oluşan itibar puanı · Avalanche ana ağı</a:t>
            </a:r>
            <a:endParaRPr lang="en-US" sz="1300" dirty="0"/>
          </a:p>
        </p:txBody>
      </p:sp>
      <p:sp>
        <p:nvSpPr>
          <p:cNvPr id="15" name="Text 13"/>
          <p:cNvSpPr/>
          <p:nvPr/>
        </p:nvSpPr>
        <p:spPr>
          <a:xfrm>
            <a:off x="457200" y="4526280"/>
            <a:ext cx="8229600" cy="274320"/>
          </a:xfrm>
          <a:prstGeom prst="rect">
            <a:avLst/>
          </a:prstGeom>
          <a:noFill/>
          <a:ln/>
        </p:spPr>
        <p:txBody>
          <a:bodyPr wrap="square" lIns="0" tIns="0" rIns="0" bIns="0" rtlCol="0" anchor="ctr"/>
          <a:lstStyle/>
          <a:p>
            <a:pPr indent="0" marL="0">
              <a:buNone/>
            </a:pPr>
            <a:r>
              <a:rPr lang="en-US" sz="1100" dirty="0">
                <a:solidFill>
                  <a:srgbClr val="8B9CFF"/>
                </a:solidFill>
                <a:latin typeface="Courier New" pitchFamily="34" charset="0"/>
                <a:ea typeface="Courier New" pitchFamily="34" charset="-122"/>
                <a:cs typeface="Courier New" pitchFamily="34" charset="-120"/>
              </a:rPr>
              <a:t>github.com/WalAngeL06/grail-agent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GRAIL — sicili doğrulanabilen otonom alım-satım ajanı</dc:title>
  <dc:subject>PptxGenJS Presentation</dc:subject>
  <dc:creator>GRAIL</dc:creator>
  <cp:lastModifiedBy>GRAIL</cp:lastModifiedBy>
  <cp:revision>1</cp:revision>
  <dcterms:created xsi:type="dcterms:W3CDTF">2026-10-17T14:18:57Z</dcterms:created>
  <dcterms:modified xsi:type="dcterms:W3CDTF">2026-10-17T14:18:57Z</dcterms:modified>
</cp:coreProperties>
</file>